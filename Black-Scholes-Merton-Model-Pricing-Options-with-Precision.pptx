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embeddedFontLst>
    <p:embeddedFont>
      <p:font typeface="Quattrocento"/>
      <p:regular r:id="rId201314"/>
    </p:embeddedFont>
    <p:embeddedFont>
      <p:font typeface="Quattrocento Bold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424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3332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1.png"/><Relationship Id="rId4" Type="http://schemas.openxmlformats.org/officeDocument/2006/relationships/image" Target="../media/image-5-2.svg"/><Relationship Id="rId5" Type="http://schemas.openxmlformats.org/officeDocument/2006/relationships/image" Target="../media/image-5-1.png"/><Relationship Id="rId6" Type="http://schemas.openxmlformats.org/officeDocument/2006/relationships/image" Target="../media/image-5-2.svg"/><Relationship Id="rId7" Type="http://schemas.openxmlformats.org/officeDocument/2006/relationships/image" Target="../media/image-5-1.png"/><Relationship Id="rId8" Type="http://schemas.openxmlformats.org/officeDocument/2006/relationships/image" Target="../media/image-5-2.svg"/><Relationship Id="rId9" Type="http://schemas.openxmlformats.org/officeDocument/2006/relationships/image" Target="../media/image-5-1.png"/><Relationship Id="rId10" Type="http://schemas.openxmlformats.org/officeDocument/2006/relationships/image" Target="../media/image-5-2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1.png"/><Relationship Id="rId4" Type="http://schemas.openxmlformats.org/officeDocument/2006/relationships/image" Target="../media/image-10-2.svg"/><Relationship Id="rId5" Type="http://schemas.openxmlformats.org/officeDocument/2006/relationships/image" Target="../media/image-10-1.png"/><Relationship Id="rId6" Type="http://schemas.openxmlformats.org/officeDocument/2006/relationships/image" Target="../media/image-10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image" Target="../media/image-11-4.png"/><Relationship Id="rId5" Type="http://schemas.openxmlformats.org/officeDocument/2006/relationships/image" Target="../media/image-11-5.svg"/><Relationship Id="rId6" Type="http://schemas.openxmlformats.org/officeDocument/2006/relationships/image" Target="../media/image-11-6.png"/><Relationship Id="rId7" Type="http://schemas.openxmlformats.org/officeDocument/2006/relationships/image" Target="../media/image-11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10" y="480616"/>
            <a:ext cx="4422466" cy="589676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69971" y="587177"/>
            <a:ext cx="6223638" cy="880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Black-Scholes-Merton Model: Pricing Options with Precision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69971" y="1635522"/>
            <a:ext cx="6223638" cy="96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spcAft>
                <a:spcPts val="950"/>
              </a:spcAft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foundational framework that transformed modern derivatives markets — and earned a Nobel Prize.</a:t>
            </a:r>
            <a:endParaRPr lang="en-US" sz="1150" dirty="0"/>
          </a:p>
          <a:p>
            <a:pPr algn="l" indent="0" marL="0">
              <a:lnSpc>
                <a:spcPct val="117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complete guide to understanding, applying, and evaluating the Black-Scholes-Merton model for modern finance professionals.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5269971" y="2767806"/>
            <a:ext cx="6223638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Presentation Outline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269971" y="3156049"/>
            <a:ext cx="6223638" cy="31147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1. Introduction to Options Pricing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1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Why derivatives pricing matters in modern finance.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2. The Origins of Black-Scholes-Merton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2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The theory, contributors, and market context.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3. Core Assumptions of the Model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3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The conditions that make the framework work.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4. The Black-Scholes-Merton Formula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4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Inputs, variables, and pricing mechanics.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5. Understanding Option Greeks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5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How value changes with market conditions.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6. Volatility and Its Role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6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Why volatility is central to option valuation.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7. Dividend Effects and Adjustments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7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Extending the model for real-world assets.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8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8. Practical Applications in Finance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8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Use cases in trading, hedging, and risk management.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9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9. Limitations of the Model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9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Where assumptions break down in practice.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10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10. Model Evaluation and Sensitivity Analysis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10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Testing reliability across scenarios.</a:t>
            </a:r>
            <a:endParaRPr lang="en-US" sz="1150" dirty="0"/>
          </a:p>
          <a:p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11"/>
            </a:pPr>
            <a:r>
              <a:rPr lang="en-US" sz="11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11. Key Takeaways and Final Review</a:t>
            </a:r>
            <a:pPr algn="l" marL="233680" indent="-233680">
              <a:lnSpc>
                <a:spcPct val="117000"/>
              </a:lnSpc>
              <a:buSzPct val="100000"/>
              <a:buFont typeface="+mj-lt"/>
              <a:buAutoNum type="arabicPeriod" startAt="11"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What to remember and how to apply it effectively.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09501" y="500559"/>
            <a:ext cx="4392403" cy="58567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1004391"/>
            <a:ext cx="6223638" cy="10560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Is the Black-Scholes-Merton Model?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698086" y="2302768"/>
            <a:ext cx="403909" cy="403920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6" name="Text 3"/>
          <p:cNvSpPr/>
          <p:nvPr/>
        </p:nvSpPr>
        <p:spPr>
          <a:xfrm>
            <a:off x="773292" y="2346275"/>
            <a:ext cx="253398" cy="316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263519" y="2364482"/>
            <a:ext cx="565820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Mathematical Formula for Options Pricing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1263519" y="2725440"/>
            <a:ext cx="5658205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Calculates the fair value of European-style call and put options before they expire.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98086" y="3594100"/>
            <a:ext cx="403909" cy="403920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0" name="Text 7"/>
          <p:cNvSpPr/>
          <p:nvPr/>
        </p:nvSpPr>
        <p:spPr>
          <a:xfrm>
            <a:off x="773292" y="3637607"/>
            <a:ext cx="253398" cy="316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2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263519" y="3655814"/>
            <a:ext cx="565820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Developed in 1973</a:t>
            </a:r>
            <a:endParaRPr lang="en-US" sz="1650" dirty="0"/>
          </a:p>
        </p:txBody>
      </p:sp>
      <p:sp>
        <p:nvSpPr>
          <p:cNvPr id="12" name="Text 9"/>
          <p:cNvSpPr/>
          <p:nvPr/>
        </p:nvSpPr>
        <p:spPr>
          <a:xfrm>
            <a:off x="1263519" y="4016772"/>
            <a:ext cx="5658205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Created by Fischer Black, Myron Scholes, and Robert Merton — pioneers of quantitative finance.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698086" y="4885432"/>
            <a:ext cx="403909" cy="403920"/>
          </a:xfrm>
          <a:prstGeom prst="roundRect">
            <a:avLst>
              <a:gd name="adj" fmla="val 6667"/>
            </a:avLst>
          </a:prstGeom>
          <a:solidFill>
            <a:srgbClr val="315251"/>
          </a:solidFill>
          <a:ln/>
        </p:spPr>
      </p:sp>
      <p:sp>
        <p:nvSpPr>
          <p:cNvPr id="14" name="Text 11"/>
          <p:cNvSpPr/>
          <p:nvPr/>
        </p:nvSpPr>
        <p:spPr>
          <a:xfrm>
            <a:off x="773292" y="4928939"/>
            <a:ext cx="253398" cy="3168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9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</a:t>
            </a:r>
            <a:endParaRPr lang="en-US" sz="1950" dirty="0"/>
          </a:p>
        </p:txBody>
      </p:sp>
      <p:sp>
        <p:nvSpPr>
          <p:cNvPr id="15" name="Text 12"/>
          <p:cNvSpPr/>
          <p:nvPr/>
        </p:nvSpPr>
        <p:spPr>
          <a:xfrm>
            <a:off x="1263519" y="4947146"/>
            <a:ext cx="5658205" cy="264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Nobel Prize-Winning Work</a:t>
            </a:r>
            <a:endParaRPr lang="en-US" sz="1650" dirty="0"/>
          </a:p>
        </p:txBody>
      </p:sp>
      <p:sp>
        <p:nvSpPr>
          <p:cNvPr id="16" name="Text 13"/>
          <p:cNvSpPr/>
          <p:nvPr/>
        </p:nvSpPr>
        <p:spPr>
          <a:xfrm>
            <a:off x="1263519" y="5308104"/>
            <a:ext cx="5658205" cy="5455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Scholes and Merton received the 1997 Nobel Prize in Economics for this breakthrough model.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17278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Why Does It Matter?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2702917"/>
            <a:ext cx="498661" cy="4986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345092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Accuracy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98086" y="3863876"/>
            <a:ext cx="3432288" cy="12767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Estimates the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fair value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of options before expiration, giving traders a principled benchmark rather than guesswork.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79704" y="2702917"/>
            <a:ext cx="498661" cy="49867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379704" y="345092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Risk Management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379704" y="3863876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Helps traders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hedge positions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and manage exposure — limiting downside while preserving upside.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61322" y="2702917"/>
            <a:ext cx="498661" cy="49867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61322" y="3450927"/>
            <a:ext cx="343228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Valuation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061322" y="3863876"/>
            <a:ext cx="3432288" cy="957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Widely used in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corporate finance, M&amp;A, and employee stock options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to assign fair economic value.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5316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Core Formula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698086" y="2207716"/>
            <a:ext cx="5739066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Call Option Price</a:t>
            </a:r>
            <a:endParaRPr lang="en-US" sz="1650" dirty="0"/>
          </a:p>
        </p:txBody>
      </p:sp>
      <p:sp>
        <p:nvSpPr>
          <p:cNvPr id="4" name="Text 2"/>
          <p:cNvSpPr/>
          <p:nvPr/>
        </p:nvSpPr>
        <p:spPr>
          <a:xfrm>
            <a:off x="969244" y="2805311"/>
            <a:ext cx="607749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 = S₀N(d₁) − Ke−rTN(d₂)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98086" y="2657872"/>
            <a:ext cx="25399" cy="570508"/>
          </a:xfrm>
          <a:prstGeom prst="roundRect">
            <a:avLst>
              <a:gd name="adj" fmla="val 50001"/>
            </a:avLst>
          </a:prstGeom>
          <a:solidFill>
            <a:srgbClr val="EF9C82"/>
          </a:solidFill>
          <a:ln/>
        </p:spPr>
      </p:sp>
      <p:sp>
        <p:nvSpPr>
          <p:cNvPr id="6" name="Text 4"/>
          <p:cNvSpPr/>
          <p:nvPr/>
        </p:nvSpPr>
        <p:spPr>
          <a:xfrm>
            <a:off x="698086" y="3412629"/>
            <a:ext cx="5739066" cy="2659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Put Option Price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969244" y="4010223"/>
            <a:ext cx="6077492" cy="275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P = Ke−rTN(−d₂) − S₀N(−d₁)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98086" y="3862784"/>
            <a:ext cx="25399" cy="570508"/>
          </a:xfrm>
          <a:prstGeom prst="roundRect">
            <a:avLst>
              <a:gd name="adj" fmla="val 50001"/>
            </a:avLst>
          </a:prstGeom>
          <a:solidFill>
            <a:srgbClr val="EF9C82"/>
          </a:solidFill>
          <a:ln/>
        </p:spPr>
      </p:sp>
      <p:sp>
        <p:nvSpPr>
          <p:cNvPr id="9" name="Text 7"/>
          <p:cNvSpPr/>
          <p:nvPr/>
        </p:nvSpPr>
        <p:spPr>
          <a:xfrm>
            <a:off x="698086" y="4617541"/>
            <a:ext cx="5739066" cy="82688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Where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d₁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and </a:t>
            </a:r>
            <a:pPr algn="l" indent="0" marL="0">
              <a:lnSpc>
                <a:spcPct val="127000"/>
              </a:lnSpc>
              <a:buNone/>
            </a:pPr>
            <a:r>
              <a:rPr lang="en-US" sz="14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d₂</a:t>
            </a:r>
            <a:pPr algn="l" indent="0" marL="0">
              <a:lnSpc>
                <a:spcPct val="127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are calculated from the stock price, volatility, and time to expiration — capturing both probability and risk adjustment in a single elegant expression.</a:t>
            </a:r>
            <a:endParaRPr lang="en-US" sz="14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4418" y="1510109"/>
            <a:ext cx="4615442" cy="461555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76064"/>
            <a:ext cx="10795524" cy="4472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Variables Explained</a:t>
            </a:r>
            <a:endParaRPr lang="en-US" sz="2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98086" y="1255216"/>
            <a:ext cx="10795524" cy="91261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41414" y="1426369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S₀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Current Stock Price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441414" y="1719659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market price of the underlying stock today. The starting point of every calculation.</a:t>
            </a:r>
            <a:endParaRPr lang="en-US" sz="11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98086" y="2283718"/>
            <a:ext cx="10795524" cy="91261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41414" y="2454870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Strike Price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1441414" y="2748161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agreed exercise price at which the option can be bought or sold.</a:t>
            </a:r>
            <a:endParaRPr lang="en-US" sz="11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98086" y="3312220"/>
            <a:ext cx="10795524" cy="91261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441414" y="3483372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Risk-Free Rate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1441414" y="3776662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theoretical return of a zero-risk investment, typically approximated by government bond yields.</a:t>
            </a:r>
            <a:endParaRPr lang="en-US" sz="11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98086" y="4340721"/>
            <a:ext cx="10795524" cy="912614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441414" y="4511873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Time to Expiration</a:t>
            </a:r>
            <a:endParaRPr lang="en-US" sz="1400" dirty="0"/>
          </a:p>
        </p:txBody>
      </p:sp>
      <p:sp>
        <p:nvSpPr>
          <p:cNvPr id="14" name="Text 8"/>
          <p:cNvSpPr/>
          <p:nvPr/>
        </p:nvSpPr>
        <p:spPr>
          <a:xfrm>
            <a:off x="1441414" y="4805164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How long until the option expires, expressed in years (e.g., 3 months = 0.25).</a:t>
            </a:r>
            <a:endParaRPr lang="en-US" sz="11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98086" y="5369223"/>
            <a:ext cx="10795524" cy="91261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441414" y="5540375"/>
            <a:ext cx="9881047" cy="2237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2150F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σ</a:t>
            </a:r>
            <a:pPr algn="l" indent="0" marL="0">
              <a:lnSpc>
                <a:spcPct val="104000"/>
              </a:lnSpc>
              <a:buNone/>
            </a:pPr>
            <a:r>
              <a:rPr lang="en-US" sz="14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Volatility</a:t>
            </a:r>
            <a:endParaRPr lang="en-US" sz="1400" dirty="0"/>
          </a:p>
        </p:txBody>
      </p:sp>
      <p:sp>
        <p:nvSpPr>
          <p:cNvPr id="17" name="Text 10"/>
          <p:cNvSpPr/>
          <p:nvPr/>
        </p:nvSpPr>
        <p:spPr>
          <a:xfrm>
            <a:off x="1441414" y="5833666"/>
            <a:ext cx="9881047" cy="2144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standard deviation of the stock's returns — a measure of how wildly prices swing.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548580"/>
            <a:ext cx="10795524" cy="4180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d₁ and d₂ Calculations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698086" y="2572345"/>
            <a:ext cx="522443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Formulas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1202" y="2986286"/>
            <a:ext cx="5620899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d₁ = [ln(S₀/K) + (r + σ²/2)T] / (σ√T)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98086" y="2895203"/>
            <a:ext cx="19050" cy="376932"/>
          </a:xfrm>
          <a:prstGeom prst="roundRect">
            <a:avLst>
              <a:gd name="adj" fmla="val 49999"/>
            </a:avLst>
          </a:prstGeom>
          <a:solidFill>
            <a:srgbClr val="EF9C82"/>
          </a:solidFill>
          <a:ln/>
        </p:spPr>
      </p:sp>
      <p:sp>
        <p:nvSpPr>
          <p:cNvPr id="6" name="Text 4"/>
          <p:cNvSpPr/>
          <p:nvPr/>
        </p:nvSpPr>
        <p:spPr>
          <a:xfrm>
            <a:off x="911202" y="3477121"/>
            <a:ext cx="5620899" cy="1947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4000"/>
              </a:lnSpc>
              <a:buNone/>
            </a:pPr>
            <a:r>
              <a:rPr lang="en-US" sz="1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d₂ = d₁ − σ√T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98086" y="3386038"/>
            <a:ext cx="19050" cy="376932"/>
          </a:xfrm>
          <a:prstGeom prst="roundRect">
            <a:avLst>
              <a:gd name="adj" fmla="val 49999"/>
            </a:avLst>
          </a:prstGeom>
          <a:solidFill>
            <a:srgbClr val="EF9C82"/>
          </a:solidFill>
          <a:ln/>
        </p:spPr>
      </p:sp>
      <p:sp>
        <p:nvSpPr>
          <p:cNvPr id="8" name="Text 6"/>
          <p:cNvSpPr/>
          <p:nvPr/>
        </p:nvSpPr>
        <p:spPr>
          <a:xfrm>
            <a:off x="698086" y="3876873"/>
            <a:ext cx="5224431" cy="10446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N(d₁)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reflects the sensitivity of the option price to the stock price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N(d₂)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represents the probability that the option expires in-the-money under risk-neutral measure</a:t>
            </a:r>
            <a:endParaRPr lang="en-US" sz="1100" dirty="0"/>
          </a:p>
          <a:p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Both use the 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b="1" dirty="0">
                <a:solidFill>
                  <a:srgbClr val="F9EEE7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cumulative normal distribution</a:t>
            </a:r>
            <a:pPr algn="l" marL="223520" indent="-223520">
              <a:lnSpc>
                <a:spcPct val="114000"/>
              </a:lnSpc>
              <a:buSzPct val="100000"/>
              <a:buChar char="•"/>
            </a:pPr>
            <a:r>
              <a:rPr lang="en-US" sz="11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values always fall between 0 and 1</a:t>
            </a:r>
            <a:endParaRPr lang="en-US" sz="11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6097" y="1232396"/>
            <a:ext cx="4963195" cy="496331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03485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Practical Example: Pricing a Call Option</a:t>
            </a:r>
            <a:endParaRPr lang="en-US" sz="3650" dirty="0"/>
          </a:p>
        </p:txBody>
      </p:sp>
      <p:sp>
        <p:nvSpPr>
          <p:cNvPr id="3" name="Shape 1"/>
          <p:cNvSpPr/>
          <p:nvPr/>
        </p:nvSpPr>
        <p:spPr>
          <a:xfrm>
            <a:off x="698086" y="2020491"/>
            <a:ext cx="3465525" cy="1130995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4" name="Text 2"/>
          <p:cNvSpPr/>
          <p:nvPr/>
        </p:nvSpPr>
        <p:spPr>
          <a:xfrm>
            <a:off x="897510" y="2219920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S₀ = $100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97510" y="2632869"/>
            <a:ext cx="30666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Current stock price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4363035" y="2020491"/>
            <a:ext cx="3465525" cy="1130995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7" name="Text 5"/>
          <p:cNvSpPr/>
          <p:nvPr/>
        </p:nvSpPr>
        <p:spPr>
          <a:xfrm>
            <a:off x="4562460" y="2219920"/>
            <a:ext cx="306667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 = $105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62460" y="2632869"/>
            <a:ext cx="3066676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Strike price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8027985" y="2020491"/>
            <a:ext cx="3465624" cy="1130995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10" name="Text 8"/>
          <p:cNvSpPr/>
          <p:nvPr/>
        </p:nvSpPr>
        <p:spPr>
          <a:xfrm>
            <a:off x="8227410" y="2219920"/>
            <a:ext cx="3066775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 = 0.25 yrs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227410" y="2632869"/>
            <a:ext cx="3066775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3 months to expiry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8086" y="3350915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13" name="Text 11"/>
          <p:cNvSpPr/>
          <p:nvPr/>
        </p:nvSpPr>
        <p:spPr>
          <a:xfrm>
            <a:off x="897510" y="3550345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 = 5%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97510" y="3963293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Risk-free rate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6195560" y="3350915"/>
            <a:ext cx="5298049" cy="1130995"/>
          </a:xfrm>
          <a:prstGeom prst="roundRect">
            <a:avLst>
              <a:gd name="adj" fmla="val 2646"/>
            </a:avLst>
          </a:prstGeom>
          <a:solidFill>
            <a:srgbClr val="315251"/>
          </a:solidFill>
          <a:ln/>
        </p:spPr>
      </p:sp>
      <p:sp>
        <p:nvSpPr>
          <p:cNvPr id="16" name="Text 14"/>
          <p:cNvSpPr/>
          <p:nvPr/>
        </p:nvSpPr>
        <p:spPr>
          <a:xfrm>
            <a:off x="6394985" y="3550345"/>
            <a:ext cx="4899200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σ = 20%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394985" y="3963293"/>
            <a:ext cx="4899200" cy="319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Annualized volatility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698086" y="4706243"/>
            <a:ext cx="10795524" cy="1116905"/>
          </a:xfrm>
          <a:prstGeom prst="roundRect">
            <a:avLst>
              <a:gd name="adj" fmla="val 2679"/>
            </a:avLst>
          </a:prstGeom>
          <a:solidFill>
            <a:srgbClr val="183A13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7510" y="4996855"/>
            <a:ext cx="249330" cy="199430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1346266" y="4955480"/>
            <a:ext cx="9947919" cy="63837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Result: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Plugging these values into BSM yields a call option price of approximately </a:t>
            </a:r>
            <a:pPr algn="l" indent="0" marL="0">
              <a:lnSpc>
                <a:spcPct val="13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$2.70</a:t>
            </a:r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— a precise, model-driven fair value derived purely from market fundamentals.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319212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Real-World Applications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8086" y="2304852"/>
            <a:ext cx="552535" cy="5525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99952" y="2304852"/>
            <a:ext cx="17099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Options Trading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499952" y="2717800"/>
            <a:ext cx="1709992" cy="2553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Determine fair prices for buying and selling options on exchanges worldwide, reducing information asymmetry.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9274" y="2304852"/>
            <a:ext cx="552535" cy="55254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61140" y="2304852"/>
            <a:ext cx="1709992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Corporate Finance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4261140" y="3011091"/>
            <a:ext cx="1709992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Value employee stock options and warrants for compensation reporting and financial statements.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0463" y="2304852"/>
            <a:ext cx="552535" cy="552549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7022329" y="2304852"/>
            <a:ext cx="1709992" cy="8798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Risk Management (The Greeks)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022329" y="3304381"/>
            <a:ext cx="1709992" cy="22343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Calculate Delta, Gamma, and Vega to build precise hedging strategies and control portfolio exposure.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81652" y="2304852"/>
            <a:ext cx="552535" cy="552549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783518" y="2304852"/>
            <a:ext cx="1710092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M&amp;A Deals</a:t>
            </a:r>
            <a:endParaRPr lang="en-US" sz="1800" dirty="0"/>
          </a:p>
        </p:txBody>
      </p:sp>
      <p:sp>
        <p:nvSpPr>
          <p:cNvPr id="14" name="Text 8"/>
          <p:cNvSpPr/>
          <p:nvPr/>
        </p:nvSpPr>
        <p:spPr>
          <a:xfrm>
            <a:off x="9783518" y="2717800"/>
            <a:ext cx="1710092" cy="25534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Assess embedded options in acquisition structures — from earn-outs to contingent consideration clauses.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702495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Assumptions &amp; Limitations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98086" y="2787749"/>
            <a:ext cx="5154484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What the Model Assumes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98086" y="3280470"/>
            <a:ext cx="5154484" cy="148599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No dividends paid during the option's life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European-style options only (exercised at expiry)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Constant volatility throughout the period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Efficient markets with no arbitrage opportunities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6201910" y="2588320"/>
            <a:ext cx="5441615" cy="2567087"/>
          </a:xfrm>
          <a:prstGeom prst="roundRect">
            <a:avLst>
              <a:gd name="adj" fmla="val 1166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6401334" y="2787749"/>
            <a:ext cx="5042766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Where It Falls Short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1334" y="3280470"/>
            <a:ext cx="5042766" cy="18051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Struggles with American options (early exercise)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Breaks down during extreme market events (fat tails)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Inaccurate for highly volatile or illiquid assets</a:t>
            </a:r>
            <a:endParaRPr lang="en-US" sz="1550" dirty="0"/>
          </a:p>
          <a:p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Quattrocento Bold" pitchFamily="34" charset="0"/>
                <a:ea typeface="Quattrocento Bold" pitchFamily="34" charset="-122"/>
                <a:cs typeface="Quattrocento Bold" pitchFamily="34" charset="-120"/>
              </a:rPr>
              <a:t>Alternative:</a:t>
            </a:r>
            <a:pPr algn="l" marL="314960" indent="-314960">
              <a:lnSpc>
                <a:spcPct val="133000"/>
              </a:lnSpc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 Binomial models or Monte Carlo simulations for complex scenarios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98086" y="1625501"/>
            <a:ext cx="10795524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Key Takeaways</a:t>
            </a:r>
            <a:endParaRPr lang="en-US" sz="36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72895" y="2617341"/>
            <a:ext cx="299137" cy="2991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346266" y="2611140"/>
            <a:ext cx="278410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A Systematic Pricing Framework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1346266" y="3317379"/>
            <a:ext cx="278410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BSM gives traders and analysts a rigorous, consistent method to value options based on observable market inputs — not intuition.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54513" y="2617341"/>
            <a:ext cx="299137" cy="2991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027884" y="2611140"/>
            <a:ext cx="2784108" cy="293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Variables Drive Decisions</a:t>
            </a:r>
            <a:endParaRPr lang="en-US" sz="1800" dirty="0"/>
          </a:p>
        </p:txBody>
      </p:sp>
      <p:sp>
        <p:nvSpPr>
          <p:cNvPr id="8" name="Text 4"/>
          <p:cNvSpPr/>
          <p:nvPr/>
        </p:nvSpPr>
        <p:spPr>
          <a:xfrm>
            <a:off x="5027884" y="3024088"/>
            <a:ext cx="2784108" cy="15959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Understanding how price, volatility, time, and interest rates interact empowers smarter, more informed trading choices.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36131" y="2617341"/>
            <a:ext cx="299137" cy="2991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709502" y="2611140"/>
            <a:ext cx="2784108" cy="5865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Foundation of Modern Finance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8709502" y="3317379"/>
            <a:ext cx="2784108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5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BSM underpins derivatives pricing, portfolio hedging, and risk management across global markets — making it essential knowledge for any finance professional.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315251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3073" y="139898"/>
            <a:ext cx="4385359" cy="65782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98086" y="579239"/>
            <a:ext cx="6223638" cy="10973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450" dirty="0">
                <a:solidFill>
                  <a:srgbClr val="FFD9BE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Conclusion: From Theory to Practice</a:t>
            </a:r>
            <a:endParaRPr lang="en-US" sz="3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8033" y="1943894"/>
            <a:ext cx="279790" cy="27979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304297" y="1938238"/>
            <a:ext cx="5617427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Transformative Impact</a:t>
            </a:r>
            <a:endParaRPr lang="en-US" sz="1700" dirty="0"/>
          </a:p>
        </p:txBody>
      </p:sp>
      <p:sp>
        <p:nvSpPr>
          <p:cNvPr id="7" name="Text 3"/>
          <p:cNvSpPr/>
          <p:nvPr/>
        </p:nvSpPr>
        <p:spPr>
          <a:xfrm>
            <a:off x="1304297" y="2317155"/>
            <a:ext cx="5617427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The BSM model revolutionized options pricing, bringing mathematical rigor to a once speculative market.</a:t>
            </a:r>
            <a:endParaRPr lang="en-US" sz="14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8033" y="3249116"/>
            <a:ext cx="279790" cy="27979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04297" y="3243461"/>
            <a:ext cx="5617427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Foundational, Yet Evolving</a:t>
            </a:r>
            <a:endParaRPr lang="en-US" sz="1700" dirty="0"/>
          </a:p>
        </p:txBody>
      </p:sp>
      <p:sp>
        <p:nvSpPr>
          <p:cNvPr id="10" name="Text 5"/>
          <p:cNvSpPr/>
          <p:nvPr/>
        </p:nvSpPr>
        <p:spPr>
          <a:xfrm>
            <a:off x="1304297" y="3622377"/>
            <a:ext cx="5617427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Despite its assumptions, BSM remains a cornerstone, with adaptations and advanced models built upon its principles.</a:t>
            </a:r>
            <a:endParaRPr lang="en-US" sz="14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8033" y="4554339"/>
            <a:ext cx="279790" cy="27979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1304297" y="4548684"/>
            <a:ext cx="5617427" cy="2743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Essential for Professionals</a:t>
            </a:r>
            <a:endParaRPr lang="en-US" sz="1700" dirty="0"/>
          </a:p>
        </p:txBody>
      </p:sp>
      <p:sp>
        <p:nvSpPr>
          <p:cNvPr id="13" name="Text 7"/>
          <p:cNvSpPr/>
          <p:nvPr/>
        </p:nvSpPr>
        <p:spPr>
          <a:xfrm>
            <a:off x="1304297" y="4927600"/>
            <a:ext cx="5617427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Mastering BSM is crucial for anyone involved in derivatives, risk management, or corporate valuation.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698086" y="5701308"/>
            <a:ext cx="6223638" cy="5774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450" dirty="0">
                <a:solidFill>
                  <a:srgbClr val="F9EEE7"/>
                </a:solidFill>
                <a:latin typeface="Quattrocento" pitchFamily="34" charset="0"/>
                <a:ea typeface="Quattrocento" pitchFamily="34" charset="-122"/>
                <a:cs typeface="Quattrocento" pitchFamily="34" charset="-120"/>
              </a:rPr>
              <a:t>Continue to explore its nuances and apply its powerful framework to navigate complex financial markets.</a:t>
            </a:r>
            <a:endParaRPr lang="en-US" sz="14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2026-09-29T15:06:32Z</dcterms:created>
  <dcterms:modified xsi:type="dcterms:W3CDTF">2026-09-29T15:06:32Z</dcterms:modified>
</cp:coreProperties>
</file>