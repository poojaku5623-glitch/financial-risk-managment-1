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4"/>
      <p:bold r:id="rId15"/>
    </p:embeddedFont>
    <p:embeddedFont>
      <p:font typeface="Shantell Sans" panose="020B0604020202020204" charset="0"/>
      <p:regular r:id="rId16"/>
      <p:bold r:id="rId1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91" y="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5475" y="-59473"/>
            <a:ext cx="3048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90525" y="1952625"/>
            <a:ext cx="175752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500" b="0">
                <a:solidFill>
                  <a:srgbClr val="1C1C1C"/>
                </a:solidFill>
                <a:latin typeface="Roboto"/>
              </a:rPr>
              <a:t>Risk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71213" y="1952625"/>
            <a:ext cx="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390525" y="2409825"/>
            <a:ext cx="4235405" cy="1714500"/>
            <a:chOff x="390525" y="2409825"/>
            <a:chExt cx="4235405" cy="1714500"/>
          </a:xfrm>
        </p:grpSpPr>
        <p:sp>
          <p:nvSpPr>
            <p:cNvPr id="5" name="TextBox 4"/>
            <p:cNvSpPr txBox="1"/>
            <p:nvPr/>
          </p:nvSpPr>
          <p:spPr>
            <a:xfrm>
              <a:off x="390525" y="2409825"/>
              <a:ext cx="4870715" cy="571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4500" b="1">
                  <a:solidFill>
                    <a:srgbClr val="1C1C1C"/>
                  </a:solidFill>
                  <a:latin typeface="Shantell Sans"/>
                </a:rPr>
                <a:t>Risk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390525" y="2981325"/>
              <a:ext cx="4870715" cy="571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4500" b="1">
                  <a:solidFill>
                    <a:srgbClr val="1C1C1C"/>
                  </a:solidFill>
                  <a:latin typeface="Shantell Sans"/>
                </a:rPr>
                <a:t>Management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90525" y="3552825"/>
              <a:ext cx="4870715" cy="571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4500" b="1">
                  <a:solidFill>
                    <a:srgbClr val="1C1C1C"/>
                  </a:solidFill>
                  <a:latin typeface="Shantell Sans"/>
                </a:rPr>
                <a:t>Fundamentals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390525" y="4314825"/>
            <a:ext cx="5155168" cy="457200"/>
            <a:chOff x="390525" y="4314825"/>
            <a:chExt cx="5155168" cy="457200"/>
          </a:xfrm>
        </p:grpSpPr>
        <p:sp>
          <p:nvSpPr>
            <p:cNvPr id="9" name="TextBox 8"/>
            <p:cNvSpPr txBox="1"/>
            <p:nvPr/>
          </p:nvSpPr>
          <p:spPr>
            <a:xfrm>
              <a:off x="390525" y="4314825"/>
              <a:ext cx="592844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1C1C1C"/>
                  </a:solidFill>
                  <a:latin typeface="Roboto"/>
                </a:rPr>
                <a:t>An overview of key concepts and financial risk definitions for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90525" y="4543425"/>
              <a:ext cx="592844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1C1C1C"/>
                  </a:solidFill>
                  <a:latin typeface="Roboto"/>
                </a:rPr>
                <a:t>the modern professional.</a:t>
              </a:r>
            </a:p>
          </p:txBody>
        </p:sp>
      </p:grpSp>
      <p:sp>
        <p:nvSpPr>
          <p:cNvPr id="12" name="Rounded Rectangle 11"/>
          <p:cNvSpPr/>
          <p:nvPr/>
        </p:nvSpPr>
        <p:spPr>
          <a:xfrm>
            <a:off x="8311376" y="4913970"/>
            <a:ext cx="600614" cy="229529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9F8A4A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lang="en-US" dirty="0"/>
              <a:t>Pooja Kumari 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3632657" y="1896455"/>
            <a:ext cx="4715684" cy="748360"/>
            <a:chOff x="3632657" y="1896455"/>
            <a:chExt cx="4715684" cy="748360"/>
          </a:xfrm>
        </p:grpSpPr>
        <p:sp>
          <p:nvSpPr>
            <p:cNvPr id="2" name="Rounded Rectangle 1"/>
            <p:cNvSpPr/>
            <p:nvPr/>
          </p:nvSpPr>
          <p:spPr>
            <a:xfrm>
              <a:off x="7066905" y="1896455"/>
              <a:ext cx="394677" cy="748360"/>
            </a:xfrm>
            <a:custGeom>
              <a:avLst/>
              <a:gdLst/>
              <a:ahLst/>
              <a:cxnLst/>
              <a:rect l="0" t="0" r="0" b="0"/>
              <a:pathLst>
                <a:path w="394677" h="748360">
                  <a:moveTo>
                    <a:pt x="394677" y="0"/>
                  </a:moveTo>
                  <a:lnTo>
                    <a:pt x="0" y="420309"/>
                  </a:lnTo>
                  <a:lnTo>
                    <a:pt x="179403" y="748360"/>
                  </a:lnTo>
                  <a:lnTo>
                    <a:pt x="276786" y="691972"/>
                  </a:lnTo>
                  <a:lnTo>
                    <a:pt x="138398" y="430558"/>
                  </a:lnTo>
                  <a:lnTo>
                    <a:pt x="394677" y="158896"/>
                  </a:lnTo>
                  <a:lnTo>
                    <a:pt x="394677" y="0"/>
                  </a:lnTo>
                </a:path>
              </a:pathLst>
            </a:custGeom>
            <a:solidFill>
              <a:srgbClr val="FFFFFF">
                <a:alpha val="50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7953654" y="1896455"/>
              <a:ext cx="394687" cy="748360"/>
            </a:xfrm>
            <a:custGeom>
              <a:avLst/>
              <a:gdLst/>
              <a:ahLst/>
              <a:cxnLst/>
              <a:rect l="0" t="0" r="0" b="0"/>
              <a:pathLst>
                <a:path w="394687" h="748360">
                  <a:moveTo>
                    <a:pt x="0" y="0"/>
                  </a:moveTo>
                  <a:lnTo>
                    <a:pt x="394687" y="420309"/>
                  </a:lnTo>
                  <a:lnTo>
                    <a:pt x="215284" y="748360"/>
                  </a:lnTo>
                  <a:lnTo>
                    <a:pt x="117890" y="691972"/>
                  </a:lnTo>
                  <a:lnTo>
                    <a:pt x="256289" y="430558"/>
                  </a:lnTo>
                  <a:lnTo>
                    <a:pt x="0" y="158896"/>
                  </a:lnTo>
                  <a:lnTo>
                    <a:pt x="0" y="0"/>
                  </a:lnTo>
                </a:path>
              </a:pathLst>
            </a:custGeom>
            <a:solidFill>
              <a:srgbClr val="FFFFFF">
                <a:alpha val="50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7574349" y="2127112"/>
              <a:ext cx="266538" cy="133273"/>
            </a:xfrm>
            <a:custGeom>
              <a:avLst/>
              <a:gdLst/>
              <a:ahLst/>
              <a:cxnLst/>
              <a:rect l="0" t="0" r="0" b="0"/>
              <a:pathLst>
                <a:path w="266538" h="133273">
                  <a:moveTo>
                    <a:pt x="0" y="0"/>
                  </a:moveTo>
                  <a:cubicBezTo>
                    <a:pt x="0" y="73599"/>
                    <a:pt x="59674" y="133273"/>
                    <a:pt x="133273" y="133273"/>
                  </a:cubicBezTo>
                  <a:cubicBezTo>
                    <a:pt x="206873" y="133273"/>
                    <a:pt x="266538" y="73599"/>
                    <a:pt x="266538" y="0"/>
                  </a:cubicBezTo>
                  <a:lnTo>
                    <a:pt x="194776" y="0"/>
                  </a:lnTo>
                  <a:cubicBezTo>
                    <a:pt x="194776" y="33966"/>
                    <a:pt x="167239" y="61512"/>
                    <a:pt x="133273" y="61512"/>
                  </a:cubicBezTo>
                  <a:cubicBezTo>
                    <a:pt x="99298" y="61512"/>
                    <a:pt x="71761" y="33966"/>
                    <a:pt x="71761" y="0"/>
                  </a:cubicBezTo>
                  <a:lnTo>
                    <a:pt x="0" y="0"/>
                  </a:lnTo>
                </a:path>
              </a:pathLst>
            </a:custGeom>
            <a:solidFill>
              <a:srgbClr val="FFFFFF">
                <a:alpha val="50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5349776" y="1896455"/>
              <a:ext cx="394687" cy="748360"/>
            </a:xfrm>
            <a:custGeom>
              <a:avLst/>
              <a:gdLst/>
              <a:ahLst/>
              <a:cxnLst/>
              <a:rect l="0" t="0" r="0" b="0"/>
              <a:pathLst>
                <a:path w="394687" h="748360">
                  <a:moveTo>
                    <a:pt x="394687" y="0"/>
                  </a:moveTo>
                  <a:lnTo>
                    <a:pt x="0" y="420309"/>
                  </a:lnTo>
                  <a:lnTo>
                    <a:pt x="179403" y="748360"/>
                  </a:lnTo>
                  <a:lnTo>
                    <a:pt x="276796" y="691972"/>
                  </a:lnTo>
                  <a:lnTo>
                    <a:pt x="138398" y="430558"/>
                  </a:lnTo>
                  <a:lnTo>
                    <a:pt x="394687" y="158896"/>
                  </a:lnTo>
                  <a:lnTo>
                    <a:pt x="394687" y="0"/>
                  </a:lnTo>
                </a:path>
              </a:pathLst>
            </a:custGeom>
            <a:solidFill>
              <a:srgbClr val="FFFFFF">
                <a:alpha val="50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236535" y="1896455"/>
              <a:ext cx="394677" cy="748360"/>
            </a:xfrm>
            <a:custGeom>
              <a:avLst/>
              <a:gdLst/>
              <a:ahLst/>
              <a:cxnLst/>
              <a:rect l="0" t="0" r="0" b="0"/>
              <a:pathLst>
                <a:path w="394677" h="748360">
                  <a:moveTo>
                    <a:pt x="0" y="0"/>
                  </a:moveTo>
                  <a:lnTo>
                    <a:pt x="394677" y="420309"/>
                  </a:lnTo>
                  <a:lnTo>
                    <a:pt x="215284" y="748360"/>
                  </a:lnTo>
                  <a:lnTo>
                    <a:pt x="117890" y="691972"/>
                  </a:lnTo>
                  <a:lnTo>
                    <a:pt x="256289" y="430558"/>
                  </a:lnTo>
                  <a:lnTo>
                    <a:pt x="0" y="158896"/>
                  </a:lnTo>
                  <a:lnTo>
                    <a:pt x="0" y="0"/>
                  </a:lnTo>
                </a:path>
              </a:pathLst>
            </a:custGeom>
            <a:solidFill>
              <a:srgbClr val="FFFFFF">
                <a:alpha val="50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5857230" y="2127112"/>
              <a:ext cx="266538" cy="133273"/>
            </a:xfrm>
            <a:custGeom>
              <a:avLst/>
              <a:gdLst/>
              <a:ahLst/>
              <a:cxnLst/>
              <a:rect l="0" t="0" r="0" b="0"/>
              <a:pathLst>
                <a:path w="266538" h="133273">
                  <a:moveTo>
                    <a:pt x="0" y="0"/>
                  </a:moveTo>
                  <a:cubicBezTo>
                    <a:pt x="0" y="73599"/>
                    <a:pt x="59664" y="133273"/>
                    <a:pt x="133264" y="133273"/>
                  </a:cubicBezTo>
                  <a:cubicBezTo>
                    <a:pt x="206873" y="133273"/>
                    <a:pt x="266538" y="73599"/>
                    <a:pt x="266538" y="0"/>
                  </a:cubicBezTo>
                  <a:lnTo>
                    <a:pt x="194776" y="0"/>
                  </a:lnTo>
                  <a:cubicBezTo>
                    <a:pt x="194776" y="33966"/>
                    <a:pt x="167239" y="61512"/>
                    <a:pt x="133264" y="61512"/>
                  </a:cubicBezTo>
                  <a:cubicBezTo>
                    <a:pt x="99298" y="61512"/>
                    <a:pt x="71761" y="33966"/>
                    <a:pt x="71761" y="0"/>
                  </a:cubicBezTo>
                  <a:lnTo>
                    <a:pt x="0" y="0"/>
                  </a:lnTo>
                </a:path>
              </a:pathLst>
            </a:custGeom>
            <a:solidFill>
              <a:srgbClr val="FFFFFF">
                <a:alpha val="50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3632657" y="1896455"/>
              <a:ext cx="394677" cy="748360"/>
            </a:xfrm>
            <a:custGeom>
              <a:avLst/>
              <a:gdLst/>
              <a:ahLst/>
              <a:cxnLst/>
              <a:rect l="0" t="0" r="0" b="0"/>
              <a:pathLst>
                <a:path w="394677" h="748360">
                  <a:moveTo>
                    <a:pt x="394677" y="0"/>
                  </a:moveTo>
                  <a:lnTo>
                    <a:pt x="0" y="420309"/>
                  </a:lnTo>
                  <a:lnTo>
                    <a:pt x="179403" y="748360"/>
                  </a:lnTo>
                  <a:lnTo>
                    <a:pt x="276786" y="691972"/>
                  </a:lnTo>
                  <a:lnTo>
                    <a:pt x="138398" y="430558"/>
                  </a:lnTo>
                  <a:lnTo>
                    <a:pt x="394677" y="158896"/>
                  </a:lnTo>
                  <a:lnTo>
                    <a:pt x="394677" y="0"/>
                  </a:lnTo>
                </a:path>
              </a:pathLst>
            </a:custGeom>
            <a:solidFill>
              <a:srgbClr val="FFFFFF">
                <a:alpha val="50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4519406" y="1896455"/>
              <a:ext cx="394687" cy="748360"/>
            </a:xfrm>
            <a:custGeom>
              <a:avLst/>
              <a:gdLst/>
              <a:ahLst/>
              <a:cxnLst/>
              <a:rect l="0" t="0" r="0" b="0"/>
              <a:pathLst>
                <a:path w="394687" h="748360">
                  <a:moveTo>
                    <a:pt x="0" y="0"/>
                  </a:moveTo>
                  <a:lnTo>
                    <a:pt x="394687" y="420309"/>
                  </a:lnTo>
                  <a:lnTo>
                    <a:pt x="215284" y="748360"/>
                  </a:lnTo>
                  <a:lnTo>
                    <a:pt x="117900" y="691972"/>
                  </a:lnTo>
                  <a:lnTo>
                    <a:pt x="256289" y="430558"/>
                  </a:lnTo>
                  <a:lnTo>
                    <a:pt x="0" y="158896"/>
                  </a:lnTo>
                  <a:lnTo>
                    <a:pt x="0" y="0"/>
                  </a:lnTo>
                </a:path>
              </a:pathLst>
            </a:custGeom>
            <a:solidFill>
              <a:srgbClr val="FFFFFF">
                <a:alpha val="50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4140101" y="2127112"/>
              <a:ext cx="266538" cy="133273"/>
            </a:xfrm>
            <a:custGeom>
              <a:avLst/>
              <a:gdLst/>
              <a:ahLst/>
              <a:cxnLst/>
              <a:rect l="0" t="0" r="0" b="0"/>
              <a:pathLst>
                <a:path w="266538" h="133273">
                  <a:moveTo>
                    <a:pt x="0" y="0"/>
                  </a:moveTo>
                  <a:cubicBezTo>
                    <a:pt x="0" y="73599"/>
                    <a:pt x="59674" y="133273"/>
                    <a:pt x="133273" y="133273"/>
                  </a:cubicBezTo>
                  <a:cubicBezTo>
                    <a:pt x="206873" y="133273"/>
                    <a:pt x="266538" y="73599"/>
                    <a:pt x="266538" y="0"/>
                  </a:cubicBezTo>
                  <a:lnTo>
                    <a:pt x="194786" y="0"/>
                  </a:lnTo>
                  <a:cubicBezTo>
                    <a:pt x="194786" y="33966"/>
                    <a:pt x="167239" y="61512"/>
                    <a:pt x="133273" y="61512"/>
                  </a:cubicBezTo>
                  <a:cubicBezTo>
                    <a:pt x="99307" y="61512"/>
                    <a:pt x="71761" y="33966"/>
                    <a:pt x="71761" y="0"/>
                  </a:cubicBezTo>
                  <a:lnTo>
                    <a:pt x="0" y="0"/>
                  </a:lnTo>
                </a:path>
              </a:pathLst>
            </a:custGeom>
            <a:solidFill>
              <a:srgbClr val="FFFFFF">
                <a:alpha val="50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3632657" y="1142970"/>
            <a:ext cx="4715682" cy="1501842"/>
            <a:chOff x="3632657" y="1142970"/>
            <a:chExt cx="4715682" cy="1501842"/>
          </a:xfrm>
        </p:grpSpPr>
        <p:sp>
          <p:nvSpPr>
            <p:cNvPr id="12" name="Rounded Rectangle 11"/>
            <p:cNvSpPr/>
            <p:nvPr/>
          </p:nvSpPr>
          <p:spPr>
            <a:xfrm>
              <a:off x="7066904" y="1896454"/>
              <a:ext cx="394682" cy="748358"/>
            </a:xfrm>
            <a:custGeom>
              <a:avLst/>
              <a:gdLst/>
              <a:ahLst/>
              <a:cxnLst/>
              <a:rect l="0" t="0" r="0" b="0"/>
              <a:pathLst>
                <a:path w="394682" h="748358">
                  <a:moveTo>
                    <a:pt x="394682" y="0"/>
                  </a:moveTo>
                  <a:lnTo>
                    <a:pt x="0" y="420310"/>
                  </a:lnTo>
                  <a:lnTo>
                    <a:pt x="179400" y="748358"/>
                  </a:lnTo>
                  <a:lnTo>
                    <a:pt x="276789" y="691975"/>
                  </a:lnTo>
                  <a:lnTo>
                    <a:pt x="138395" y="430562"/>
                  </a:lnTo>
                  <a:lnTo>
                    <a:pt x="394682" y="158898"/>
                  </a:lnTo>
                  <a:lnTo>
                    <a:pt x="394682" y="0"/>
                  </a:lnTo>
                  <a:close/>
                </a:path>
              </a:pathLst>
            </a:custGeom>
            <a:noFill/>
            <a:ln w="15380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7953657" y="1896454"/>
              <a:ext cx="394682" cy="748358"/>
            </a:xfrm>
            <a:custGeom>
              <a:avLst/>
              <a:gdLst/>
              <a:ahLst/>
              <a:cxnLst/>
              <a:rect l="0" t="0" r="0" b="0"/>
              <a:pathLst>
                <a:path w="394682" h="748358">
                  <a:moveTo>
                    <a:pt x="0" y="0"/>
                  </a:moveTo>
                  <a:lnTo>
                    <a:pt x="394682" y="420310"/>
                  </a:lnTo>
                  <a:lnTo>
                    <a:pt x="215281" y="748358"/>
                  </a:lnTo>
                  <a:lnTo>
                    <a:pt x="117891" y="691975"/>
                  </a:lnTo>
                  <a:lnTo>
                    <a:pt x="256286" y="430562"/>
                  </a:lnTo>
                  <a:lnTo>
                    <a:pt x="0" y="158898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5380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7574352" y="1142970"/>
              <a:ext cx="266538" cy="1117411"/>
            </a:xfrm>
            <a:custGeom>
              <a:avLst/>
              <a:gdLst/>
              <a:ahLst/>
              <a:cxnLst/>
              <a:rect l="0" t="0" r="0" b="0"/>
              <a:pathLst>
                <a:path w="266538" h="1117411">
                  <a:moveTo>
                    <a:pt x="0" y="984142"/>
                  </a:moveTo>
                  <a:cubicBezTo>
                    <a:pt x="0" y="1057744"/>
                    <a:pt x="59667" y="1117411"/>
                    <a:pt x="133269" y="1117411"/>
                  </a:cubicBezTo>
                  <a:cubicBezTo>
                    <a:pt x="206871" y="1117411"/>
                    <a:pt x="266538" y="1057744"/>
                    <a:pt x="266538" y="984142"/>
                  </a:cubicBezTo>
                  <a:lnTo>
                    <a:pt x="194778" y="984142"/>
                  </a:lnTo>
                  <a:cubicBezTo>
                    <a:pt x="194778" y="1018112"/>
                    <a:pt x="167239" y="1045651"/>
                    <a:pt x="133269" y="1045651"/>
                  </a:cubicBezTo>
                  <a:cubicBezTo>
                    <a:pt x="99299" y="1045651"/>
                    <a:pt x="71760" y="1018112"/>
                    <a:pt x="71760" y="984142"/>
                  </a:cubicBezTo>
                  <a:lnTo>
                    <a:pt x="0" y="984142"/>
                  </a:lnTo>
                  <a:close/>
                  <a:moveTo>
                    <a:pt x="133269" y="246035"/>
                  </a:moveTo>
                  <a:lnTo>
                    <a:pt x="133269" y="0"/>
                  </a:lnTo>
                </a:path>
              </a:pathLst>
            </a:custGeom>
            <a:noFill/>
            <a:ln w="15380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5349780" y="1896454"/>
              <a:ext cx="394682" cy="748358"/>
            </a:xfrm>
            <a:custGeom>
              <a:avLst/>
              <a:gdLst/>
              <a:ahLst/>
              <a:cxnLst/>
              <a:rect l="0" t="0" r="0" b="0"/>
              <a:pathLst>
                <a:path w="394682" h="748358">
                  <a:moveTo>
                    <a:pt x="394682" y="0"/>
                  </a:moveTo>
                  <a:lnTo>
                    <a:pt x="0" y="420310"/>
                  </a:lnTo>
                  <a:lnTo>
                    <a:pt x="179400" y="748358"/>
                  </a:lnTo>
                  <a:lnTo>
                    <a:pt x="276789" y="691975"/>
                  </a:lnTo>
                  <a:lnTo>
                    <a:pt x="138394" y="430562"/>
                  </a:lnTo>
                  <a:lnTo>
                    <a:pt x="394682" y="158898"/>
                  </a:lnTo>
                  <a:lnTo>
                    <a:pt x="394682" y="0"/>
                  </a:lnTo>
                  <a:close/>
                </a:path>
              </a:pathLst>
            </a:custGeom>
            <a:noFill/>
            <a:ln w="15380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6236533" y="1896454"/>
              <a:ext cx="394682" cy="748358"/>
            </a:xfrm>
            <a:custGeom>
              <a:avLst/>
              <a:gdLst/>
              <a:ahLst/>
              <a:cxnLst/>
              <a:rect l="0" t="0" r="0" b="0"/>
              <a:pathLst>
                <a:path w="394682" h="748358">
                  <a:moveTo>
                    <a:pt x="0" y="0"/>
                  </a:moveTo>
                  <a:lnTo>
                    <a:pt x="394682" y="420310"/>
                  </a:lnTo>
                  <a:lnTo>
                    <a:pt x="215281" y="748358"/>
                  </a:lnTo>
                  <a:lnTo>
                    <a:pt x="117891" y="691975"/>
                  </a:lnTo>
                  <a:lnTo>
                    <a:pt x="256286" y="430562"/>
                  </a:lnTo>
                  <a:lnTo>
                    <a:pt x="0" y="158898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5380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5857229" y="1142970"/>
              <a:ext cx="266538" cy="1117411"/>
            </a:xfrm>
            <a:custGeom>
              <a:avLst/>
              <a:gdLst/>
              <a:ahLst/>
              <a:cxnLst/>
              <a:rect l="0" t="0" r="0" b="0"/>
              <a:pathLst>
                <a:path w="266538" h="1117411">
                  <a:moveTo>
                    <a:pt x="0" y="984142"/>
                  </a:moveTo>
                  <a:cubicBezTo>
                    <a:pt x="0" y="1057744"/>
                    <a:pt x="59666" y="1117411"/>
                    <a:pt x="133269" y="1117411"/>
                  </a:cubicBezTo>
                  <a:cubicBezTo>
                    <a:pt x="206871" y="1117411"/>
                    <a:pt x="266538" y="1057744"/>
                    <a:pt x="266538" y="984142"/>
                  </a:cubicBezTo>
                  <a:lnTo>
                    <a:pt x="194778" y="984142"/>
                  </a:lnTo>
                  <a:cubicBezTo>
                    <a:pt x="194778" y="1018112"/>
                    <a:pt x="167239" y="1045651"/>
                    <a:pt x="133269" y="1045651"/>
                  </a:cubicBezTo>
                  <a:cubicBezTo>
                    <a:pt x="99298" y="1045651"/>
                    <a:pt x="71760" y="1018112"/>
                    <a:pt x="71760" y="984142"/>
                  </a:cubicBezTo>
                  <a:lnTo>
                    <a:pt x="0" y="984142"/>
                  </a:lnTo>
                  <a:close/>
                  <a:moveTo>
                    <a:pt x="133269" y="246035"/>
                  </a:moveTo>
                  <a:lnTo>
                    <a:pt x="133269" y="0"/>
                  </a:lnTo>
                </a:path>
              </a:pathLst>
            </a:custGeom>
            <a:noFill/>
            <a:ln w="15380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3632657" y="1896454"/>
              <a:ext cx="394682" cy="748358"/>
            </a:xfrm>
            <a:custGeom>
              <a:avLst/>
              <a:gdLst/>
              <a:ahLst/>
              <a:cxnLst/>
              <a:rect l="0" t="0" r="0" b="0"/>
              <a:pathLst>
                <a:path w="394682" h="748358">
                  <a:moveTo>
                    <a:pt x="394682" y="0"/>
                  </a:moveTo>
                  <a:lnTo>
                    <a:pt x="0" y="420310"/>
                  </a:lnTo>
                  <a:lnTo>
                    <a:pt x="179400" y="748358"/>
                  </a:lnTo>
                  <a:lnTo>
                    <a:pt x="276790" y="691975"/>
                  </a:lnTo>
                  <a:lnTo>
                    <a:pt x="138395" y="430562"/>
                  </a:lnTo>
                  <a:lnTo>
                    <a:pt x="394682" y="158898"/>
                  </a:lnTo>
                  <a:lnTo>
                    <a:pt x="394682" y="0"/>
                  </a:lnTo>
                  <a:close/>
                </a:path>
              </a:pathLst>
            </a:custGeom>
            <a:noFill/>
            <a:ln w="15380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4519410" y="1896454"/>
              <a:ext cx="394682" cy="748358"/>
            </a:xfrm>
            <a:custGeom>
              <a:avLst/>
              <a:gdLst/>
              <a:ahLst/>
              <a:cxnLst/>
              <a:rect l="0" t="0" r="0" b="0"/>
              <a:pathLst>
                <a:path w="394682" h="748358">
                  <a:moveTo>
                    <a:pt x="0" y="0"/>
                  </a:moveTo>
                  <a:lnTo>
                    <a:pt x="394682" y="420310"/>
                  </a:lnTo>
                  <a:lnTo>
                    <a:pt x="215281" y="748358"/>
                  </a:lnTo>
                  <a:lnTo>
                    <a:pt x="117892" y="691975"/>
                  </a:lnTo>
                  <a:lnTo>
                    <a:pt x="256287" y="430562"/>
                  </a:lnTo>
                  <a:lnTo>
                    <a:pt x="0" y="158898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5380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4140105" y="1142970"/>
              <a:ext cx="266538" cy="1117411"/>
            </a:xfrm>
            <a:custGeom>
              <a:avLst/>
              <a:gdLst/>
              <a:ahLst/>
              <a:cxnLst/>
              <a:rect l="0" t="0" r="0" b="0"/>
              <a:pathLst>
                <a:path w="266538" h="1117411">
                  <a:moveTo>
                    <a:pt x="0" y="984142"/>
                  </a:moveTo>
                  <a:cubicBezTo>
                    <a:pt x="0" y="1057744"/>
                    <a:pt x="59666" y="1117411"/>
                    <a:pt x="133269" y="1117411"/>
                  </a:cubicBezTo>
                  <a:cubicBezTo>
                    <a:pt x="206871" y="1117411"/>
                    <a:pt x="266538" y="1057744"/>
                    <a:pt x="266538" y="984142"/>
                  </a:cubicBezTo>
                  <a:lnTo>
                    <a:pt x="194778" y="984142"/>
                  </a:lnTo>
                  <a:cubicBezTo>
                    <a:pt x="194778" y="1018112"/>
                    <a:pt x="167239" y="1045651"/>
                    <a:pt x="133269" y="1045651"/>
                  </a:cubicBezTo>
                  <a:cubicBezTo>
                    <a:pt x="99298" y="1045651"/>
                    <a:pt x="71760" y="1018112"/>
                    <a:pt x="71760" y="984142"/>
                  </a:cubicBezTo>
                  <a:lnTo>
                    <a:pt x="0" y="984142"/>
                  </a:lnTo>
                  <a:close/>
                  <a:moveTo>
                    <a:pt x="133269" y="246035"/>
                  </a:moveTo>
                  <a:lnTo>
                    <a:pt x="133269" y="0"/>
                  </a:lnTo>
                </a:path>
              </a:pathLst>
            </a:custGeom>
            <a:noFill/>
            <a:ln w="15380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3904321" y="1389005"/>
            <a:ext cx="738111" cy="1660740"/>
            <a:chOff x="3904321" y="1389005"/>
            <a:chExt cx="738111" cy="1660740"/>
          </a:xfrm>
        </p:grpSpPr>
        <p:sp>
          <p:nvSpPr>
            <p:cNvPr id="22" name="Rounded Rectangle 21"/>
            <p:cNvSpPr/>
            <p:nvPr/>
          </p:nvSpPr>
          <p:spPr>
            <a:xfrm>
              <a:off x="3904321" y="1389005"/>
              <a:ext cx="738111" cy="1660740"/>
            </a:xfrm>
            <a:custGeom>
              <a:avLst/>
              <a:gdLst/>
              <a:ahLst/>
              <a:cxnLst/>
              <a:rect l="0" t="0" r="0" b="0"/>
              <a:pathLst>
                <a:path w="738111" h="1660740">
                  <a:moveTo>
                    <a:pt x="123015" y="0"/>
                  </a:moveTo>
                  <a:lnTo>
                    <a:pt x="615086" y="0"/>
                  </a:lnTo>
                  <a:lnTo>
                    <a:pt x="615086" y="738111"/>
                  </a:lnTo>
                  <a:lnTo>
                    <a:pt x="123015" y="738111"/>
                  </a:lnTo>
                  <a:lnTo>
                    <a:pt x="123015" y="0"/>
                  </a:lnTo>
                  <a:moveTo>
                    <a:pt x="0" y="1291685"/>
                  </a:moveTo>
                  <a:cubicBezTo>
                    <a:pt x="0" y="1495510"/>
                    <a:pt x="165230" y="1660740"/>
                    <a:pt x="369055" y="1660740"/>
                  </a:cubicBezTo>
                  <a:cubicBezTo>
                    <a:pt x="572871" y="1660740"/>
                    <a:pt x="738111" y="1495510"/>
                    <a:pt x="738111" y="1291685"/>
                  </a:cubicBezTo>
                  <a:cubicBezTo>
                    <a:pt x="738111" y="1087859"/>
                    <a:pt x="572871" y="922629"/>
                    <a:pt x="369055" y="922629"/>
                  </a:cubicBezTo>
                  <a:cubicBezTo>
                    <a:pt x="165230" y="922629"/>
                    <a:pt x="0" y="1087859"/>
                    <a:pt x="0" y="1291685"/>
                  </a:cubicBezTo>
                </a:path>
              </a:pathLst>
            </a:custGeom>
            <a:solidFill>
              <a:srgbClr val="D63A2F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4211865" y="2127117"/>
              <a:ext cx="123015" cy="61502"/>
            </a:xfrm>
            <a:custGeom>
              <a:avLst/>
              <a:gdLst/>
              <a:ahLst/>
              <a:cxnLst/>
              <a:rect l="0" t="0" r="0" b="0"/>
              <a:pathLst>
                <a:path w="123015" h="61502">
                  <a:moveTo>
                    <a:pt x="0" y="0"/>
                  </a:moveTo>
                  <a:cubicBezTo>
                    <a:pt x="0" y="33966"/>
                    <a:pt x="27536" y="61502"/>
                    <a:pt x="61512" y="61502"/>
                  </a:cubicBezTo>
                  <a:cubicBezTo>
                    <a:pt x="95478" y="61502"/>
                    <a:pt x="123015" y="33966"/>
                    <a:pt x="123015" y="0"/>
                  </a:cubicBezTo>
                  <a:lnTo>
                    <a:pt x="0" y="0"/>
                  </a:lnTo>
                </a:path>
              </a:pathLst>
            </a:custGeom>
            <a:solidFill>
              <a:srgbClr val="D63A2F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3904321" y="1389005"/>
            <a:ext cx="738106" cy="1660740"/>
            <a:chOff x="3904321" y="1389005"/>
            <a:chExt cx="738106" cy="1660740"/>
          </a:xfrm>
        </p:grpSpPr>
        <p:sp>
          <p:nvSpPr>
            <p:cNvPr id="25" name="Rounded Rectangle 24"/>
            <p:cNvSpPr/>
            <p:nvPr/>
          </p:nvSpPr>
          <p:spPr>
            <a:xfrm>
              <a:off x="3904321" y="1389005"/>
              <a:ext cx="738106" cy="1660740"/>
            </a:xfrm>
            <a:custGeom>
              <a:avLst/>
              <a:gdLst/>
              <a:ahLst/>
              <a:cxnLst/>
              <a:rect l="0" t="0" r="0" b="0"/>
              <a:pathLst>
                <a:path w="738106" h="1660740">
                  <a:moveTo>
                    <a:pt x="123017" y="0"/>
                  </a:moveTo>
                  <a:lnTo>
                    <a:pt x="615088" y="0"/>
                  </a:lnTo>
                  <a:lnTo>
                    <a:pt x="615088" y="738106"/>
                  </a:lnTo>
                  <a:lnTo>
                    <a:pt x="123017" y="738106"/>
                  </a:lnTo>
                  <a:close/>
                  <a:moveTo>
                    <a:pt x="0" y="1291686"/>
                  </a:moveTo>
                  <a:cubicBezTo>
                    <a:pt x="0" y="1495509"/>
                    <a:pt x="165230" y="1660740"/>
                    <a:pt x="369053" y="1660740"/>
                  </a:cubicBezTo>
                  <a:cubicBezTo>
                    <a:pt x="572875" y="1660740"/>
                    <a:pt x="738106" y="1495509"/>
                    <a:pt x="738106" y="1291686"/>
                  </a:cubicBezTo>
                  <a:cubicBezTo>
                    <a:pt x="738106" y="1087864"/>
                    <a:pt x="572875" y="922633"/>
                    <a:pt x="369053" y="922633"/>
                  </a:cubicBezTo>
                  <a:cubicBezTo>
                    <a:pt x="165230" y="922633"/>
                    <a:pt x="0" y="1087864"/>
                    <a:pt x="0" y="1291686"/>
                  </a:cubicBezTo>
                </a:path>
              </a:pathLst>
            </a:custGeom>
            <a:noFill/>
            <a:ln w="15380">
              <a:solidFill>
                <a:srgbClr val="F8F6F0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4211866" y="2127112"/>
              <a:ext cx="123017" cy="61508"/>
            </a:xfrm>
            <a:custGeom>
              <a:avLst/>
              <a:gdLst/>
              <a:ahLst/>
              <a:cxnLst/>
              <a:rect l="0" t="0" r="0" b="0"/>
              <a:pathLst>
                <a:path w="123017" h="61508">
                  <a:moveTo>
                    <a:pt x="0" y="0"/>
                  </a:moveTo>
                  <a:cubicBezTo>
                    <a:pt x="0" y="33970"/>
                    <a:pt x="27538" y="61508"/>
                    <a:pt x="61508" y="61508"/>
                  </a:cubicBezTo>
                  <a:cubicBezTo>
                    <a:pt x="95479" y="61508"/>
                    <a:pt x="123017" y="33970"/>
                    <a:pt x="123017" y="0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15380">
              <a:solidFill>
                <a:srgbClr val="F8F6F0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5621445" y="1389005"/>
            <a:ext cx="738111" cy="1660740"/>
            <a:chOff x="5621445" y="1389005"/>
            <a:chExt cx="738111" cy="1660740"/>
          </a:xfrm>
        </p:grpSpPr>
        <p:sp>
          <p:nvSpPr>
            <p:cNvPr id="28" name="Rounded Rectangle 27"/>
            <p:cNvSpPr/>
            <p:nvPr/>
          </p:nvSpPr>
          <p:spPr>
            <a:xfrm>
              <a:off x="5621445" y="1389005"/>
              <a:ext cx="738111" cy="1660740"/>
            </a:xfrm>
            <a:custGeom>
              <a:avLst/>
              <a:gdLst/>
              <a:ahLst/>
              <a:cxnLst/>
              <a:rect l="0" t="0" r="0" b="0"/>
              <a:pathLst>
                <a:path w="738111" h="1660740">
                  <a:moveTo>
                    <a:pt x="123015" y="0"/>
                  </a:moveTo>
                  <a:lnTo>
                    <a:pt x="615086" y="0"/>
                  </a:lnTo>
                  <a:lnTo>
                    <a:pt x="615086" y="738111"/>
                  </a:lnTo>
                  <a:lnTo>
                    <a:pt x="123015" y="738111"/>
                  </a:lnTo>
                  <a:lnTo>
                    <a:pt x="123015" y="0"/>
                  </a:lnTo>
                  <a:moveTo>
                    <a:pt x="0" y="1291685"/>
                  </a:moveTo>
                  <a:cubicBezTo>
                    <a:pt x="0" y="1495510"/>
                    <a:pt x="165230" y="1660740"/>
                    <a:pt x="369055" y="1660740"/>
                  </a:cubicBezTo>
                  <a:cubicBezTo>
                    <a:pt x="572871" y="1660740"/>
                    <a:pt x="738111" y="1495510"/>
                    <a:pt x="738111" y="1291685"/>
                  </a:cubicBezTo>
                  <a:cubicBezTo>
                    <a:pt x="738111" y="1087859"/>
                    <a:pt x="572871" y="922629"/>
                    <a:pt x="369055" y="922629"/>
                  </a:cubicBezTo>
                  <a:cubicBezTo>
                    <a:pt x="165230" y="922629"/>
                    <a:pt x="0" y="1087859"/>
                    <a:pt x="0" y="1291685"/>
                  </a:cubicBezTo>
                </a:path>
              </a:pathLst>
            </a:custGeom>
            <a:solidFill>
              <a:srgbClr val="FB7F1A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5928988" y="2127117"/>
              <a:ext cx="123015" cy="61502"/>
            </a:xfrm>
            <a:custGeom>
              <a:avLst/>
              <a:gdLst/>
              <a:ahLst/>
              <a:cxnLst/>
              <a:rect l="0" t="0" r="0" b="0"/>
              <a:pathLst>
                <a:path w="123015" h="61502">
                  <a:moveTo>
                    <a:pt x="0" y="0"/>
                  </a:moveTo>
                  <a:cubicBezTo>
                    <a:pt x="0" y="33966"/>
                    <a:pt x="27536" y="61502"/>
                    <a:pt x="61512" y="61502"/>
                  </a:cubicBezTo>
                  <a:cubicBezTo>
                    <a:pt x="95478" y="61502"/>
                    <a:pt x="123015" y="33966"/>
                    <a:pt x="123015" y="0"/>
                  </a:cubicBezTo>
                  <a:lnTo>
                    <a:pt x="0" y="0"/>
                  </a:lnTo>
                </a:path>
              </a:pathLst>
            </a:custGeom>
            <a:solidFill>
              <a:srgbClr val="FB7F1A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5621445" y="1389005"/>
            <a:ext cx="738106" cy="1660740"/>
            <a:chOff x="5621445" y="1389005"/>
            <a:chExt cx="738106" cy="1660740"/>
          </a:xfrm>
        </p:grpSpPr>
        <p:sp>
          <p:nvSpPr>
            <p:cNvPr id="31" name="Rounded Rectangle 30"/>
            <p:cNvSpPr/>
            <p:nvPr/>
          </p:nvSpPr>
          <p:spPr>
            <a:xfrm>
              <a:off x="5621445" y="1389005"/>
              <a:ext cx="738106" cy="1660740"/>
            </a:xfrm>
            <a:custGeom>
              <a:avLst/>
              <a:gdLst/>
              <a:ahLst/>
              <a:cxnLst/>
              <a:rect l="0" t="0" r="0" b="0"/>
              <a:pathLst>
                <a:path w="738106" h="1660740">
                  <a:moveTo>
                    <a:pt x="123017" y="0"/>
                  </a:moveTo>
                  <a:lnTo>
                    <a:pt x="615088" y="0"/>
                  </a:lnTo>
                  <a:lnTo>
                    <a:pt x="615088" y="738106"/>
                  </a:lnTo>
                  <a:lnTo>
                    <a:pt x="123017" y="738106"/>
                  </a:lnTo>
                  <a:close/>
                  <a:moveTo>
                    <a:pt x="0" y="1291686"/>
                  </a:moveTo>
                  <a:cubicBezTo>
                    <a:pt x="0" y="1495509"/>
                    <a:pt x="165230" y="1660740"/>
                    <a:pt x="369053" y="1660740"/>
                  </a:cubicBezTo>
                  <a:cubicBezTo>
                    <a:pt x="572875" y="1660740"/>
                    <a:pt x="738106" y="1495509"/>
                    <a:pt x="738106" y="1291686"/>
                  </a:cubicBezTo>
                  <a:cubicBezTo>
                    <a:pt x="738106" y="1087864"/>
                    <a:pt x="572875" y="922633"/>
                    <a:pt x="369053" y="922633"/>
                  </a:cubicBezTo>
                  <a:cubicBezTo>
                    <a:pt x="165230" y="922633"/>
                    <a:pt x="0" y="1087864"/>
                    <a:pt x="0" y="1291686"/>
                  </a:cubicBezTo>
                </a:path>
              </a:pathLst>
            </a:custGeom>
            <a:noFill/>
            <a:ln w="15380">
              <a:solidFill>
                <a:srgbClr val="F8F6F0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5928989" y="2127112"/>
              <a:ext cx="123017" cy="61508"/>
            </a:xfrm>
            <a:custGeom>
              <a:avLst/>
              <a:gdLst/>
              <a:ahLst/>
              <a:cxnLst/>
              <a:rect l="0" t="0" r="0" b="0"/>
              <a:pathLst>
                <a:path w="123017" h="61508">
                  <a:moveTo>
                    <a:pt x="0" y="0"/>
                  </a:moveTo>
                  <a:cubicBezTo>
                    <a:pt x="0" y="33970"/>
                    <a:pt x="27538" y="61508"/>
                    <a:pt x="61508" y="61508"/>
                  </a:cubicBezTo>
                  <a:cubicBezTo>
                    <a:pt x="95479" y="61508"/>
                    <a:pt x="123017" y="33970"/>
                    <a:pt x="123017" y="0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15380">
              <a:solidFill>
                <a:srgbClr val="F8F6F0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7338568" y="1389005"/>
            <a:ext cx="738111" cy="1660740"/>
            <a:chOff x="7338568" y="1389005"/>
            <a:chExt cx="738111" cy="1660740"/>
          </a:xfrm>
        </p:grpSpPr>
        <p:sp>
          <p:nvSpPr>
            <p:cNvPr id="34" name="Rounded Rectangle 33"/>
            <p:cNvSpPr/>
            <p:nvPr/>
          </p:nvSpPr>
          <p:spPr>
            <a:xfrm>
              <a:off x="7338568" y="1389005"/>
              <a:ext cx="738111" cy="1660740"/>
            </a:xfrm>
            <a:custGeom>
              <a:avLst/>
              <a:gdLst/>
              <a:ahLst/>
              <a:cxnLst/>
              <a:rect l="0" t="0" r="0" b="0"/>
              <a:pathLst>
                <a:path w="738111" h="1660740">
                  <a:moveTo>
                    <a:pt x="123015" y="0"/>
                  </a:moveTo>
                  <a:lnTo>
                    <a:pt x="615086" y="0"/>
                  </a:lnTo>
                  <a:lnTo>
                    <a:pt x="615086" y="738111"/>
                  </a:lnTo>
                  <a:lnTo>
                    <a:pt x="123015" y="738111"/>
                  </a:lnTo>
                  <a:lnTo>
                    <a:pt x="123015" y="0"/>
                  </a:lnTo>
                  <a:moveTo>
                    <a:pt x="0" y="1291685"/>
                  </a:moveTo>
                  <a:cubicBezTo>
                    <a:pt x="0" y="1495510"/>
                    <a:pt x="165230" y="1660740"/>
                    <a:pt x="369055" y="1660740"/>
                  </a:cubicBezTo>
                  <a:cubicBezTo>
                    <a:pt x="572871" y="1660740"/>
                    <a:pt x="738111" y="1495510"/>
                    <a:pt x="738111" y="1291685"/>
                  </a:cubicBezTo>
                  <a:cubicBezTo>
                    <a:pt x="738111" y="1087859"/>
                    <a:pt x="572871" y="922629"/>
                    <a:pt x="369055" y="922629"/>
                  </a:cubicBezTo>
                  <a:cubicBezTo>
                    <a:pt x="165230" y="922629"/>
                    <a:pt x="0" y="1087859"/>
                    <a:pt x="0" y="1291685"/>
                  </a:cubicBezTo>
                </a:path>
              </a:pathLst>
            </a:custGeom>
            <a:solidFill>
              <a:srgbClr val="F2C12E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7646112" y="2127117"/>
              <a:ext cx="123015" cy="61502"/>
            </a:xfrm>
            <a:custGeom>
              <a:avLst/>
              <a:gdLst/>
              <a:ahLst/>
              <a:cxnLst/>
              <a:rect l="0" t="0" r="0" b="0"/>
              <a:pathLst>
                <a:path w="123015" h="61502">
                  <a:moveTo>
                    <a:pt x="0" y="0"/>
                  </a:moveTo>
                  <a:cubicBezTo>
                    <a:pt x="0" y="33966"/>
                    <a:pt x="27536" y="61502"/>
                    <a:pt x="61512" y="61502"/>
                  </a:cubicBezTo>
                  <a:cubicBezTo>
                    <a:pt x="95478" y="61502"/>
                    <a:pt x="123015" y="33966"/>
                    <a:pt x="123015" y="0"/>
                  </a:cubicBezTo>
                  <a:lnTo>
                    <a:pt x="0" y="0"/>
                  </a:lnTo>
                </a:path>
              </a:pathLst>
            </a:custGeom>
            <a:solidFill>
              <a:srgbClr val="F2C12E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7338568" y="1389005"/>
            <a:ext cx="738106" cy="1660740"/>
            <a:chOff x="7338568" y="1389005"/>
            <a:chExt cx="738106" cy="1660740"/>
          </a:xfrm>
        </p:grpSpPr>
        <p:sp>
          <p:nvSpPr>
            <p:cNvPr id="37" name="Rounded Rectangle 36"/>
            <p:cNvSpPr/>
            <p:nvPr/>
          </p:nvSpPr>
          <p:spPr>
            <a:xfrm>
              <a:off x="7338568" y="1389005"/>
              <a:ext cx="738106" cy="1660740"/>
            </a:xfrm>
            <a:custGeom>
              <a:avLst/>
              <a:gdLst/>
              <a:ahLst/>
              <a:cxnLst/>
              <a:rect l="0" t="0" r="0" b="0"/>
              <a:pathLst>
                <a:path w="738106" h="1660740">
                  <a:moveTo>
                    <a:pt x="123017" y="0"/>
                  </a:moveTo>
                  <a:lnTo>
                    <a:pt x="615088" y="0"/>
                  </a:lnTo>
                  <a:lnTo>
                    <a:pt x="615088" y="738106"/>
                  </a:lnTo>
                  <a:lnTo>
                    <a:pt x="123017" y="738106"/>
                  </a:lnTo>
                  <a:close/>
                  <a:moveTo>
                    <a:pt x="0" y="1291686"/>
                  </a:moveTo>
                  <a:cubicBezTo>
                    <a:pt x="0" y="1495509"/>
                    <a:pt x="165230" y="1660740"/>
                    <a:pt x="369053" y="1660740"/>
                  </a:cubicBezTo>
                  <a:cubicBezTo>
                    <a:pt x="572875" y="1660740"/>
                    <a:pt x="738106" y="1495509"/>
                    <a:pt x="738106" y="1291686"/>
                  </a:cubicBezTo>
                  <a:cubicBezTo>
                    <a:pt x="738106" y="1087864"/>
                    <a:pt x="572875" y="922633"/>
                    <a:pt x="369053" y="922633"/>
                  </a:cubicBezTo>
                  <a:cubicBezTo>
                    <a:pt x="165230" y="922633"/>
                    <a:pt x="0" y="1087864"/>
                    <a:pt x="0" y="1291686"/>
                  </a:cubicBezTo>
                </a:path>
              </a:pathLst>
            </a:custGeom>
            <a:noFill/>
            <a:ln w="15380">
              <a:solidFill>
                <a:srgbClr val="F8F6F0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" name="Rounded Rectangle 37"/>
            <p:cNvSpPr/>
            <p:nvPr/>
          </p:nvSpPr>
          <p:spPr>
            <a:xfrm>
              <a:off x="7646113" y="2127112"/>
              <a:ext cx="123017" cy="61508"/>
            </a:xfrm>
            <a:custGeom>
              <a:avLst/>
              <a:gdLst/>
              <a:ahLst/>
              <a:cxnLst/>
              <a:rect l="0" t="0" r="0" b="0"/>
              <a:pathLst>
                <a:path w="123017" h="61508">
                  <a:moveTo>
                    <a:pt x="0" y="0"/>
                  </a:moveTo>
                  <a:cubicBezTo>
                    <a:pt x="0" y="33970"/>
                    <a:pt x="27538" y="61508"/>
                    <a:pt x="61508" y="61508"/>
                  </a:cubicBezTo>
                  <a:cubicBezTo>
                    <a:pt x="95479" y="61508"/>
                    <a:pt x="123017" y="33970"/>
                    <a:pt x="123017" y="0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15380">
              <a:solidFill>
                <a:srgbClr val="F8F6F0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40" name="TextBox 39"/>
          <p:cNvSpPr txBox="1"/>
          <p:nvPr/>
        </p:nvSpPr>
        <p:spPr>
          <a:xfrm>
            <a:off x="390525" y="371475"/>
            <a:ext cx="5477565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3100" b="1">
                <a:solidFill>
                  <a:srgbClr val="1C1C1C"/>
                </a:solidFill>
                <a:latin typeface="Shantell Sans"/>
              </a:rPr>
              <a:t>Defining Financial Risk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027339" y="2434657"/>
            <a:ext cx="476550" cy="476693"/>
          </a:xfrm>
          <a:custGeom>
            <a:avLst/>
            <a:gdLst/>
            <a:ahLst/>
            <a:cxnLst/>
            <a:rect l="0" t="0" r="0" b="0"/>
            <a:pathLst>
              <a:path w="476550" h="476693">
                <a:moveTo>
                  <a:pt x="476550" y="476693"/>
                </a:moveTo>
                <a:lnTo>
                  <a:pt x="15377" y="476693"/>
                </a:lnTo>
                <a:lnTo>
                  <a:pt x="15377" y="15377"/>
                </a:lnTo>
                <a:moveTo>
                  <a:pt x="0" y="0"/>
                </a:moveTo>
                <a:moveTo>
                  <a:pt x="471568" y="197341"/>
                </a:moveTo>
                <a:lnTo>
                  <a:pt x="333329" y="115329"/>
                </a:lnTo>
                <a:lnTo>
                  <a:pt x="153616" y="220406"/>
                </a:lnTo>
                <a:lnTo>
                  <a:pt x="15377" y="125580"/>
                </a:lnTo>
                <a:moveTo>
                  <a:pt x="15377" y="417108"/>
                </a:moveTo>
                <a:lnTo>
                  <a:pt x="184526" y="314427"/>
                </a:lnTo>
                <a:lnTo>
                  <a:pt x="235784" y="352456"/>
                </a:lnTo>
                <a:lnTo>
                  <a:pt x="410059" y="398091"/>
                </a:lnTo>
                <a:lnTo>
                  <a:pt x="471568" y="299216"/>
                </a:lnTo>
                <a:moveTo>
                  <a:pt x="0" y="0"/>
                </a:moveTo>
                <a:moveTo>
                  <a:pt x="15377" y="238346"/>
                </a:moveTo>
                <a:lnTo>
                  <a:pt x="163382" y="74323"/>
                </a:lnTo>
                <a:lnTo>
                  <a:pt x="300497" y="289604"/>
                </a:lnTo>
                <a:lnTo>
                  <a:pt x="471568" y="74323"/>
                </a:lnTo>
              </a:path>
            </a:pathLst>
          </a:custGeom>
          <a:noFill/>
          <a:ln w="15380">
            <a:solidFill>
              <a:srgbClr val="1C1C1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5759840" y="2444883"/>
            <a:ext cx="471581" cy="471593"/>
          </a:xfrm>
          <a:custGeom>
            <a:avLst/>
            <a:gdLst/>
            <a:ahLst/>
            <a:cxnLst/>
            <a:rect l="0" t="0" r="0" b="0"/>
            <a:pathLst>
              <a:path w="471581" h="471593">
                <a:moveTo>
                  <a:pt x="335346" y="293442"/>
                </a:moveTo>
                <a:lnTo>
                  <a:pt x="335346" y="471593"/>
                </a:lnTo>
                <a:moveTo>
                  <a:pt x="0" y="471593"/>
                </a:moveTo>
                <a:lnTo>
                  <a:pt x="0" y="125769"/>
                </a:lnTo>
                <a:cubicBezTo>
                  <a:pt x="0" y="102624"/>
                  <a:pt x="18762" y="83861"/>
                  <a:pt x="41908" y="83861"/>
                </a:cubicBezTo>
                <a:lnTo>
                  <a:pt x="178150" y="83861"/>
                </a:lnTo>
                <a:moveTo>
                  <a:pt x="178150" y="146744"/>
                </a:moveTo>
                <a:lnTo>
                  <a:pt x="115267" y="146744"/>
                </a:lnTo>
                <a:moveTo>
                  <a:pt x="83836" y="251534"/>
                </a:moveTo>
                <a:lnTo>
                  <a:pt x="251509" y="251534"/>
                </a:lnTo>
                <a:cubicBezTo>
                  <a:pt x="251509" y="251534"/>
                  <a:pt x="272463" y="251534"/>
                  <a:pt x="272463" y="272488"/>
                </a:cubicBezTo>
                <a:lnTo>
                  <a:pt x="272463" y="403482"/>
                </a:lnTo>
                <a:cubicBezTo>
                  <a:pt x="272463" y="403482"/>
                  <a:pt x="272463" y="424436"/>
                  <a:pt x="251509" y="424436"/>
                </a:cubicBezTo>
                <a:lnTo>
                  <a:pt x="83836" y="424436"/>
                </a:lnTo>
                <a:cubicBezTo>
                  <a:pt x="83836" y="424436"/>
                  <a:pt x="62882" y="424436"/>
                  <a:pt x="62882" y="403482"/>
                </a:cubicBezTo>
                <a:lnTo>
                  <a:pt x="62882" y="272488"/>
                </a:lnTo>
                <a:cubicBezTo>
                  <a:pt x="62882" y="272488"/>
                  <a:pt x="62882" y="251534"/>
                  <a:pt x="83836" y="251534"/>
                </a:cubicBezTo>
                <a:moveTo>
                  <a:pt x="62882" y="356325"/>
                </a:moveTo>
                <a:lnTo>
                  <a:pt x="272463" y="356325"/>
                </a:lnTo>
                <a:moveTo>
                  <a:pt x="253170" y="109223"/>
                </a:moveTo>
                <a:cubicBezTo>
                  <a:pt x="253156" y="169542"/>
                  <a:pt x="302050" y="218447"/>
                  <a:pt x="362369" y="218447"/>
                </a:cubicBezTo>
                <a:cubicBezTo>
                  <a:pt x="422687" y="218447"/>
                  <a:pt x="471581" y="169542"/>
                  <a:pt x="471568" y="109223"/>
                </a:cubicBezTo>
                <a:cubicBezTo>
                  <a:pt x="471581" y="48905"/>
                  <a:pt x="422687" y="0"/>
                  <a:pt x="362369" y="0"/>
                </a:cubicBezTo>
                <a:cubicBezTo>
                  <a:pt x="302050" y="0"/>
                  <a:pt x="253156" y="48905"/>
                  <a:pt x="253170" y="109223"/>
                </a:cubicBezTo>
                <a:moveTo>
                  <a:pt x="362369" y="146026"/>
                </a:moveTo>
                <a:cubicBezTo>
                  <a:pt x="366720" y="146015"/>
                  <a:pt x="370255" y="149535"/>
                  <a:pt x="370263" y="153885"/>
                </a:cubicBezTo>
                <a:cubicBezTo>
                  <a:pt x="370270" y="158236"/>
                  <a:pt x="366747" y="161768"/>
                  <a:pt x="362396" y="161772"/>
                </a:cubicBezTo>
                <a:cubicBezTo>
                  <a:pt x="358045" y="161776"/>
                  <a:pt x="354516" y="158250"/>
                  <a:pt x="354516" y="153899"/>
                </a:cubicBezTo>
                <a:cubicBezTo>
                  <a:pt x="354511" y="151813"/>
                  <a:pt x="355336" y="149810"/>
                  <a:pt x="356809" y="148333"/>
                </a:cubicBezTo>
                <a:cubicBezTo>
                  <a:pt x="358282" y="146856"/>
                  <a:pt x="360283" y="146026"/>
                  <a:pt x="362369" y="146026"/>
                </a:cubicBezTo>
                <a:moveTo>
                  <a:pt x="362369" y="49662"/>
                </a:moveTo>
                <a:lnTo>
                  <a:pt x="362369" y="99320"/>
                </a:lnTo>
                <a:moveTo>
                  <a:pt x="108768" y="300413"/>
                </a:moveTo>
                <a:lnTo>
                  <a:pt x="152090" y="300413"/>
                </a:lnTo>
              </a:path>
            </a:pathLst>
          </a:custGeom>
          <a:noFill/>
          <a:ln w="15380">
            <a:solidFill>
              <a:srgbClr val="1C1C1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7471838" y="2434657"/>
            <a:ext cx="476693" cy="476693"/>
          </a:xfrm>
          <a:custGeom>
            <a:avLst/>
            <a:gdLst/>
            <a:ahLst/>
            <a:cxnLst/>
            <a:rect l="0" t="0" r="0" b="0"/>
            <a:pathLst>
              <a:path w="476693" h="476693">
                <a:moveTo>
                  <a:pt x="143520" y="220406"/>
                </a:moveTo>
                <a:cubicBezTo>
                  <a:pt x="143520" y="277815"/>
                  <a:pt x="188627" y="322921"/>
                  <a:pt x="246035" y="322921"/>
                </a:cubicBezTo>
                <a:cubicBezTo>
                  <a:pt x="303443" y="322921"/>
                  <a:pt x="348550" y="277815"/>
                  <a:pt x="348550" y="220406"/>
                </a:cubicBezTo>
                <a:cubicBezTo>
                  <a:pt x="348550" y="162998"/>
                  <a:pt x="246035" y="15377"/>
                  <a:pt x="246035" y="15377"/>
                </a:cubicBezTo>
                <a:cubicBezTo>
                  <a:pt x="246035" y="15377"/>
                  <a:pt x="143520" y="162998"/>
                  <a:pt x="143520" y="220406"/>
                </a:cubicBezTo>
                <a:close/>
                <a:moveTo>
                  <a:pt x="0" y="0"/>
                </a:moveTo>
                <a:moveTo>
                  <a:pt x="476693" y="292167"/>
                </a:moveTo>
                <a:lnTo>
                  <a:pt x="433637" y="445939"/>
                </a:lnTo>
                <a:cubicBezTo>
                  <a:pt x="429537" y="464392"/>
                  <a:pt x="413134" y="476693"/>
                  <a:pt x="394682" y="476693"/>
                </a:cubicBezTo>
                <a:lnTo>
                  <a:pt x="97389" y="476693"/>
                </a:lnTo>
                <a:cubicBezTo>
                  <a:pt x="78936" y="476693"/>
                  <a:pt x="62534" y="464392"/>
                  <a:pt x="58433" y="445939"/>
                </a:cubicBezTo>
                <a:lnTo>
                  <a:pt x="15377" y="292167"/>
                </a:lnTo>
              </a:path>
            </a:pathLst>
          </a:custGeom>
          <a:noFill/>
          <a:ln w="15380">
            <a:solidFill>
              <a:srgbClr val="1C1C1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55" name="Group 54"/>
          <p:cNvGrpSpPr/>
          <p:nvPr/>
        </p:nvGrpSpPr>
        <p:grpSpPr>
          <a:xfrm>
            <a:off x="390525" y="2109816"/>
            <a:ext cx="2447925" cy="2095451"/>
            <a:chOff x="390525" y="2109816"/>
            <a:chExt cx="2447925" cy="2095451"/>
          </a:xfrm>
        </p:grpSpPr>
        <p:sp>
          <p:nvSpPr>
            <p:cNvPr id="44" name="TextBox 43"/>
            <p:cNvSpPr txBox="1"/>
            <p:nvPr/>
          </p:nvSpPr>
          <p:spPr>
            <a:xfrm>
              <a:off x="390525" y="2109816"/>
              <a:ext cx="2815113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1C1C1C"/>
                  </a:solidFill>
                  <a:latin typeface="Roboto"/>
                </a:rPr>
                <a:t>Financial risk denotes the probability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390525" y="2300316"/>
              <a:ext cx="2815113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1C1C1C"/>
                  </a:solidFill>
                  <a:latin typeface="Roboto"/>
                </a:rPr>
                <a:t>of fiscal impairment resulting from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390525" y="2490816"/>
              <a:ext cx="2815113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1C1C1C"/>
                  </a:solidFill>
                  <a:latin typeface="Roboto"/>
                </a:rPr>
                <a:t>investment or commercial ventures. It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390525" y="2681316"/>
              <a:ext cx="2815113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1C1C1C"/>
                  </a:solidFill>
                  <a:latin typeface="Roboto"/>
                </a:rPr>
                <a:t>encompasses the stochastic nature of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390525" y="2871816"/>
              <a:ext cx="2815113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1C1C1C"/>
                  </a:solidFill>
                  <a:latin typeface="Roboto"/>
                </a:rPr>
                <a:t>returns and the potential for capital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390525" y="3062316"/>
              <a:ext cx="2815113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1C1C1C"/>
                  </a:solidFill>
                  <a:latin typeface="Roboto"/>
                </a:rPr>
                <a:t>erosion attributable to market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390525" y="3252816"/>
              <a:ext cx="2815113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1C1C1C"/>
                  </a:solidFill>
                  <a:latin typeface="Roboto"/>
                </a:rPr>
                <a:t>volatility, credit defaults, or liquidity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390525" y="3443316"/>
              <a:ext cx="2815113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1C1C1C"/>
                  </a:solidFill>
                  <a:latin typeface="Roboto"/>
                </a:rPr>
                <a:t>constraints. Fundamentally, it repre-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390525" y="3633816"/>
              <a:ext cx="2815113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1C1C1C"/>
                  </a:solidFill>
                  <a:latin typeface="Roboto"/>
                </a:rPr>
                <a:t>sents the quantifiable uncertainty of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390525" y="3824316"/>
              <a:ext cx="2815113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1C1C1C"/>
                  </a:solidFill>
                  <a:latin typeface="Roboto"/>
                </a:rPr>
                <a:t>outcomes that may precipitate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390525" y="4014816"/>
              <a:ext cx="2815113" cy="1904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1C1C1C"/>
                  </a:solidFill>
                  <a:latin typeface="Roboto"/>
                </a:rPr>
                <a:t>adverse economic consequences.</a:t>
              </a:r>
            </a:p>
          </p:txBody>
        </p:sp>
      </p:grpSp>
      <p:grpSp>
        <p:nvGrpSpPr>
          <p:cNvPr id="58" name="Group 57"/>
          <p:cNvGrpSpPr/>
          <p:nvPr/>
        </p:nvGrpSpPr>
        <p:grpSpPr>
          <a:xfrm>
            <a:off x="3782905" y="3172787"/>
            <a:ext cx="991200" cy="492022"/>
            <a:chOff x="3782905" y="3172787"/>
            <a:chExt cx="991200" cy="492022"/>
          </a:xfrm>
        </p:grpSpPr>
        <p:sp>
          <p:nvSpPr>
            <p:cNvPr id="56" name="TextBox 55"/>
            <p:cNvSpPr txBox="1"/>
            <p:nvPr/>
          </p:nvSpPr>
          <p:spPr>
            <a:xfrm>
              <a:off x="3708565" y="3172787"/>
              <a:ext cx="1139880" cy="246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500" b="1">
                  <a:solidFill>
                    <a:srgbClr val="1C1C1C"/>
                  </a:solidFill>
                  <a:latin typeface="Shantell Sans"/>
                </a:rPr>
                <a:t>Market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3708565" y="3418817"/>
              <a:ext cx="1139880" cy="2459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500" b="1">
                  <a:solidFill>
                    <a:srgbClr val="1C1C1C"/>
                  </a:solidFill>
                  <a:latin typeface="Shantell Sans"/>
                </a:rPr>
                <a:t>Volatility</a:t>
              </a:r>
            </a:p>
          </p:txBody>
        </p:sp>
      </p:grpSp>
      <p:grpSp>
        <p:nvGrpSpPr>
          <p:cNvPr id="61" name="Group 60"/>
          <p:cNvGrpSpPr/>
          <p:nvPr/>
        </p:nvGrpSpPr>
        <p:grpSpPr>
          <a:xfrm>
            <a:off x="5611825" y="3172761"/>
            <a:ext cx="777840" cy="492022"/>
            <a:chOff x="5611825" y="3172761"/>
            <a:chExt cx="777840" cy="492022"/>
          </a:xfrm>
        </p:grpSpPr>
        <p:sp>
          <p:nvSpPr>
            <p:cNvPr id="59" name="TextBox 58"/>
            <p:cNvSpPr txBox="1"/>
            <p:nvPr/>
          </p:nvSpPr>
          <p:spPr>
            <a:xfrm>
              <a:off x="5553487" y="3172761"/>
              <a:ext cx="894516" cy="246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500" b="1">
                  <a:solidFill>
                    <a:srgbClr val="1C1C1C"/>
                  </a:solidFill>
                  <a:latin typeface="Shantell Sans"/>
                </a:rPr>
                <a:t>Credit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5553487" y="3418791"/>
              <a:ext cx="894516" cy="2459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500" b="1">
                  <a:solidFill>
                    <a:srgbClr val="1C1C1C"/>
                  </a:solidFill>
                  <a:latin typeface="Shantell Sans"/>
                </a:rPr>
                <a:t>Default</a:t>
              </a:r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7102149" y="3172761"/>
            <a:ext cx="1241698" cy="492022"/>
            <a:chOff x="7102149" y="3172761"/>
            <a:chExt cx="1241698" cy="492022"/>
          </a:xfrm>
        </p:grpSpPr>
        <p:sp>
          <p:nvSpPr>
            <p:cNvPr id="62" name="TextBox 61"/>
            <p:cNvSpPr txBox="1"/>
            <p:nvPr/>
          </p:nvSpPr>
          <p:spPr>
            <a:xfrm>
              <a:off x="7009022" y="3172761"/>
              <a:ext cx="1427952" cy="246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500" b="1">
                  <a:solidFill>
                    <a:srgbClr val="1C1C1C"/>
                  </a:solidFill>
                  <a:latin typeface="Shantell Sans"/>
                </a:rPr>
                <a:t>Liquidity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7009022" y="3418791"/>
              <a:ext cx="1427952" cy="2459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500" b="1">
                  <a:solidFill>
                    <a:srgbClr val="1C1C1C"/>
                  </a:solidFill>
                  <a:latin typeface="Shantell Sans"/>
                </a:rPr>
                <a:t>Constraints</a:t>
              </a:r>
            </a:p>
          </p:txBody>
        </p:sp>
      </p:grpSp>
      <p:grpSp>
        <p:nvGrpSpPr>
          <p:cNvPr id="70" name="Group 69"/>
          <p:cNvGrpSpPr/>
          <p:nvPr/>
        </p:nvGrpSpPr>
        <p:grpSpPr>
          <a:xfrm>
            <a:off x="3591691" y="3787856"/>
            <a:ext cx="1373619" cy="922714"/>
            <a:chOff x="3591691" y="3787856"/>
            <a:chExt cx="1373619" cy="922714"/>
          </a:xfrm>
        </p:grpSpPr>
        <p:sp>
          <p:nvSpPr>
            <p:cNvPr id="65" name="TextBox 64"/>
            <p:cNvSpPr txBox="1"/>
            <p:nvPr/>
          </p:nvSpPr>
          <p:spPr>
            <a:xfrm>
              <a:off x="3488670" y="3787856"/>
              <a:ext cx="1579661" cy="1845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200" b="0">
                  <a:solidFill>
                    <a:srgbClr val="1C1C1C"/>
                  </a:solidFill>
                  <a:latin typeface="Roboto"/>
                </a:rPr>
                <a:t>Stochastic variance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3488670" y="3972450"/>
              <a:ext cx="1579661" cy="1844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200" b="0">
                  <a:solidFill>
                    <a:srgbClr val="1C1C1C"/>
                  </a:solidFill>
                  <a:latin typeface="Roboto"/>
                </a:rPr>
                <a:t>in returns</a:t>
              </a: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3488670" y="4156949"/>
              <a:ext cx="1579661" cy="1845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200" b="0">
                  <a:solidFill>
                    <a:srgbClr val="1C1C1C"/>
                  </a:solidFill>
                  <a:latin typeface="Roboto"/>
                </a:rPr>
                <a:t>precipitated by</a:t>
              </a: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3488670" y="4341544"/>
              <a:ext cx="1579661" cy="1844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200" b="0">
                  <a:solidFill>
                    <a:srgbClr val="1C1C1C"/>
                  </a:solidFill>
                  <a:latin typeface="Roboto"/>
                </a:rPr>
                <a:t>dynamic market</a:t>
              </a: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3488670" y="4526043"/>
              <a:ext cx="1579661" cy="1845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200" b="0">
                  <a:solidFill>
                    <a:srgbClr val="1C1C1C"/>
                  </a:solidFill>
                  <a:latin typeface="Roboto"/>
                </a:rPr>
                <a:t>conditions.</a:t>
              </a:r>
            </a:p>
          </p:txBody>
        </p:sp>
      </p:grpSp>
      <p:grpSp>
        <p:nvGrpSpPr>
          <p:cNvPr id="75" name="Group 74"/>
          <p:cNvGrpSpPr/>
          <p:nvPr/>
        </p:nvGrpSpPr>
        <p:grpSpPr>
          <a:xfrm>
            <a:off x="5314654" y="3787799"/>
            <a:ext cx="1372200" cy="738167"/>
            <a:chOff x="5314654" y="3787799"/>
            <a:chExt cx="1372200" cy="738167"/>
          </a:xfrm>
        </p:grpSpPr>
        <p:sp>
          <p:nvSpPr>
            <p:cNvPr id="71" name="TextBox 70"/>
            <p:cNvSpPr txBox="1"/>
            <p:nvPr/>
          </p:nvSpPr>
          <p:spPr>
            <a:xfrm>
              <a:off x="5211739" y="3787799"/>
              <a:ext cx="1578030" cy="1845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200" b="0">
                  <a:solidFill>
                    <a:srgbClr val="1C1C1C"/>
                  </a:solidFill>
                  <a:latin typeface="Roboto"/>
                </a:rPr>
                <a:t>Potential for capital</a:t>
              </a: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5211739" y="3972393"/>
              <a:ext cx="1578030" cy="1844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200" b="0">
                  <a:solidFill>
                    <a:srgbClr val="1C1C1C"/>
                  </a:solidFill>
                  <a:latin typeface="Roboto"/>
                </a:rPr>
                <a:t>erosion resulting</a:t>
              </a: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5211739" y="4156892"/>
              <a:ext cx="1578030" cy="1845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200" b="0">
                  <a:solidFill>
                    <a:srgbClr val="1C1C1C"/>
                  </a:solidFill>
                  <a:latin typeface="Roboto"/>
                </a:rPr>
                <a:t>from counterparty</a:t>
              </a: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5211739" y="4341487"/>
              <a:ext cx="1578030" cy="1844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200" b="0">
                  <a:solidFill>
                    <a:srgbClr val="1C1C1C"/>
                  </a:solidFill>
                  <a:latin typeface="Roboto"/>
                </a:rPr>
                <a:t>insolvency.</a:t>
              </a:r>
            </a:p>
          </p:txBody>
        </p:sp>
      </p:grpSp>
      <p:grpSp>
        <p:nvGrpSpPr>
          <p:cNvPr id="80" name="Group 79"/>
          <p:cNvGrpSpPr/>
          <p:nvPr/>
        </p:nvGrpSpPr>
        <p:grpSpPr>
          <a:xfrm>
            <a:off x="7009452" y="3787799"/>
            <a:ext cx="1427083" cy="738167"/>
            <a:chOff x="7009452" y="3787799"/>
            <a:chExt cx="1427083" cy="738167"/>
          </a:xfrm>
        </p:grpSpPr>
        <p:sp>
          <p:nvSpPr>
            <p:cNvPr id="76" name="TextBox 75"/>
            <p:cNvSpPr txBox="1"/>
            <p:nvPr/>
          </p:nvSpPr>
          <p:spPr>
            <a:xfrm>
              <a:off x="6902421" y="3787799"/>
              <a:ext cx="1641145" cy="1845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200" b="0">
                  <a:solidFill>
                    <a:srgbClr val="1C1C1C"/>
                  </a:solidFill>
                  <a:latin typeface="Roboto"/>
                </a:rPr>
                <a:t>Risk emanating from</a:t>
              </a: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6902421" y="3972393"/>
              <a:ext cx="1641145" cy="1844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200" b="0">
                  <a:solidFill>
                    <a:srgbClr val="1C1C1C"/>
                  </a:solidFill>
                  <a:latin typeface="Roboto"/>
                </a:rPr>
                <a:t>the inability to</a:t>
              </a: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6902421" y="4156892"/>
              <a:ext cx="1641145" cy="1845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200" b="0">
                  <a:solidFill>
                    <a:srgbClr val="1C1C1C"/>
                  </a:solidFill>
                  <a:latin typeface="Roboto"/>
                </a:rPr>
                <a:t>satisfy immediate</a:t>
              </a:r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6902421" y="4341487"/>
              <a:ext cx="1641145" cy="1844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200" b="0">
                  <a:solidFill>
                    <a:srgbClr val="1C1C1C"/>
                  </a:solidFill>
                  <a:latin typeface="Roboto"/>
                </a:rPr>
                <a:t>fiscal obligations.</a:t>
              </a:r>
            </a:p>
          </p:txBody>
        </p:sp>
      </p:grpSp>
      <p:sp>
        <p:nvSpPr>
          <p:cNvPr id="81" name="Rounded Rectangle 80"/>
          <p:cNvSpPr/>
          <p:nvPr/>
        </p:nvSpPr>
        <p:spPr>
          <a:xfrm>
            <a:off x="228600" y="4829136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1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9F8A4A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5577885" y="1695208"/>
            <a:ext cx="1005887" cy="394468"/>
            <a:chOff x="5577885" y="1695208"/>
            <a:chExt cx="1005887" cy="394468"/>
          </a:xfrm>
        </p:grpSpPr>
        <p:sp>
          <p:nvSpPr>
            <p:cNvPr id="2" name="Rounded Rectangle 1"/>
            <p:cNvSpPr/>
            <p:nvPr/>
          </p:nvSpPr>
          <p:spPr>
            <a:xfrm>
              <a:off x="5873731" y="1793820"/>
              <a:ext cx="710041" cy="197234"/>
            </a:xfrm>
            <a:custGeom>
              <a:avLst/>
              <a:gdLst/>
              <a:ahLst/>
              <a:cxnLst/>
              <a:rect l="0" t="0" r="0" b="0"/>
              <a:pathLst>
                <a:path w="710041" h="197234">
                  <a:moveTo>
                    <a:pt x="535838" y="177517"/>
                  </a:moveTo>
                  <a:cubicBezTo>
                    <a:pt x="546401" y="153352"/>
                    <a:pt x="552249" y="126672"/>
                    <a:pt x="552249" y="98621"/>
                  </a:cubicBezTo>
                  <a:cubicBezTo>
                    <a:pt x="552249" y="70570"/>
                    <a:pt x="546401" y="43891"/>
                    <a:pt x="535838" y="19726"/>
                  </a:cubicBezTo>
                  <a:lnTo>
                    <a:pt x="670588" y="19726"/>
                  </a:lnTo>
                  <a:lnTo>
                    <a:pt x="670588" y="13154"/>
                  </a:lnTo>
                  <a:cubicBezTo>
                    <a:pt x="670588" y="5886"/>
                    <a:pt x="676475" y="0"/>
                    <a:pt x="683742" y="0"/>
                  </a:cubicBezTo>
                  <a:lnTo>
                    <a:pt x="710041" y="0"/>
                  </a:lnTo>
                  <a:lnTo>
                    <a:pt x="710041" y="197234"/>
                  </a:lnTo>
                  <a:lnTo>
                    <a:pt x="683742" y="197234"/>
                  </a:lnTo>
                  <a:cubicBezTo>
                    <a:pt x="676475" y="197234"/>
                    <a:pt x="670588" y="191347"/>
                    <a:pt x="670588" y="184089"/>
                  </a:cubicBezTo>
                  <a:lnTo>
                    <a:pt x="670588" y="177517"/>
                  </a:lnTo>
                  <a:lnTo>
                    <a:pt x="535838" y="177517"/>
                  </a:lnTo>
                  <a:moveTo>
                    <a:pt x="174202" y="177517"/>
                  </a:moveTo>
                  <a:lnTo>
                    <a:pt x="39452" y="177517"/>
                  </a:lnTo>
                  <a:lnTo>
                    <a:pt x="39452" y="184089"/>
                  </a:lnTo>
                  <a:cubicBezTo>
                    <a:pt x="39452" y="191347"/>
                    <a:pt x="33566" y="197234"/>
                    <a:pt x="26298" y="197234"/>
                  </a:cubicBezTo>
                  <a:lnTo>
                    <a:pt x="0" y="197234"/>
                  </a:lnTo>
                  <a:lnTo>
                    <a:pt x="0" y="0"/>
                  </a:lnTo>
                  <a:lnTo>
                    <a:pt x="26298" y="0"/>
                  </a:lnTo>
                  <a:cubicBezTo>
                    <a:pt x="33566" y="0"/>
                    <a:pt x="39452" y="5886"/>
                    <a:pt x="39452" y="13154"/>
                  </a:cubicBezTo>
                  <a:lnTo>
                    <a:pt x="39452" y="19726"/>
                  </a:lnTo>
                  <a:lnTo>
                    <a:pt x="174202" y="19726"/>
                  </a:lnTo>
                  <a:cubicBezTo>
                    <a:pt x="163639" y="43891"/>
                    <a:pt x="157791" y="70570"/>
                    <a:pt x="157791" y="98621"/>
                  </a:cubicBezTo>
                  <a:cubicBezTo>
                    <a:pt x="157791" y="126672"/>
                    <a:pt x="163639" y="153352"/>
                    <a:pt x="174202" y="177517"/>
                  </a:cubicBezTo>
                </a:path>
              </a:pathLst>
            </a:custGeom>
            <a:solidFill>
              <a:srgbClr val="C8BB54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5577885" y="1793820"/>
              <a:ext cx="295846" cy="295856"/>
            </a:xfrm>
            <a:custGeom>
              <a:avLst/>
              <a:gdLst/>
              <a:ahLst/>
              <a:cxnLst/>
              <a:rect l="0" t="0" r="0" b="0"/>
              <a:pathLst>
                <a:path w="295846" h="295856">
                  <a:moveTo>
                    <a:pt x="19726" y="177517"/>
                  </a:moveTo>
                  <a:cubicBezTo>
                    <a:pt x="19726" y="90373"/>
                    <a:pt x="90363" y="19726"/>
                    <a:pt x="177507" y="19726"/>
                  </a:cubicBezTo>
                  <a:lnTo>
                    <a:pt x="256403" y="19726"/>
                  </a:lnTo>
                  <a:lnTo>
                    <a:pt x="256403" y="13154"/>
                  </a:lnTo>
                  <a:cubicBezTo>
                    <a:pt x="256403" y="5886"/>
                    <a:pt x="262289" y="0"/>
                    <a:pt x="269547" y="0"/>
                  </a:cubicBezTo>
                  <a:lnTo>
                    <a:pt x="295846" y="0"/>
                  </a:lnTo>
                  <a:lnTo>
                    <a:pt x="295846" y="197234"/>
                  </a:lnTo>
                  <a:lnTo>
                    <a:pt x="269547" y="197234"/>
                  </a:lnTo>
                  <a:cubicBezTo>
                    <a:pt x="262289" y="197234"/>
                    <a:pt x="256403" y="191347"/>
                    <a:pt x="256403" y="184089"/>
                  </a:cubicBezTo>
                  <a:lnTo>
                    <a:pt x="256403" y="177517"/>
                  </a:lnTo>
                  <a:lnTo>
                    <a:pt x="203806" y="177517"/>
                  </a:lnTo>
                  <a:cubicBezTo>
                    <a:pt x="189280" y="177517"/>
                    <a:pt x="177507" y="189290"/>
                    <a:pt x="177507" y="203806"/>
                  </a:cubicBezTo>
                  <a:lnTo>
                    <a:pt x="177507" y="256403"/>
                  </a:lnTo>
                  <a:lnTo>
                    <a:pt x="184080" y="256403"/>
                  </a:lnTo>
                  <a:cubicBezTo>
                    <a:pt x="191347" y="256403"/>
                    <a:pt x="197234" y="262289"/>
                    <a:pt x="197234" y="269557"/>
                  </a:cubicBezTo>
                  <a:lnTo>
                    <a:pt x="197234" y="295856"/>
                  </a:lnTo>
                  <a:lnTo>
                    <a:pt x="0" y="295856"/>
                  </a:lnTo>
                  <a:lnTo>
                    <a:pt x="0" y="269557"/>
                  </a:lnTo>
                  <a:cubicBezTo>
                    <a:pt x="0" y="262289"/>
                    <a:pt x="5886" y="256403"/>
                    <a:pt x="13144" y="256403"/>
                  </a:cubicBezTo>
                  <a:lnTo>
                    <a:pt x="19726" y="256403"/>
                  </a:lnTo>
                  <a:lnTo>
                    <a:pt x="19726" y="177517"/>
                  </a:lnTo>
                </a:path>
              </a:pathLst>
            </a:custGeom>
            <a:solidFill>
              <a:srgbClr val="C8BB54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6031522" y="1695208"/>
              <a:ext cx="394458" cy="394468"/>
            </a:xfrm>
            <a:custGeom>
              <a:avLst/>
              <a:gdLst/>
              <a:ahLst/>
              <a:cxnLst/>
              <a:rect l="0" t="0" r="0" b="0"/>
              <a:pathLst>
                <a:path w="394458" h="394468">
                  <a:moveTo>
                    <a:pt x="394458" y="197234"/>
                  </a:moveTo>
                  <a:cubicBezTo>
                    <a:pt x="394458" y="306162"/>
                    <a:pt x="306162" y="394468"/>
                    <a:pt x="197224" y="394468"/>
                  </a:cubicBezTo>
                  <a:cubicBezTo>
                    <a:pt x="88296" y="394468"/>
                    <a:pt x="0" y="306162"/>
                    <a:pt x="0" y="197234"/>
                  </a:cubicBezTo>
                  <a:cubicBezTo>
                    <a:pt x="0" y="88306"/>
                    <a:pt x="88296" y="0"/>
                    <a:pt x="197224" y="0"/>
                  </a:cubicBezTo>
                  <a:cubicBezTo>
                    <a:pt x="306162" y="0"/>
                    <a:pt x="394458" y="88306"/>
                    <a:pt x="394458" y="197234"/>
                  </a:cubicBezTo>
                </a:path>
              </a:pathLst>
            </a:custGeom>
            <a:solidFill>
              <a:srgbClr val="C8BB54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5577885" y="1695208"/>
            <a:ext cx="1005884" cy="394464"/>
            <a:chOff x="5577885" y="1695208"/>
            <a:chExt cx="1005884" cy="394464"/>
          </a:xfrm>
        </p:grpSpPr>
        <p:sp>
          <p:nvSpPr>
            <p:cNvPr id="6" name="Rounded Rectangle 5"/>
            <p:cNvSpPr/>
            <p:nvPr/>
          </p:nvSpPr>
          <p:spPr>
            <a:xfrm>
              <a:off x="5873733" y="1793824"/>
              <a:ext cx="710036" cy="197232"/>
            </a:xfrm>
            <a:custGeom>
              <a:avLst/>
              <a:gdLst/>
              <a:ahLst/>
              <a:cxnLst/>
              <a:rect l="0" t="0" r="0" b="0"/>
              <a:pathLst>
                <a:path w="710036" h="197232">
                  <a:moveTo>
                    <a:pt x="535839" y="177509"/>
                  </a:moveTo>
                  <a:cubicBezTo>
                    <a:pt x="546394" y="153349"/>
                    <a:pt x="552250" y="126666"/>
                    <a:pt x="552250" y="98616"/>
                  </a:cubicBezTo>
                  <a:cubicBezTo>
                    <a:pt x="552250" y="70565"/>
                    <a:pt x="546394" y="43882"/>
                    <a:pt x="535839" y="19723"/>
                  </a:cubicBezTo>
                  <a:lnTo>
                    <a:pt x="670590" y="19723"/>
                  </a:lnTo>
                  <a:lnTo>
                    <a:pt x="670590" y="13148"/>
                  </a:lnTo>
                  <a:cubicBezTo>
                    <a:pt x="670590" y="5886"/>
                    <a:pt x="676476" y="0"/>
                    <a:pt x="683738" y="0"/>
                  </a:cubicBezTo>
                  <a:lnTo>
                    <a:pt x="710036" y="0"/>
                  </a:lnTo>
                  <a:lnTo>
                    <a:pt x="710036" y="197232"/>
                  </a:lnTo>
                  <a:lnTo>
                    <a:pt x="683738" y="197232"/>
                  </a:lnTo>
                  <a:cubicBezTo>
                    <a:pt x="676476" y="197232"/>
                    <a:pt x="670590" y="191345"/>
                    <a:pt x="670590" y="184083"/>
                  </a:cubicBezTo>
                  <a:lnTo>
                    <a:pt x="670590" y="177509"/>
                  </a:lnTo>
                  <a:lnTo>
                    <a:pt x="535839" y="177509"/>
                  </a:lnTo>
                  <a:close/>
                  <a:moveTo>
                    <a:pt x="174197" y="177509"/>
                  </a:moveTo>
                  <a:lnTo>
                    <a:pt x="39446" y="177509"/>
                  </a:lnTo>
                  <a:lnTo>
                    <a:pt x="39446" y="184083"/>
                  </a:lnTo>
                  <a:cubicBezTo>
                    <a:pt x="39446" y="191345"/>
                    <a:pt x="33559" y="197232"/>
                    <a:pt x="26297" y="197232"/>
                  </a:cubicBezTo>
                  <a:lnTo>
                    <a:pt x="0" y="197232"/>
                  </a:lnTo>
                  <a:lnTo>
                    <a:pt x="0" y="0"/>
                  </a:lnTo>
                  <a:lnTo>
                    <a:pt x="26297" y="0"/>
                  </a:lnTo>
                  <a:cubicBezTo>
                    <a:pt x="33559" y="0"/>
                    <a:pt x="39446" y="5886"/>
                    <a:pt x="39446" y="13148"/>
                  </a:cubicBezTo>
                  <a:lnTo>
                    <a:pt x="39446" y="19723"/>
                  </a:lnTo>
                  <a:lnTo>
                    <a:pt x="174197" y="19723"/>
                  </a:lnTo>
                  <a:cubicBezTo>
                    <a:pt x="163641" y="43882"/>
                    <a:pt x="157785" y="70565"/>
                    <a:pt x="157785" y="98616"/>
                  </a:cubicBezTo>
                  <a:cubicBezTo>
                    <a:pt x="157785" y="126666"/>
                    <a:pt x="163641" y="153349"/>
                    <a:pt x="174197" y="177509"/>
                  </a:cubicBezTo>
                  <a:close/>
                  <a:moveTo>
                    <a:pt x="670590" y="19723"/>
                  </a:moveTo>
                  <a:lnTo>
                    <a:pt x="670590" y="177509"/>
                  </a:lnTo>
                  <a:moveTo>
                    <a:pt x="39446" y="177509"/>
                  </a:moveTo>
                  <a:lnTo>
                    <a:pt x="39446" y="19723"/>
                  </a:lnTo>
                </a:path>
              </a:pathLst>
            </a:custGeom>
            <a:noFill/>
            <a:ln w="9858">
              <a:solidFill>
                <a:srgbClr val="F8F6F0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5577885" y="1793824"/>
              <a:ext cx="295848" cy="295848"/>
            </a:xfrm>
            <a:custGeom>
              <a:avLst/>
              <a:gdLst/>
              <a:ahLst/>
              <a:cxnLst/>
              <a:rect l="0" t="0" r="0" b="0"/>
              <a:pathLst>
                <a:path w="295848" h="295848">
                  <a:moveTo>
                    <a:pt x="19723" y="177509"/>
                  </a:moveTo>
                  <a:cubicBezTo>
                    <a:pt x="19723" y="90366"/>
                    <a:pt x="90366" y="19723"/>
                    <a:pt x="177509" y="19723"/>
                  </a:cubicBezTo>
                  <a:lnTo>
                    <a:pt x="256402" y="19723"/>
                  </a:lnTo>
                  <a:lnTo>
                    <a:pt x="256402" y="13148"/>
                  </a:lnTo>
                  <a:cubicBezTo>
                    <a:pt x="256402" y="5886"/>
                    <a:pt x="262288" y="0"/>
                    <a:pt x="269550" y="0"/>
                  </a:cubicBezTo>
                  <a:lnTo>
                    <a:pt x="295848" y="0"/>
                  </a:lnTo>
                  <a:lnTo>
                    <a:pt x="295848" y="197232"/>
                  </a:lnTo>
                  <a:lnTo>
                    <a:pt x="269550" y="197232"/>
                  </a:lnTo>
                  <a:cubicBezTo>
                    <a:pt x="262288" y="197232"/>
                    <a:pt x="256402" y="191345"/>
                    <a:pt x="256402" y="184083"/>
                  </a:cubicBezTo>
                  <a:lnTo>
                    <a:pt x="256402" y="177509"/>
                  </a:lnTo>
                  <a:lnTo>
                    <a:pt x="203806" y="177509"/>
                  </a:lnTo>
                  <a:cubicBezTo>
                    <a:pt x="189283" y="177509"/>
                    <a:pt x="177509" y="189283"/>
                    <a:pt x="177509" y="203806"/>
                  </a:cubicBezTo>
                  <a:lnTo>
                    <a:pt x="177509" y="256402"/>
                  </a:lnTo>
                  <a:lnTo>
                    <a:pt x="184083" y="256402"/>
                  </a:lnTo>
                  <a:cubicBezTo>
                    <a:pt x="191345" y="256402"/>
                    <a:pt x="197232" y="262288"/>
                    <a:pt x="197232" y="269550"/>
                  </a:cubicBezTo>
                  <a:lnTo>
                    <a:pt x="197232" y="295848"/>
                  </a:lnTo>
                  <a:lnTo>
                    <a:pt x="0" y="295848"/>
                  </a:lnTo>
                  <a:lnTo>
                    <a:pt x="0" y="269550"/>
                  </a:lnTo>
                  <a:cubicBezTo>
                    <a:pt x="0" y="262288"/>
                    <a:pt x="5886" y="256402"/>
                    <a:pt x="13148" y="256402"/>
                  </a:cubicBezTo>
                  <a:lnTo>
                    <a:pt x="19723" y="256402"/>
                  </a:lnTo>
                  <a:close/>
                  <a:moveTo>
                    <a:pt x="256402" y="19723"/>
                  </a:moveTo>
                  <a:lnTo>
                    <a:pt x="256402" y="177509"/>
                  </a:lnTo>
                  <a:moveTo>
                    <a:pt x="19723" y="256402"/>
                  </a:moveTo>
                  <a:lnTo>
                    <a:pt x="177509" y="256402"/>
                  </a:lnTo>
                </a:path>
              </a:pathLst>
            </a:custGeom>
            <a:noFill/>
            <a:ln w="9858">
              <a:solidFill>
                <a:srgbClr val="F8F6F0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6031519" y="1695208"/>
              <a:ext cx="394464" cy="394464"/>
            </a:xfrm>
            <a:custGeom>
              <a:avLst/>
              <a:gdLst/>
              <a:ahLst/>
              <a:cxnLst/>
              <a:rect l="0" t="0" r="0" b="0"/>
              <a:pathLst>
                <a:path w="394464" h="394464">
                  <a:moveTo>
                    <a:pt x="394464" y="197232"/>
                  </a:moveTo>
                  <a:cubicBezTo>
                    <a:pt x="394464" y="306160"/>
                    <a:pt x="306160" y="394464"/>
                    <a:pt x="197232" y="394464"/>
                  </a:cubicBezTo>
                  <a:cubicBezTo>
                    <a:pt x="88304" y="394464"/>
                    <a:pt x="0" y="306160"/>
                    <a:pt x="0" y="197232"/>
                  </a:cubicBezTo>
                  <a:cubicBezTo>
                    <a:pt x="0" y="88304"/>
                    <a:pt x="88304" y="0"/>
                    <a:pt x="197232" y="0"/>
                  </a:cubicBezTo>
                  <a:cubicBezTo>
                    <a:pt x="306160" y="0"/>
                    <a:pt x="394464" y="88304"/>
                    <a:pt x="394464" y="197232"/>
                  </a:cubicBezTo>
                  <a:close/>
                </a:path>
              </a:pathLst>
            </a:custGeom>
            <a:noFill/>
            <a:ln w="9858">
              <a:solidFill>
                <a:srgbClr val="F8F6F0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4473383" y="1892441"/>
            <a:ext cx="1301734" cy="591692"/>
            <a:chOff x="4473383" y="1892441"/>
            <a:chExt cx="1301734" cy="591692"/>
          </a:xfrm>
        </p:grpSpPr>
        <p:sp>
          <p:nvSpPr>
            <p:cNvPr id="10" name="Rounded Rectangle 9"/>
            <p:cNvSpPr/>
            <p:nvPr/>
          </p:nvSpPr>
          <p:spPr>
            <a:xfrm>
              <a:off x="4769230" y="2188287"/>
              <a:ext cx="710041" cy="197234"/>
            </a:xfrm>
            <a:custGeom>
              <a:avLst/>
              <a:gdLst/>
              <a:ahLst/>
              <a:cxnLst/>
              <a:rect l="0" t="0" r="0" b="0"/>
              <a:pathLst>
                <a:path w="710041" h="197234">
                  <a:moveTo>
                    <a:pt x="535838" y="177507"/>
                  </a:moveTo>
                  <a:cubicBezTo>
                    <a:pt x="546401" y="153352"/>
                    <a:pt x="552249" y="126672"/>
                    <a:pt x="552249" y="98621"/>
                  </a:cubicBezTo>
                  <a:cubicBezTo>
                    <a:pt x="552249" y="70570"/>
                    <a:pt x="546401" y="43881"/>
                    <a:pt x="535838" y="19726"/>
                  </a:cubicBezTo>
                  <a:lnTo>
                    <a:pt x="670588" y="19726"/>
                  </a:lnTo>
                  <a:lnTo>
                    <a:pt x="670588" y="13154"/>
                  </a:lnTo>
                  <a:cubicBezTo>
                    <a:pt x="670588" y="5886"/>
                    <a:pt x="676475" y="0"/>
                    <a:pt x="683742" y="0"/>
                  </a:cubicBezTo>
                  <a:lnTo>
                    <a:pt x="710041" y="0"/>
                  </a:lnTo>
                  <a:lnTo>
                    <a:pt x="710041" y="197234"/>
                  </a:lnTo>
                  <a:lnTo>
                    <a:pt x="683742" y="197234"/>
                  </a:lnTo>
                  <a:cubicBezTo>
                    <a:pt x="676475" y="197234"/>
                    <a:pt x="670588" y="191347"/>
                    <a:pt x="670588" y="184089"/>
                  </a:cubicBezTo>
                  <a:lnTo>
                    <a:pt x="670588" y="177507"/>
                  </a:lnTo>
                  <a:lnTo>
                    <a:pt x="535838" y="177507"/>
                  </a:lnTo>
                  <a:moveTo>
                    <a:pt x="174202" y="177507"/>
                  </a:moveTo>
                  <a:lnTo>
                    <a:pt x="39452" y="177507"/>
                  </a:lnTo>
                  <a:lnTo>
                    <a:pt x="39452" y="184089"/>
                  </a:lnTo>
                  <a:cubicBezTo>
                    <a:pt x="39452" y="191347"/>
                    <a:pt x="33566" y="197234"/>
                    <a:pt x="26298" y="197234"/>
                  </a:cubicBezTo>
                  <a:lnTo>
                    <a:pt x="0" y="197234"/>
                  </a:lnTo>
                  <a:lnTo>
                    <a:pt x="0" y="0"/>
                  </a:lnTo>
                  <a:lnTo>
                    <a:pt x="26298" y="0"/>
                  </a:lnTo>
                  <a:cubicBezTo>
                    <a:pt x="33566" y="0"/>
                    <a:pt x="39452" y="5886"/>
                    <a:pt x="39452" y="13154"/>
                  </a:cubicBezTo>
                  <a:lnTo>
                    <a:pt x="39452" y="19726"/>
                  </a:lnTo>
                  <a:lnTo>
                    <a:pt x="174202" y="19726"/>
                  </a:lnTo>
                  <a:cubicBezTo>
                    <a:pt x="163639" y="43881"/>
                    <a:pt x="157791" y="70570"/>
                    <a:pt x="157791" y="98621"/>
                  </a:cubicBezTo>
                  <a:cubicBezTo>
                    <a:pt x="157791" y="126672"/>
                    <a:pt x="163639" y="153352"/>
                    <a:pt x="174202" y="177507"/>
                  </a:cubicBezTo>
                </a:path>
              </a:pathLst>
            </a:custGeom>
            <a:solidFill>
              <a:srgbClr val="88A48C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4473383" y="1892441"/>
              <a:ext cx="197234" cy="197234"/>
            </a:xfrm>
            <a:custGeom>
              <a:avLst/>
              <a:gdLst/>
              <a:ahLst/>
              <a:cxnLst/>
              <a:rect l="0" t="0" r="0" b="0"/>
              <a:pathLst>
                <a:path w="197234" h="197234">
                  <a:moveTo>
                    <a:pt x="0" y="197234"/>
                  </a:moveTo>
                  <a:lnTo>
                    <a:pt x="0" y="170935"/>
                  </a:lnTo>
                  <a:cubicBezTo>
                    <a:pt x="0" y="163668"/>
                    <a:pt x="5886" y="157781"/>
                    <a:pt x="13144" y="157781"/>
                  </a:cubicBezTo>
                  <a:lnTo>
                    <a:pt x="19726" y="157781"/>
                  </a:lnTo>
                  <a:lnTo>
                    <a:pt x="19726" y="39443"/>
                  </a:lnTo>
                  <a:lnTo>
                    <a:pt x="13144" y="39443"/>
                  </a:lnTo>
                  <a:cubicBezTo>
                    <a:pt x="5886" y="39443"/>
                    <a:pt x="0" y="33556"/>
                    <a:pt x="0" y="26298"/>
                  </a:cubicBezTo>
                  <a:lnTo>
                    <a:pt x="0" y="0"/>
                  </a:lnTo>
                  <a:lnTo>
                    <a:pt x="197234" y="0"/>
                  </a:lnTo>
                  <a:lnTo>
                    <a:pt x="197234" y="26298"/>
                  </a:lnTo>
                  <a:cubicBezTo>
                    <a:pt x="197234" y="33556"/>
                    <a:pt x="191347" y="39443"/>
                    <a:pt x="184080" y="39443"/>
                  </a:cubicBezTo>
                  <a:lnTo>
                    <a:pt x="177507" y="39443"/>
                  </a:lnTo>
                  <a:lnTo>
                    <a:pt x="177507" y="157781"/>
                  </a:lnTo>
                  <a:lnTo>
                    <a:pt x="184080" y="157781"/>
                  </a:lnTo>
                  <a:cubicBezTo>
                    <a:pt x="191347" y="157781"/>
                    <a:pt x="197234" y="163668"/>
                    <a:pt x="197234" y="170935"/>
                  </a:cubicBezTo>
                  <a:lnTo>
                    <a:pt x="197234" y="197234"/>
                  </a:lnTo>
                  <a:lnTo>
                    <a:pt x="0" y="197234"/>
                  </a:lnTo>
                </a:path>
              </a:pathLst>
            </a:custGeom>
            <a:solidFill>
              <a:srgbClr val="88A48C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5479271" y="2089675"/>
              <a:ext cx="295846" cy="295846"/>
            </a:xfrm>
            <a:custGeom>
              <a:avLst/>
              <a:gdLst/>
              <a:ahLst/>
              <a:cxnLst/>
              <a:rect l="0" t="0" r="0" b="0"/>
              <a:pathLst>
                <a:path w="295846" h="295846">
                  <a:moveTo>
                    <a:pt x="276120" y="118338"/>
                  </a:moveTo>
                  <a:cubicBezTo>
                    <a:pt x="276120" y="205482"/>
                    <a:pt x="205482" y="276120"/>
                    <a:pt x="118338" y="276120"/>
                  </a:cubicBezTo>
                  <a:lnTo>
                    <a:pt x="39443" y="276120"/>
                  </a:lnTo>
                  <a:lnTo>
                    <a:pt x="39443" y="282702"/>
                  </a:lnTo>
                  <a:cubicBezTo>
                    <a:pt x="39443" y="289960"/>
                    <a:pt x="33556" y="295846"/>
                    <a:pt x="26298" y="295846"/>
                  </a:cubicBezTo>
                  <a:lnTo>
                    <a:pt x="0" y="295846"/>
                  </a:lnTo>
                  <a:lnTo>
                    <a:pt x="0" y="98612"/>
                  </a:lnTo>
                  <a:lnTo>
                    <a:pt x="26298" y="98612"/>
                  </a:lnTo>
                  <a:cubicBezTo>
                    <a:pt x="33556" y="98612"/>
                    <a:pt x="39443" y="104498"/>
                    <a:pt x="39443" y="111766"/>
                  </a:cubicBezTo>
                  <a:lnTo>
                    <a:pt x="39443" y="118338"/>
                  </a:lnTo>
                  <a:lnTo>
                    <a:pt x="92040" y="118338"/>
                  </a:lnTo>
                  <a:cubicBezTo>
                    <a:pt x="106565" y="118338"/>
                    <a:pt x="118338" y="106565"/>
                    <a:pt x="118338" y="92040"/>
                  </a:cubicBezTo>
                  <a:lnTo>
                    <a:pt x="118338" y="39443"/>
                  </a:lnTo>
                  <a:lnTo>
                    <a:pt x="111766" y="39443"/>
                  </a:lnTo>
                  <a:cubicBezTo>
                    <a:pt x="104498" y="39443"/>
                    <a:pt x="98612" y="33556"/>
                    <a:pt x="98612" y="26298"/>
                  </a:cubicBezTo>
                  <a:lnTo>
                    <a:pt x="98612" y="0"/>
                  </a:lnTo>
                  <a:lnTo>
                    <a:pt x="295846" y="0"/>
                  </a:lnTo>
                  <a:lnTo>
                    <a:pt x="295846" y="26298"/>
                  </a:lnTo>
                  <a:cubicBezTo>
                    <a:pt x="295846" y="33556"/>
                    <a:pt x="289960" y="39443"/>
                    <a:pt x="282701" y="39443"/>
                  </a:cubicBezTo>
                  <a:lnTo>
                    <a:pt x="276120" y="39443"/>
                  </a:lnTo>
                  <a:lnTo>
                    <a:pt x="276120" y="118338"/>
                  </a:lnTo>
                </a:path>
              </a:pathLst>
            </a:custGeom>
            <a:solidFill>
              <a:srgbClr val="88A48C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4473383" y="2089675"/>
              <a:ext cx="295846" cy="295846"/>
            </a:xfrm>
            <a:custGeom>
              <a:avLst/>
              <a:gdLst/>
              <a:ahLst/>
              <a:cxnLst/>
              <a:rect l="0" t="0" r="0" b="0"/>
              <a:pathLst>
                <a:path w="295846" h="295846">
                  <a:moveTo>
                    <a:pt x="19726" y="118338"/>
                  </a:moveTo>
                  <a:cubicBezTo>
                    <a:pt x="19726" y="205482"/>
                    <a:pt x="90363" y="276120"/>
                    <a:pt x="177507" y="276120"/>
                  </a:cubicBezTo>
                  <a:lnTo>
                    <a:pt x="256403" y="276120"/>
                  </a:lnTo>
                  <a:lnTo>
                    <a:pt x="256403" y="282702"/>
                  </a:lnTo>
                  <a:cubicBezTo>
                    <a:pt x="256403" y="289960"/>
                    <a:pt x="262289" y="295846"/>
                    <a:pt x="269547" y="295846"/>
                  </a:cubicBezTo>
                  <a:lnTo>
                    <a:pt x="295846" y="295846"/>
                  </a:lnTo>
                  <a:lnTo>
                    <a:pt x="295846" y="98612"/>
                  </a:lnTo>
                  <a:lnTo>
                    <a:pt x="269547" y="98612"/>
                  </a:lnTo>
                  <a:cubicBezTo>
                    <a:pt x="262289" y="98612"/>
                    <a:pt x="256403" y="104498"/>
                    <a:pt x="256403" y="111766"/>
                  </a:cubicBezTo>
                  <a:lnTo>
                    <a:pt x="256403" y="118338"/>
                  </a:lnTo>
                  <a:lnTo>
                    <a:pt x="203806" y="118338"/>
                  </a:lnTo>
                  <a:cubicBezTo>
                    <a:pt x="189280" y="118338"/>
                    <a:pt x="177507" y="106565"/>
                    <a:pt x="177507" y="92040"/>
                  </a:cubicBezTo>
                  <a:lnTo>
                    <a:pt x="177507" y="39443"/>
                  </a:lnTo>
                  <a:lnTo>
                    <a:pt x="184080" y="39443"/>
                  </a:lnTo>
                  <a:cubicBezTo>
                    <a:pt x="191347" y="39443"/>
                    <a:pt x="197234" y="33556"/>
                    <a:pt x="197234" y="26298"/>
                  </a:cubicBezTo>
                  <a:lnTo>
                    <a:pt x="197234" y="0"/>
                  </a:lnTo>
                  <a:lnTo>
                    <a:pt x="0" y="0"/>
                  </a:lnTo>
                  <a:lnTo>
                    <a:pt x="0" y="26298"/>
                  </a:lnTo>
                  <a:cubicBezTo>
                    <a:pt x="0" y="33556"/>
                    <a:pt x="5886" y="39443"/>
                    <a:pt x="13144" y="39443"/>
                  </a:cubicBezTo>
                  <a:lnTo>
                    <a:pt x="19726" y="39443"/>
                  </a:lnTo>
                  <a:lnTo>
                    <a:pt x="19726" y="118338"/>
                  </a:lnTo>
                </a:path>
              </a:pathLst>
            </a:custGeom>
            <a:solidFill>
              <a:srgbClr val="88A48C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4927021" y="2089675"/>
              <a:ext cx="394458" cy="394458"/>
            </a:xfrm>
            <a:custGeom>
              <a:avLst/>
              <a:gdLst/>
              <a:ahLst/>
              <a:cxnLst/>
              <a:rect l="0" t="0" r="0" b="0"/>
              <a:pathLst>
                <a:path w="394458" h="394458">
                  <a:moveTo>
                    <a:pt x="394458" y="197234"/>
                  </a:moveTo>
                  <a:cubicBezTo>
                    <a:pt x="394458" y="306162"/>
                    <a:pt x="306162" y="394458"/>
                    <a:pt x="197234" y="394458"/>
                  </a:cubicBezTo>
                  <a:cubicBezTo>
                    <a:pt x="88296" y="394458"/>
                    <a:pt x="0" y="306162"/>
                    <a:pt x="0" y="197234"/>
                  </a:cubicBezTo>
                  <a:cubicBezTo>
                    <a:pt x="0" y="88306"/>
                    <a:pt x="88296" y="0"/>
                    <a:pt x="197234" y="0"/>
                  </a:cubicBezTo>
                  <a:cubicBezTo>
                    <a:pt x="306162" y="0"/>
                    <a:pt x="394458" y="88306"/>
                    <a:pt x="394458" y="197234"/>
                  </a:cubicBezTo>
                </a:path>
              </a:pathLst>
            </a:custGeom>
            <a:solidFill>
              <a:srgbClr val="88A48C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4473383" y="1892441"/>
            <a:ext cx="1301734" cy="591696"/>
            <a:chOff x="4473383" y="1892441"/>
            <a:chExt cx="1301734" cy="591696"/>
          </a:xfrm>
        </p:grpSpPr>
        <p:sp>
          <p:nvSpPr>
            <p:cNvPr id="16" name="Rounded Rectangle 15"/>
            <p:cNvSpPr/>
            <p:nvPr/>
          </p:nvSpPr>
          <p:spPr>
            <a:xfrm>
              <a:off x="4769232" y="2188290"/>
              <a:ext cx="710036" cy="197232"/>
            </a:xfrm>
            <a:custGeom>
              <a:avLst/>
              <a:gdLst/>
              <a:ahLst/>
              <a:cxnLst/>
              <a:rect l="0" t="0" r="0" b="0"/>
              <a:pathLst>
                <a:path w="710036" h="197232">
                  <a:moveTo>
                    <a:pt x="535839" y="177509"/>
                  </a:moveTo>
                  <a:cubicBezTo>
                    <a:pt x="546394" y="153349"/>
                    <a:pt x="552250" y="126666"/>
                    <a:pt x="552250" y="98616"/>
                  </a:cubicBezTo>
                  <a:cubicBezTo>
                    <a:pt x="552250" y="70565"/>
                    <a:pt x="546394" y="43882"/>
                    <a:pt x="535839" y="19723"/>
                  </a:cubicBezTo>
                  <a:lnTo>
                    <a:pt x="670590" y="19723"/>
                  </a:lnTo>
                  <a:lnTo>
                    <a:pt x="670590" y="13148"/>
                  </a:lnTo>
                  <a:cubicBezTo>
                    <a:pt x="670590" y="5886"/>
                    <a:pt x="676476" y="0"/>
                    <a:pt x="683738" y="0"/>
                  </a:cubicBezTo>
                  <a:lnTo>
                    <a:pt x="710036" y="0"/>
                  </a:lnTo>
                  <a:lnTo>
                    <a:pt x="710036" y="197232"/>
                  </a:lnTo>
                  <a:lnTo>
                    <a:pt x="683738" y="197232"/>
                  </a:lnTo>
                  <a:cubicBezTo>
                    <a:pt x="676476" y="197232"/>
                    <a:pt x="670590" y="191345"/>
                    <a:pt x="670590" y="184083"/>
                  </a:cubicBezTo>
                  <a:lnTo>
                    <a:pt x="670590" y="177509"/>
                  </a:lnTo>
                  <a:lnTo>
                    <a:pt x="535839" y="177509"/>
                  </a:lnTo>
                  <a:close/>
                  <a:moveTo>
                    <a:pt x="174197" y="177509"/>
                  </a:moveTo>
                  <a:lnTo>
                    <a:pt x="39446" y="177509"/>
                  </a:lnTo>
                  <a:lnTo>
                    <a:pt x="39446" y="184083"/>
                  </a:lnTo>
                  <a:cubicBezTo>
                    <a:pt x="39446" y="191345"/>
                    <a:pt x="33559" y="197232"/>
                    <a:pt x="26297" y="197232"/>
                  </a:cubicBezTo>
                  <a:lnTo>
                    <a:pt x="0" y="197232"/>
                  </a:lnTo>
                  <a:lnTo>
                    <a:pt x="0" y="0"/>
                  </a:lnTo>
                  <a:lnTo>
                    <a:pt x="26297" y="0"/>
                  </a:lnTo>
                  <a:cubicBezTo>
                    <a:pt x="33559" y="0"/>
                    <a:pt x="39446" y="5886"/>
                    <a:pt x="39446" y="13148"/>
                  </a:cubicBezTo>
                  <a:lnTo>
                    <a:pt x="39446" y="19723"/>
                  </a:lnTo>
                  <a:lnTo>
                    <a:pt x="174197" y="19723"/>
                  </a:lnTo>
                  <a:cubicBezTo>
                    <a:pt x="163641" y="43882"/>
                    <a:pt x="157785" y="70565"/>
                    <a:pt x="157785" y="98616"/>
                  </a:cubicBezTo>
                  <a:cubicBezTo>
                    <a:pt x="157785" y="126666"/>
                    <a:pt x="163641" y="153349"/>
                    <a:pt x="174197" y="177509"/>
                  </a:cubicBezTo>
                  <a:close/>
                  <a:moveTo>
                    <a:pt x="670590" y="19723"/>
                  </a:moveTo>
                  <a:lnTo>
                    <a:pt x="670590" y="177509"/>
                  </a:lnTo>
                  <a:moveTo>
                    <a:pt x="39446" y="177509"/>
                  </a:moveTo>
                  <a:lnTo>
                    <a:pt x="39446" y="19723"/>
                  </a:lnTo>
                </a:path>
              </a:pathLst>
            </a:custGeom>
            <a:noFill/>
            <a:ln w="9858">
              <a:solidFill>
                <a:srgbClr val="F8F6F0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4473383" y="1892441"/>
              <a:ext cx="197232" cy="197232"/>
            </a:xfrm>
            <a:custGeom>
              <a:avLst/>
              <a:gdLst/>
              <a:ahLst/>
              <a:cxnLst/>
              <a:rect l="0" t="0" r="0" b="0"/>
              <a:pathLst>
                <a:path w="197232" h="197232">
                  <a:moveTo>
                    <a:pt x="0" y="197232"/>
                  </a:moveTo>
                  <a:lnTo>
                    <a:pt x="0" y="170934"/>
                  </a:lnTo>
                  <a:cubicBezTo>
                    <a:pt x="0" y="163672"/>
                    <a:pt x="5886" y="157785"/>
                    <a:pt x="13148" y="157785"/>
                  </a:cubicBezTo>
                  <a:lnTo>
                    <a:pt x="19723" y="157785"/>
                  </a:lnTo>
                  <a:lnTo>
                    <a:pt x="19723" y="39446"/>
                  </a:lnTo>
                  <a:lnTo>
                    <a:pt x="13148" y="39446"/>
                  </a:lnTo>
                  <a:cubicBezTo>
                    <a:pt x="5886" y="39446"/>
                    <a:pt x="0" y="33559"/>
                    <a:pt x="0" y="26297"/>
                  </a:cubicBezTo>
                  <a:lnTo>
                    <a:pt x="0" y="0"/>
                  </a:lnTo>
                  <a:lnTo>
                    <a:pt x="197232" y="0"/>
                  </a:lnTo>
                  <a:lnTo>
                    <a:pt x="197232" y="26297"/>
                  </a:lnTo>
                  <a:cubicBezTo>
                    <a:pt x="197232" y="33559"/>
                    <a:pt x="191345" y="39446"/>
                    <a:pt x="184083" y="39446"/>
                  </a:cubicBezTo>
                  <a:lnTo>
                    <a:pt x="177509" y="39446"/>
                  </a:lnTo>
                  <a:lnTo>
                    <a:pt x="177509" y="157785"/>
                  </a:lnTo>
                  <a:lnTo>
                    <a:pt x="184083" y="157785"/>
                  </a:lnTo>
                  <a:cubicBezTo>
                    <a:pt x="191345" y="157785"/>
                    <a:pt x="197232" y="163672"/>
                    <a:pt x="197232" y="170934"/>
                  </a:cubicBezTo>
                  <a:lnTo>
                    <a:pt x="197232" y="197232"/>
                  </a:lnTo>
                  <a:lnTo>
                    <a:pt x="0" y="197232"/>
                  </a:lnTo>
                  <a:close/>
                  <a:moveTo>
                    <a:pt x="19723" y="157785"/>
                  </a:moveTo>
                  <a:lnTo>
                    <a:pt x="177509" y="157785"/>
                  </a:lnTo>
                  <a:moveTo>
                    <a:pt x="19723" y="39446"/>
                  </a:moveTo>
                  <a:lnTo>
                    <a:pt x="177509" y="39446"/>
                  </a:lnTo>
                </a:path>
              </a:pathLst>
            </a:custGeom>
            <a:noFill/>
            <a:ln w="9858">
              <a:solidFill>
                <a:srgbClr val="F8F6F0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5479269" y="2089673"/>
              <a:ext cx="295848" cy="295848"/>
            </a:xfrm>
            <a:custGeom>
              <a:avLst/>
              <a:gdLst/>
              <a:ahLst/>
              <a:cxnLst/>
              <a:rect l="0" t="0" r="0" b="0"/>
              <a:pathLst>
                <a:path w="295848" h="295848">
                  <a:moveTo>
                    <a:pt x="276125" y="118339"/>
                  </a:moveTo>
                  <a:cubicBezTo>
                    <a:pt x="276125" y="205481"/>
                    <a:pt x="205482" y="276125"/>
                    <a:pt x="118339" y="276125"/>
                  </a:cubicBezTo>
                  <a:lnTo>
                    <a:pt x="39446" y="276125"/>
                  </a:lnTo>
                  <a:lnTo>
                    <a:pt x="39446" y="282699"/>
                  </a:lnTo>
                  <a:cubicBezTo>
                    <a:pt x="39446" y="289961"/>
                    <a:pt x="33559" y="295848"/>
                    <a:pt x="26297" y="295848"/>
                  </a:cubicBezTo>
                  <a:lnTo>
                    <a:pt x="0" y="295848"/>
                  </a:lnTo>
                  <a:lnTo>
                    <a:pt x="0" y="98616"/>
                  </a:lnTo>
                  <a:lnTo>
                    <a:pt x="26297" y="98616"/>
                  </a:lnTo>
                  <a:cubicBezTo>
                    <a:pt x="33559" y="98616"/>
                    <a:pt x="39446" y="104502"/>
                    <a:pt x="39446" y="111765"/>
                  </a:cubicBezTo>
                  <a:lnTo>
                    <a:pt x="39446" y="118339"/>
                  </a:lnTo>
                  <a:lnTo>
                    <a:pt x="92041" y="118339"/>
                  </a:lnTo>
                  <a:cubicBezTo>
                    <a:pt x="106565" y="118339"/>
                    <a:pt x="118339" y="106565"/>
                    <a:pt x="118339" y="92041"/>
                  </a:cubicBezTo>
                  <a:lnTo>
                    <a:pt x="118339" y="39446"/>
                  </a:lnTo>
                  <a:lnTo>
                    <a:pt x="111765" y="39446"/>
                  </a:lnTo>
                  <a:cubicBezTo>
                    <a:pt x="104502" y="39446"/>
                    <a:pt x="98616" y="33559"/>
                    <a:pt x="98616" y="26297"/>
                  </a:cubicBezTo>
                  <a:lnTo>
                    <a:pt x="98616" y="0"/>
                  </a:lnTo>
                  <a:lnTo>
                    <a:pt x="295848" y="0"/>
                  </a:lnTo>
                  <a:lnTo>
                    <a:pt x="295848" y="26297"/>
                  </a:lnTo>
                  <a:cubicBezTo>
                    <a:pt x="295848" y="33559"/>
                    <a:pt x="289961" y="39446"/>
                    <a:pt x="282699" y="39446"/>
                  </a:cubicBezTo>
                  <a:lnTo>
                    <a:pt x="276125" y="39446"/>
                  </a:lnTo>
                  <a:lnTo>
                    <a:pt x="276125" y="118339"/>
                  </a:lnTo>
                  <a:close/>
                  <a:moveTo>
                    <a:pt x="39446" y="276125"/>
                  </a:moveTo>
                  <a:lnTo>
                    <a:pt x="39446" y="118339"/>
                  </a:lnTo>
                  <a:moveTo>
                    <a:pt x="118339" y="39446"/>
                  </a:moveTo>
                  <a:lnTo>
                    <a:pt x="276125" y="39446"/>
                  </a:lnTo>
                </a:path>
              </a:pathLst>
            </a:custGeom>
            <a:noFill/>
            <a:ln w="9858">
              <a:solidFill>
                <a:srgbClr val="F8F6F0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4473383" y="2089673"/>
              <a:ext cx="295848" cy="295848"/>
            </a:xfrm>
            <a:custGeom>
              <a:avLst/>
              <a:gdLst/>
              <a:ahLst/>
              <a:cxnLst/>
              <a:rect l="0" t="0" r="0" b="0"/>
              <a:pathLst>
                <a:path w="295848" h="295848">
                  <a:moveTo>
                    <a:pt x="19723" y="118339"/>
                  </a:moveTo>
                  <a:cubicBezTo>
                    <a:pt x="19723" y="205481"/>
                    <a:pt x="90366" y="276125"/>
                    <a:pt x="177509" y="276125"/>
                  </a:cubicBezTo>
                  <a:lnTo>
                    <a:pt x="256402" y="276125"/>
                  </a:lnTo>
                  <a:lnTo>
                    <a:pt x="256402" y="282699"/>
                  </a:lnTo>
                  <a:cubicBezTo>
                    <a:pt x="256402" y="289961"/>
                    <a:pt x="262288" y="295848"/>
                    <a:pt x="269550" y="295848"/>
                  </a:cubicBezTo>
                  <a:lnTo>
                    <a:pt x="295848" y="295848"/>
                  </a:lnTo>
                  <a:lnTo>
                    <a:pt x="295848" y="98616"/>
                  </a:lnTo>
                  <a:lnTo>
                    <a:pt x="269550" y="98616"/>
                  </a:lnTo>
                  <a:cubicBezTo>
                    <a:pt x="262288" y="98616"/>
                    <a:pt x="256402" y="104502"/>
                    <a:pt x="256402" y="111765"/>
                  </a:cubicBezTo>
                  <a:lnTo>
                    <a:pt x="256402" y="118339"/>
                  </a:lnTo>
                  <a:lnTo>
                    <a:pt x="203806" y="118339"/>
                  </a:lnTo>
                  <a:cubicBezTo>
                    <a:pt x="189283" y="118339"/>
                    <a:pt x="177509" y="106565"/>
                    <a:pt x="177509" y="92041"/>
                  </a:cubicBezTo>
                  <a:lnTo>
                    <a:pt x="177509" y="39446"/>
                  </a:lnTo>
                  <a:lnTo>
                    <a:pt x="184083" y="39446"/>
                  </a:lnTo>
                  <a:cubicBezTo>
                    <a:pt x="191345" y="39446"/>
                    <a:pt x="197232" y="33559"/>
                    <a:pt x="197232" y="26297"/>
                  </a:cubicBezTo>
                  <a:lnTo>
                    <a:pt x="197232" y="0"/>
                  </a:lnTo>
                  <a:lnTo>
                    <a:pt x="0" y="0"/>
                  </a:lnTo>
                  <a:lnTo>
                    <a:pt x="0" y="26297"/>
                  </a:lnTo>
                  <a:cubicBezTo>
                    <a:pt x="0" y="33559"/>
                    <a:pt x="5886" y="39446"/>
                    <a:pt x="13148" y="39446"/>
                  </a:cubicBezTo>
                  <a:lnTo>
                    <a:pt x="19723" y="39446"/>
                  </a:lnTo>
                  <a:close/>
                  <a:moveTo>
                    <a:pt x="256402" y="118339"/>
                  </a:moveTo>
                  <a:lnTo>
                    <a:pt x="256402" y="276125"/>
                  </a:lnTo>
                  <a:moveTo>
                    <a:pt x="177509" y="39446"/>
                  </a:moveTo>
                  <a:lnTo>
                    <a:pt x="19723" y="39446"/>
                  </a:lnTo>
                </a:path>
              </a:pathLst>
            </a:custGeom>
            <a:noFill/>
            <a:ln w="9858">
              <a:solidFill>
                <a:srgbClr val="F8F6F0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4927018" y="2089673"/>
              <a:ext cx="394464" cy="394464"/>
            </a:xfrm>
            <a:custGeom>
              <a:avLst/>
              <a:gdLst/>
              <a:ahLst/>
              <a:cxnLst/>
              <a:rect l="0" t="0" r="0" b="0"/>
              <a:pathLst>
                <a:path w="394464" h="394464">
                  <a:moveTo>
                    <a:pt x="394464" y="197232"/>
                  </a:moveTo>
                  <a:cubicBezTo>
                    <a:pt x="394464" y="306160"/>
                    <a:pt x="306160" y="394464"/>
                    <a:pt x="197232" y="394464"/>
                  </a:cubicBezTo>
                  <a:cubicBezTo>
                    <a:pt x="88304" y="394464"/>
                    <a:pt x="0" y="306160"/>
                    <a:pt x="0" y="197232"/>
                  </a:cubicBezTo>
                  <a:cubicBezTo>
                    <a:pt x="0" y="88304"/>
                    <a:pt x="88304" y="0"/>
                    <a:pt x="197232" y="0"/>
                  </a:cubicBezTo>
                  <a:cubicBezTo>
                    <a:pt x="306160" y="0"/>
                    <a:pt x="394464" y="88304"/>
                    <a:pt x="394464" y="197232"/>
                  </a:cubicBezTo>
                  <a:close/>
                </a:path>
              </a:pathLst>
            </a:custGeom>
            <a:noFill/>
            <a:ln w="9858">
              <a:solidFill>
                <a:srgbClr val="F8F6F0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3368882" y="1300743"/>
            <a:ext cx="1301734" cy="788927"/>
            <a:chOff x="3368882" y="1300743"/>
            <a:chExt cx="1301734" cy="788927"/>
          </a:xfrm>
        </p:grpSpPr>
        <p:sp>
          <p:nvSpPr>
            <p:cNvPr id="22" name="Rounded Rectangle 21"/>
            <p:cNvSpPr/>
            <p:nvPr/>
          </p:nvSpPr>
          <p:spPr>
            <a:xfrm>
              <a:off x="3664728" y="1399356"/>
              <a:ext cx="710041" cy="197234"/>
            </a:xfrm>
            <a:custGeom>
              <a:avLst/>
              <a:gdLst/>
              <a:ahLst/>
              <a:cxnLst/>
              <a:rect l="0" t="0" r="0" b="0"/>
              <a:pathLst>
                <a:path w="710041" h="197234">
                  <a:moveTo>
                    <a:pt x="535838" y="177517"/>
                  </a:moveTo>
                  <a:cubicBezTo>
                    <a:pt x="546401" y="153352"/>
                    <a:pt x="552249" y="126672"/>
                    <a:pt x="552249" y="98621"/>
                  </a:cubicBezTo>
                  <a:cubicBezTo>
                    <a:pt x="552249" y="70570"/>
                    <a:pt x="546401" y="43891"/>
                    <a:pt x="535838" y="19726"/>
                  </a:cubicBezTo>
                  <a:lnTo>
                    <a:pt x="670588" y="19726"/>
                  </a:lnTo>
                  <a:lnTo>
                    <a:pt x="670588" y="13154"/>
                  </a:lnTo>
                  <a:cubicBezTo>
                    <a:pt x="670588" y="5886"/>
                    <a:pt x="676475" y="0"/>
                    <a:pt x="683742" y="0"/>
                  </a:cubicBezTo>
                  <a:lnTo>
                    <a:pt x="710041" y="0"/>
                  </a:lnTo>
                  <a:lnTo>
                    <a:pt x="710041" y="197234"/>
                  </a:lnTo>
                  <a:lnTo>
                    <a:pt x="683742" y="197234"/>
                  </a:lnTo>
                  <a:cubicBezTo>
                    <a:pt x="676475" y="197234"/>
                    <a:pt x="670588" y="191347"/>
                    <a:pt x="670588" y="184089"/>
                  </a:cubicBezTo>
                  <a:lnTo>
                    <a:pt x="670588" y="177517"/>
                  </a:lnTo>
                  <a:lnTo>
                    <a:pt x="535838" y="177517"/>
                  </a:lnTo>
                  <a:moveTo>
                    <a:pt x="174202" y="177517"/>
                  </a:moveTo>
                  <a:lnTo>
                    <a:pt x="39452" y="177517"/>
                  </a:lnTo>
                  <a:lnTo>
                    <a:pt x="39452" y="184089"/>
                  </a:lnTo>
                  <a:cubicBezTo>
                    <a:pt x="39452" y="191347"/>
                    <a:pt x="33566" y="197234"/>
                    <a:pt x="26298" y="197234"/>
                  </a:cubicBezTo>
                  <a:lnTo>
                    <a:pt x="0" y="197234"/>
                  </a:lnTo>
                  <a:lnTo>
                    <a:pt x="0" y="0"/>
                  </a:lnTo>
                  <a:lnTo>
                    <a:pt x="26298" y="0"/>
                  </a:lnTo>
                  <a:cubicBezTo>
                    <a:pt x="33566" y="0"/>
                    <a:pt x="39452" y="5886"/>
                    <a:pt x="39452" y="13154"/>
                  </a:cubicBezTo>
                  <a:lnTo>
                    <a:pt x="39452" y="19726"/>
                  </a:lnTo>
                  <a:lnTo>
                    <a:pt x="174202" y="19726"/>
                  </a:lnTo>
                  <a:cubicBezTo>
                    <a:pt x="163639" y="43891"/>
                    <a:pt x="157791" y="70570"/>
                    <a:pt x="157791" y="98621"/>
                  </a:cubicBezTo>
                  <a:cubicBezTo>
                    <a:pt x="157791" y="126672"/>
                    <a:pt x="163639" y="153352"/>
                    <a:pt x="174202" y="177517"/>
                  </a:cubicBezTo>
                </a:path>
              </a:pathLst>
            </a:custGeom>
            <a:solidFill>
              <a:srgbClr val="4C87C0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4473382" y="1695212"/>
              <a:ext cx="197234" cy="197224"/>
            </a:xfrm>
            <a:custGeom>
              <a:avLst/>
              <a:gdLst/>
              <a:ahLst/>
              <a:cxnLst/>
              <a:rect l="0" t="0" r="0" b="0"/>
              <a:pathLst>
                <a:path w="197234" h="197224">
                  <a:moveTo>
                    <a:pt x="0" y="197224"/>
                  </a:moveTo>
                  <a:lnTo>
                    <a:pt x="0" y="170935"/>
                  </a:lnTo>
                  <a:cubicBezTo>
                    <a:pt x="0" y="163668"/>
                    <a:pt x="5886" y="157781"/>
                    <a:pt x="13154" y="157781"/>
                  </a:cubicBezTo>
                  <a:lnTo>
                    <a:pt x="19726" y="157781"/>
                  </a:lnTo>
                  <a:lnTo>
                    <a:pt x="19726" y="39443"/>
                  </a:lnTo>
                  <a:lnTo>
                    <a:pt x="13154" y="39443"/>
                  </a:lnTo>
                  <a:cubicBezTo>
                    <a:pt x="5886" y="39443"/>
                    <a:pt x="0" y="33556"/>
                    <a:pt x="0" y="26298"/>
                  </a:cubicBezTo>
                  <a:lnTo>
                    <a:pt x="0" y="0"/>
                  </a:lnTo>
                  <a:lnTo>
                    <a:pt x="197234" y="0"/>
                  </a:lnTo>
                  <a:lnTo>
                    <a:pt x="197234" y="26298"/>
                  </a:lnTo>
                  <a:cubicBezTo>
                    <a:pt x="197234" y="33556"/>
                    <a:pt x="191347" y="39443"/>
                    <a:pt x="184089" y="39443"/>
                  </a:cubicBezTo>
                  <a:lnTo>
                    <a:pt x="177507" y="39443"/>
                  </a:lnTo>
                  <a:lnTo>
                    <a:pt x="177507" y="157781"/>
                  </a:lnTo>
                  <a:lnTo>
                    <a:pt x="184089" y="157781"/>
                  </a:lnTo>
                  <a:cubicBezTo>
                    <a:pt x="191347" y="157781"/>
                    <a:pt x="197234" y="163668"/>
                    <a:pt x="197234" y="170935"/>
                  </a:cubicBezTo>
                  <a:lnTo>
                    <a:pt x="197234" y="197224"/>
                  </a:lnTo>
                  <a:lnTo>
                    <a:pt x="0" y="197224"/>
                  </a:lnTo>
                </a:path>
              </a:pathLst>
            </a:custGeom>
            <a:solidFill>
              <a:srgbClr val="4C87C0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3368882" y="1695212"/>
              <a:ext cx="197234" cy="394458"/>
            </a:xfrm>
            <a:custGeom>
              <a:avLst/>
              <a:gdLst/>
              <a:ahLst/>
              <a:cxnLst/>
              <a:rect l="0" t="0" r="0" b="0"/>
              <a:pathLst>
                <a:path w="197234" h="394458">
                  <a:moveTo>
                    <a:pt x="0" y="394458"/>
                  </a:moveTo>
                  <a:lnTo>
                    <a:pt x="0" y="368160"/>
                  </a:lnTo>
                  <a:cubicBezTo>
                    <a:pt x="0" y="360902"/>
                    <a:pt x="5886" y="355015"/>
                    <a:pt x="13144" y="355015"/>
                  </a:cubicBezTo>
                  <a:lnTo>
                    <a:pt x="19726" y="355015"/>
                  </a:lnTo>
                  <a:lnTo>
                    <a:pt x="19726" y="39443"/>
                  </a:lnTo>
                  <a:lnTo>
                    <a:pt x="13144" y="39443"/>
                  </a:lnTo>
                  <a:cubicBezTo>
                    <a:pt x="5886" y="39443"/>
                    <a:pt x="0" y="33556"/>
                    <a:pt x="0" y="26298"/>
                  </a:cubicBezTo>
                  <a:lnTo>
                    <a:pt x="0" y="0"/>
                  </a:lnTo>
                  <a:lnTo>
                    <a:pt x="197234" y="0"/>
                  </a:lnTo>
                  <a:lnTo>
                    <a:pt x="197234" y="26298"/>
                  </a:lnTo>
                  <a:cubicBezTo>
                    <a:pt x="197234" y="33556"/>
                    <a:pt x="191347" y="39443"/>
                    <a:pt x="184080" y="39443"/>
                  </a:cubicBezTo>
                  <a:lnTo>
                    <a:pt x="177507" y="39443"/>
                  </a:lnTo>
                  <a:lnTo>
                    <a:pt x="177507" y="355015"/>
                  </a:lnTo>
                  <a:lnTo>
                    <a:pt x="184080" y="355015"/>
                  </a:lnTo>
                  <a:cubicBezTo>
                    <a:pt x="191347" y="355015"/>
                    <a:pt x="197234" y="360902"/>
                    <a:pt x="197234" y="368160"/>
                  </a:cubicBezTo>
                  <a:lnTo>
                    <a:pt x="197234" y="394458"/>
                  </a:lnTo>
                  <a:lnTo>
                    <a:pt x="0" y="394458"/>
                  </a:lnTo>
                </a:path>
              </a:pathLst>
            </a:custGeom>
            <a:solidFill>
              <a:srgbClr val="4C87C0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4374770" y="1399356"/>
              <a:ext cx="295846" cy="295856"/>
            </a:xfrm>
            <a:custGeom>
              <a:avLst/>
              <a:gdLst/>
              <a:ahLst/>
              <a:cxnLst/>
              <a:rect l="0" t="0" r="0" b="0"/>
              <a:pathLst>
                <a:path w="295846" h="295856">
                  <a:moveTo>
                    <a:pt x="276120" y="177517"/>
                  </a:moveTo>
                  <a:cubicBezTo>
                    <a:pt x="276120" y="90373"/>
                    <a:pt x="205482" y="19726"/>
                    <a:pt x="118338" y="19726"/>
                  </a:cubicBezTo>
                  <a:lnTo>
                    <a:pt x="39443" y="19726"/>
                  </a:lnTo>
                  <a:lnTo>
                    <a:pt x="39443" y="13154"/>
                  </a:lnTo>
                  <a:cubicBezTo>
                    <a:pt x="39443" y="5886"/>
                    <a:pt x="33556" y="0"/>
                    <a:pt x="26298" y="0"/>
                  </a:cubicBezTo>
                  <a:lnTo>
                    <a:pt x="0" y="0"/>
                  </a:lnTo>
                  <a:lnTo>
                    <a:pt x="0" y="197234"/>
                  </a:lnTo>
                  <a:lnTo>
                    <a:pt x="26298" y="197234"/>
                  </a:lnTo>
                  <a:cubicBezTo>
                    <a:pt x="33556" y="197234"/>
                    <a:pt x="39443" y="191347"/>
                    <a:pt x="39443" y="184089"/>
                  </a:cubicBezTo>
                  <a:lnTo>
                    <a:pt x="39443" y="177517"/>
                  </a:lnTo>
                  <a:lnTo>
                    <a:pt x="92040" y="177517"/>
                  </a:lnTo>
                  <a:cubicBezTo>
                    <a:pt x="106565" y="177517"/>
                    <a:pt x="118338" y="189290"/>
                    <a:pt x="118338" y="203806"/>
                  </a:cubicBezTo>
                  <a:lnTo>
                    <a:pt x="118338" y="256403"/>
                  </a:lnTo>
                  <a:lnTo>
                    <a:pt x="111766" y="256403"/>
                  </a:lnTo>
                  <a:cubicBezTo>
                    <a:pt x="104498" y="256403"/>
                    <a:pt x="98612" y="262289"/>
                    <a:pt x="98612" y="269557"/>
                  </a:cubicBezTo>
                  <a:lnTo>
                    <a:pt x="98612" y="295856"/>
                  </a:lnTo>
                  <a:lnTo>
                    <a:pt x="295846" y="295856"/>
                  </a:lnTo>
                  <a:lnTo>
                    <a:pt x="295846" y="269557"/>
                  </a:lnTo>
                  <a:cubicBezTo>
                    <a:pt x="295846" y="262289"/>
                    <a:pt x="289960" y="256403"/>
                    <a:pt x="282701" y="256403"/>
                  </a:cubicBezTo>
                  <a:lnTo>
                    <a:pt x="276120" y="256403"/>
                  </a:lnTo>
                  <a:lnTo>
                    <a:pt x="276120" y="177517"/>
                  </a:lnTo>
                </a:path>
              </a:pathLst>
            </a:custGeom>
            <a:solidFill>
              <a:srgbClr val="4C87C0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3368882" y="1399356"/>
              <a:ext cx="295846" cy="295856"/>
            </a:xfrm>
            <a:custGeom>
              <a:avLst/>
              <a:gdLst/>
              <a:ahLst/>
              <a:cxnLst/>
              <a:rect l="0" t="0" r="0" b="0"/>
              <a:pathLst>
                <a:path w="295846" h="295856">
                  <a:moveTo>
                    <a:pt x="19726" y="177517"/>
                  </a:moveTo>
                  <a:cubicBezTo>
                    <a:pt x="19726" y="90373"/>
                    <a:pt x="90363" y="19726"/>
                    <a:pt x="177507" y="19726"/>
                  </a:cubicBezTo>
                  <a:lnTo>
                    <a:pt x="256403" y="19726"/>
                  </a:lnTo>
                  <a:lnTo>
                    <a:pt x="256403" y="13154"/>
                  </a:lnTo>
                  <a:cubicBezTo>
                    <a:pt x="256403" y="5886"/>
                    <a:pt x="262289" y="0"/>
                    <a:pt x="269547" y="0"/>
                  </a:cubicBezTo>
                  <a:lnTo>
                    <a:pt x="295846" y="0"/>
                  </a:lnTo>
                  <a:lnTo>
                    <a:pt x="295846" y="197234"/>
                  </a:lnTo>
                  <a:lnTo>
                    <a:pt x="269547" y="197234"/>
                  </a:lnTo>
                  <a:cubicBezTo>
                    <a:pt x="262289" y="197234"/>
                    <a:pt x="256403" y="191347"/>
                    <a:pt x="256403" y="184089"/>
                  </a:cubicBezTo>
                  <a:lnTo>
                    <a:pt x="256403" y="177517"/>
                  </a:lnTo>
                  <a:lnTo>
                    <a:pt x="203806" y="177517"/>
                  </a:lnTo>
                  <a:cubicBezTo>
                    <a:pt x="189280" y="177517"/>
                    <a:pt x="177507" y="189290"/>
                    <a:pt x="177507" y="203806"/>
                  </a:cubicBezTo>
                  <a:lnTo>
                    <a:pt x="177507" y="256403"/>
                  </a:lnTo>
                  <a:lnTo>
                    <a:pt x="184080" y="256403"/>
                  </a:lnTo>
                  <a:cubicBezTo>
                    <a:pt x="191347" y="256403"/>
                    <a:pt x="197234" y="262289"/>
                    <a:pt x="197234" y="269557"/>
                  </a:cubicBezTo>
                  <a:lnTo>
                    <a:pt x="197234" y="295856"/>
                  </a:lnTo>
                  <a:lnTo>
                    <a:pt x="0" y="295856"/>
                  </a:lnTo>
                  <a:lnTo>
                    <a:pt x="0" y="269557"/>
                  </a:lnTo>
                  <a:cubicBezTo>
                    <a:pt x="0" y="262289"/>
                    <a:pt x="5886" y="256403"/>
                    <a:pt x="13144" y="256403"/>
                  </a:cubicBezTo>
                  <a:lnTo>
                    <a:pt x="19726" y="256403"/>
                  </a:lnTo>
                  <a:lnTo>
                    <a:pt x="19726" y="177517"/>
                  </a:lnTo>
                </a:path>
              </a:pathLst>
            </a:custGeom>
            <a:solidFill>
              <a:srgbClr val="4C87C0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3822520" y="1300743"/>
              <a:ext cx="394458" cy="394468"/>
            </a:xfrm>
            <a:custGeom>
              <a:avLst/>
              <a:gdLst/>
              <a:ahLst/>
              <a:cxnLst/>
              <a:rect l="0" t="0" r="0" b="0"/>
              <a:pathLst>
                <a:path w="394458" h="394468">
                  <a:moveTo>
                    <a:pt x="394458" y="197234"/>
                  </a:moveTo>
                  <a:cubicBezTo>
                    <a:pt x="394458" y="306162"/>
                    <a:pt x="306162" y="394468"/>
                    <a:pt x="197224" y="394468"/>
                  </a:cubicBezTo>
                  <a:cubicBezTo>
                    <a:pt x="88296" y="394468"/>
                    <a:pt x="0" y="306162"/>
                    <a:pt x="0" y="197234"/>
                  </a:cubicBezTo>
                  <a:cubicBezTo>
                    <a:pt x="0" y="88306"/>
                    <a:pt x="88296" y="0"/>
                    <a:pt x="197224" y="0"/>
                  </a:cubicBezTo>
                  <a:cubicBezTo>
                    <a:pt x="306162" y="0"/>
                    <a:pt x="394458" y="88306"/>
                    <a:pt x="394458" y="197234"/>
                  </a:cubicBezTo>
                </a:path>
              </a:pathLst>
            </a:custGeom>
            <a:solidFill>
              <a:srgbClr val="4C87C0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3368882" y="1300743"/>
            <a:ext cx="1301733" cy="788929"/>
            <a:chOff x="3368882" y="1300743"/>
            <a:chExt cx="1301733" cy="788929"/>
          </a:xfrm>
        </p:grpSpPr>
        <p:sp>
          <p:nvSpPr>
            <p:cNvPr id="29" name="Rounded Rectangle 28"/>
            <p:cNvSpPr/>
            <p:nvPr/>
          </p:nvSpPr>
          <p:spPr>
            <a:xfrm>
              <a:off x="3664731" y="1399360"/>
              <a:ext cx="710036" cy="197232"/>
            </a:xfrm>
            <a:custGeom>
              <a:avLst/>
              <a:gdLst/>
              <a:ahLst/>
              <a:cxnLst/>
              <a:rect l="0" t="0" r="0" b="0"/>
              <a:pathLst>
                <a:path w="710036" h="197232">
                  <a:moveTo>
                    <a:pt x="535839" y="177509"/>
                  </a:moveTo>
                  <a:cubicBezTo>
                    <a:pt x="546394" y="153349"/>
                    <a:pt x="552250" y="126666"/>
                    <a:pt x="552250" y="98616"/>
                  </a:cubicBezTo>
                  <a:cubicBezTo>
                    <a:pt x="552250" y="70565"/>
                    <a:pt x="546394" y="43882"/>
                    <a:pt x="535839" y="19723"/>
                  </a:cubicBezTo>
                  <a:lnTo>
                    <a:pt x="670590" y="19723"/>
                  </a:lnTo>
                  <a:lnTo>
                    <a:pt x="670590" y="13148"/>
                  </a:lnTo>
                  <a:cubicBezTo>
                    <a:pt x="670590" y="5886"/>
                    <a:pt x="676476" y="0"/>
                    <a:pt x="683738" y="0"/>
                  </a:cubicBezTo>
                  <a:lnTo>
                    <a:pt x="710036" y="0"/>
                  </a:lnTo>
                  <a:lnTo>
                    <a:pt x="710036" y="197232"/>
                  </a:lnTo>
                  <a:lnTo>
                    <a:pt x="683738" y="197232"/>
                  </a:lnTo>
                  <a:cubicBezTo>
                    <a:pt x="676476" y="197232"/>
                    <a:pt x="670590" y="191345"/>
                    <a:pt x="670590" y="184083"/>
                  </a:cubicBezTo>
                  <a:lnTo>
                    <a:pt x="670590" y="177509"/>
                  </a:lnTo>
                  <a:lnTo>
                    <a:pt x="535839" y="177509"/>
                  </a:lnTo>
                  <a:close/>
                  <a:moveTo>
                    <a:pt x="174197" y="177509"/>
                  </a:moveTo>
                  <a:lnTo>
                    <a:pt x="39446" y="177509"/>
                  </a:lnTo>
                  <a:lnTo>
                    <a:pt x="39446" y="184083"/>
                  </a:lnTo>
                  <a:cubicBezTo>
                    <a:pt x="39446" y="191345"/>
                    <a:pt x="33559" y="197232"/>
                    <a:pt x="26297" y="197232"/>
                  </a:cubicBezTo>
                  <a:lnTo>
                    <a:pt x="0" y="197232"/>
                  </a:lnTo>
                  <a:lnTo>
                    <a:pt x="0" y="0"/>
                  </a:lnTo>
                  <a:lnTo>
                    <a:pt x="26297" y="0"/>
                  </a:lnTo>
                  <a:cubicBezTo>
                    <a:pt x="33559" y="0"/>
                    <a:pt x="39446" y="5886"/>
                    <a:pt x="39446" y="13148"/>
                  </a:cubicBezTo>
                  <a:lnTo>
                    <a:pt x="39446" y="19723"/>
                  </a:lnTo>
                  <a:lnTo>
                    <a:pt x="174197" y="19723"/>
                  </a:lnTo>
                  <a:cubicBezTo>
                    <a:pt x="163641" y="43882"/>
                    <a:pt x="157785" y="70565"/>
                    <a:pt x="157785" y="98616"/>
                  </a:cubicBezTo>
                  <a:cubicBezTo>
                    <a:pt x="157785" y="126666"/>
                    <a:pt x="163641" y="153349"/>
                    <a:pt x="174197" y="177509"/>
                  </a:cubicBezTo>
                  <a:close/>
                  <a:moveTo>
                    <a:pt x="670590" y="19723"/>
                  </a:moveTo>
                  <a:lnTo>
                    <a:pt x="670590" y="177509"/>
                  </a:lnTo>
                  <a:moveTo>
                    <a:pt x="39446" y="177509"/>
                  </a:moveTo>
                  <a:lnTo>
                    <a:pt x="39446" y="19723"/>
                  </a:lnTo>
                </a:path>
              </a:pathLst>
            </a:custGeom>
            <a:noFill/>
            <a:ln w="9858">
              <a:solidFill>
                <a:srgbClr val="F8F6F0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4473383" y="1695208"/>
              <a:ext cx="197232" cy="197232"/>
            </a:xfrm>
            <a:custGeom>
              <a:avLst/>
              <a:gdLst/>
              <a:ahLst/>
              <a:cxnLst/>
              <a:rect l="0" t="0" r="0" b="0"/>
              <a:pathLst>
                <a:path w="197232" h="197232">
                  <a:moveTo>
                    <a:pt x="0" y="197232"/>
                  </a:moveTo>
                  <a:lnTo>
                    <a:pt x="0" y="170934"/>
                  </a:lnTo>
                  <a:cubicBezTo>
                    <a:pt x="0" y="163672"/>
                    <a:pt x="5886" y="157785"/>
                    <a:pt x="13148" y="157785"/>
                  </a:cubicBezTo>
                  <a:lnTo>
                    <a:pt x="19723" y="157785"/>
                  </a:lnTo>
                  <a:lnTo>
                    <a:pt x="19723" y="39446"/>
                  </a:lnTo>
                  <a:lnTo>
                    <a:pt x="13148" y="39446"/>
                  </a:lnTo>
                  <a:cubicBezTo>
                    <a:pt x="5886" y="39446"/>
                    <a:pt x="0" y="33559"/>
                    <a:pt x="0" y="26297"/>
                  </a:cubicBezTo>
                  <a:lnTo>
                    <a:pt x="0" y="0"/>
                  </a:lnTo>
                  <a:lnTo>
                    <a:pt x="197232" y="0"/>
                  </a:lnTo>
                  <a:lnTo>
                    <a:pt x="197232" y="26297"/>
                  </a:lnTo>
                  <a:cubicBezTo>
                    <a:pt x="197232" y="33559"/>
                    <a:pt x="191345" y="39446"/>
                    <a:pt x="184083" y="39446"/>
                  </a:cubicBezTo>
                  <a:lnTo>
                    <a:pt x="177509" y="39446"/>
                  </a:lnTo>
                  <a:lnTo>
                    <a:pt x="177509" y="157785"/>
                  </a:lnTo>
                  <a:lnTo>
                    <a:pt x="184083" y="157785"/>
                  </a:lnTo>
                  <a:cubicBezTo>
                    <a:pt x="191345" y="157785"/>
                    <a:pt x="197232" y="163672"/>
                    <a:pt x="197232" y="170934"/>
                  </a:cubicBezTo>
                  <a:lnTo>
                    <a:pt x="197232" y="197232"/>
                  </a:lnTo>
                  <a:lnTo>
                    <a:pt x="0" y="197232"/>
                  </a:lnTo>
                  <a:close/>
                  <a:moveTo>
                    <a:pt x="19723" y="157785"/>
                  </a:moveTo>
                  <a:lnTo>
                    <a:pt x="177509" y="157785"/>
                  </a:lnTo>
                  <a:moveTo>
                    <a:pt x="19723" y="39446"/>
                  </a:moveTo>
                  <a:lnTo>
                    <a:pt x="177509" y="39446"/>
                  </a:lnTo>
                </a:path>
              </a:pathLst>
            </a:custGeom>
            <a:noFill/>
            <a:ln w="9858">
              <a:solidFill>
                <a:srgbClr val="F8F6F0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3368882" y="1695208"/>
              <a:ext cx="197232" cy="394464"/>
            </a:xfrm>
            <a:custGeom>
              <a:avLst/>
              <a:gdLst/>
              <a:ahLst/>
              <a:cxnLst/>
              <a:rect l="0" t="0" r="0" b="0"/>
              <a:pathLst>
                <a:path w="197232" h="394464">
                  <a:moveTo>
                    <a:pt x="0" y="394464"/>
                  </a:moveTo>
                  <a:lnTo>
                    <a:pt x="0" y="368167"/>
                  </a:lnTo>
                  <a:cubicBezTo>
                    <a:pt x="0" y="360905"/>
                    <a:pt x="5886" y="355018"/>
                    <a:pt x="13148" y="355018"/>
                  </a:cubicBezTo>
                  <a:lnTo>
                    <a:pt x="19723" y="355018"/>
                  </a:lnTo>
                  <a:lnTo>
                    <a:pt x="19723" y="39446"/>
                  </a:lnTo>
                  <a:lnTo>
                    <a:pt x="13148" y="39446"/>
                  </a:lnTo>
                  <a:cubicBezTo>
                    <a:pt x="5886" y="39446"/>
                    <a:pt x="0" y="33559"/>
                    <a:pt x="0" y="26297"/>
                  </a:cubicBezTo>
                  <a:lnTo>
                    <a:pt x="0" y="0"/>
                  </a:lnTo>
                  <a:lnTo>
                    <a:pt x="197232" y="0"/>
                  </a:lnTo>
                  <a:lnTo>
                    <a:pt x="197232" y="26297"/>
                  </a:lnTo>
                  <a:cubicBezTo>
                    <a:pt x="197232" y="33559"/>
                    <a:pt x="191345" y="39446"/>
                    <a:pt x="184083" y="39446"/>
                  </a:cubicBezTo>
                  <a:lnTo>
                    <a:pt x="177509" y="39446"/>
                  </a:lnTo>
                  <a:lnTo>
                    <a:pt x="177509" y="355018"/>
                  </a:lnTo>
                  <a:lnTo>
                    <a:pt x="184083" y="355018"/>
                  </a:lnTo>
                  <a:cubicBezTo>
                    <a:pt x="191345" y="355018"/>
                    <a:pt x="197232" y="360905"/>
                    <a:pt x="197232" y="368167"/>
                  </a:cubicBezTo>
                  <a:lnTo>
                    <a:pt x="197232" y="394464"/>
                  </a:lnTo>
                  <a:lnTo>
                    <a:pt x="0" y="394464"/>
                  </a:lnTo>
                  <a:close/>
                  <a:moveTo>
                    <a:pt x="19723" y="355018"/>
                  </a:moveTo>
                  <a:lnTo>
                    <a:pt x="177509" y="355018"/>
                  </a:lnTo>
                  <a:moveTo>
                    <a:pt x="19723" y="39446"/>
                  </a:moveTo>
                  <a:lnTo>
                    <a:pt x="177509" y="39446"/>
                  </a:lnTo>
                </a:path>
              </a:pathLst>
            </a:custGeom>
            <a:noFill/>
            <a:ln w="9858">
              <a:solidFill>
                <a:srgbClr val="F8F6F0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4374767" y="1399360"/>
              <a:ext cx="295848" cy="295848"/>
            </a:xfrm>
            <a:custGeom>
              <a:avLst/>
              <a:gdLst/>
              <a:ahLst/>
              <a:cxnLst/>
              <a:rect l="0" t="0" r="0" b="0"/>
              <a:pathLst>
                <a:path w="295848" h="295848">
                  <a:moveTo>
                    <a:pt x="276125" y="177509"/>
                  </a:moveTo>
                  <a:cubicBezTo>
                    <a:pt x="276125" y="90366"/>
                    <a:pt x="205482" y="19723"/>
                    <a:pt x="118339" y="19723"/>
                  </a:cubicBezTo>
                  <a:lnTo>
                    <a:pt x="39446" y="19723"/>
                  </a:lnTo>
                  <a:lnTo>
                    <a:pt x="39446" y="13148"/>
                  </a:lnTo>
                  <a:cubicBezTo>
                    <a:pt x="39446" y="5886"/>
                    <a:pt x="33559" y="0"/>
                    <a:pt x="26297" y="0"/>
                  </a:cubicBezTo>
                  <a:lnTo>
                    <a:pt x="0" y="0"/>
                  </a:lnTo>
                  <a:lnTo>
                    <a:pt x="0" y="197232"/>
                  </a:lnTo>
                  <a:lnTo>
                    <a:pt x="26297" y="197232"/>
                  </a:lnTo>
                  <a:cubicBezTo>
                    <a:pt x="33559" y="197232"/>
                    <a:pt x="39446" y="191345"/>
                    <a:pt x="39446" y="184083"/>
                  </a:cubicBezTo>
                  <a:lnTo>
                    <a:pt x="39446" y="177509"/>
                  </a:lnTo>
                  <a:lnTo>
                    <a:pt x="92041" y="177509"/>
                  </a:lnTo>
                  <a:cubicBezTo>
                    <a:pt x="106565" y="177509"/>
                    <a:pt x="118339" y="189283"/>
                    <a:pt x="118339" y="203806"/>
                  </a:cubicBezTo>
                  <a:lnTo>
                    <a:pt x="118339" y="256402"/>
                  </a:lnTo>
                  <a:lnTo>
                    <a:pt x="111765" y="256402"/>
                  </a:lnTo>
                  <a:cubicBezTo>
                    <a:pt x="104502" y="256402"/>
                    <a:pt x="98616" y="262288"/>
                    <a:pt x="98616" y="269550"/>
                  </a:cubicBezTo>
                  <a:lnTo>
                    <a:pt x="98616" y="295848"/>
                  </a:lnTo>
                  <a:lnTo>
                    <a:pt x="295848" y="295848"/>
                  </a:lnTo>
                  <a:lnTo>
                    <a:pt x="295848" y="269550"/>
                  </a:lnTo>
                  <a:cubicBezTo>
                    <a:pt x="295848" y="262288"/>
                    <a:pt x="289961" y="256402"/>
                    <a:pt x="282699" y="256402"/>
                  </a:cubicBezTo>
                  <a:lnTo>
                    <a:pt x="276125" y="256402"/>
                  </a:lnTo>
                  <a:close/>
                  <a:moveTo>
                    <a:pt x="39446" y="177509"/>
                  </a:moveTo>
                  <a:lnTo>
                    <a:pt x="39446" y="19723"/>
                  </a:lnTo>
                  <a:moveTo>
                    <a:pt x="276125" y="256402"/>
                  </a:moveTo>
                  <a:lnTo>
                    <a:pt x="118339" y="256402"/>
                  </a:lnTo>
                </a:path>
              </a:pathLst>
            </a:custGeom>
            <a:noFill/>
            <a:ln w="9858">
              <a:solidFill>
                <a:srgbClr val="F8F6F0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3368882" y="1399360"/>
              <a:ext cx="295848" cy="295848"/>
            </a:xfrm>
            <a:custGeom>
              <a:avLst/>
              <a:gdLst/>
              <a:ahLst/>
              <a:cxnLst/>
              <a:rect l="0" t="0" r="0" b="0"/>
              <a:pathLst>
                <a:path w="295848" h="295848">
                  <a:moveTo>
                    <a:pt x="19723" y="177509"/>
                  </a:moveTo>
                  <a:cubicBezTo>
                    <a:pt x="19723" y="90366"/>
                    <a:pt x="90366" y="19723"/>
                    <a:pt x="177509" y="19723"/>
                  </a:cubicBezTo>
                  <a:lnTo>
                    <a:pt x="256402" y="19723"/>
                  </a:lnTo>
                  <a:lnTo>
                    <a:pt x="256402" y="13148"/>
                  </a:lnTo>
                  <a:cubicBezTo>
                    <a:pt x="256402" y="5886"/>
                    <a:pt x="262288" y="0"/>
                    <a:pt x="269550" y="0"/>
                  </a:cubicBezTo>
                  <a:lnTo>
                    <a:pt x="295848" y="0"/>
                  </a:lnTo>
                  <a:lnTo>
                    <a:pt x="295848" y="197232"/>
                  </a:lnTo>
                  <a:lnTo>
                    <a:pt x="269550" y="197232"/>
                  </a:lnTo>
                  <a:cubicBezTo>
                    <a:pt x="262288" y="197232"/>
                    <a:pt x="256402" y="191345"/>
                    <a:pt x="256402" y="184083"/>
                  </a:cubicBezTo>
                  <a:lnTo>
                    <a:pt x="256402" y="177509"/>
                  </a:lnTo>
                  <a:lnTo>
                    <a:pt x="203806" y="177509"/>
                  </a:lnTo>
                  <a:cubicBezTo>
                    <a:pt x="189283" y="177509"/>
                    <a:pt x="177509" y="189283"/>
                    <a:pt x="177509" y="203806"/>
                  </a:cubicBezTo>
                  <a:lnTo>
                    <a:pt x="177509" y="256402"/>
                  </a:lnTo>
                  <a:lnTo>
                    <a:pt x="184083" y="256402"/>
                  </a:lnTo>
                  <a:cubicBezTo>
                    <a:pt x="191345" y="256402"/>
                    <a:pt x="197232" y="262288"/>
                    <a:pt x="197232" y="269550"/>
                  </a:cubicBezTo>
                  <a:lnTo>
                    <a:pt x="197232" y="295848"/>
                  </a:lnTo>
                  <a:lnTo>
                    <a:pt x="0" y="295848"/>
                  </a:lnTo>
                  <a:lnTo>
                    <a:pt x="0" y="269550"/>
                  </a:lnTo>
                  <a:cubicBezTo>
                    <a:pt x="0" y="262288"/>
                    <a:pt x="5886" y="256402"/>
                    <a:pt x="13148" y="256402"/>
                  </a:cubicBezTo>
                  <a:lnTo>
                    <a:pt x="19723" y="256402"/>
                  </a:lnTo>
                  <a:close/>
                  <a:moveTo>
                    <a:pt x="256402" y="19723"/>
                  </a:moveTo>
                  <a:lnTo>
                    <a:pt x="256402" y="177509"/>
                  </a:lnTo>
                  <a:moveTo>
                    <a:pt x="19723" y="256402"/>
                  </a:moveTo>
                  <a:lnTo>
                    <a:pt x="177509" y="256402"/>
                  </a:lnTo>
                </a:path>
              </a:pathLst>
            </a:custGeom>
            <a:noFill/>
            <a:ln w="9858">
              <a:solidFill>
                <a:srgbClr val="F8F6F0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Rounded Rectangle 33"/>
            <p:cNvSpPr/>
            <p:nvPr/>
          </p:nvSpPr>
          <p:spPr>
            <a:xfrm>
              <a:off x="3822516" y="1300743"/>
              <a:ext cx="394464" cy="394464"/>
            </a:xfrm>
            <a:custGeom>
              <a:avLst/>
              <a:gdLst/>
              <a:ahLst/>
              <a:cxnLst/>
              <a:rect l="0" t="0" r="0" b="0"/>
              <a:pathLst>
                <a:path w="394464" h="394464">
                  <a:moveTo>
                    <a:pt x="394464" y="197232"/>
                  </a:moveTo>
                  <a:cubicBezTo>
                    <a:pt x="394464" y="306160"/>
                    <a:pt x="306160" y="394464"/>
                    <a:pt x="197232" y="394464"/>
                  </a:cubicBezTo>
                  <a:cubicBezTo>
                    <a:pt x="88304" y="394464"/>
                    <a:pt x="0" y="306160"/>
                    <a:pt x="0" y="197232"/>
                  </a:cubicBezTo>
                  <a:cubicBezTo>
                    <a:pt x="0" y="88304"/>
                    <a:pt x="88304" y="0"/>
                    <a:pt x="197232" y="0"/>
                  </a:cubicBezTo>
                  <a:cubicBezTo>
                    <a:pt x="306160" y="0"/>
                    <a:pt x="394464" y="88304"/>
                    <a:pt x="394464" y="197232"/>
                  </a:cubicBezTo>
                  <a:close/>
                </a:path>
              </a:pathLst>
            </a:custGeom>
            <a:noFill/>
            <a:ln w="9858">
              <a:solidFill>
                <a:srgbClr val="F8F6F0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2560229" y="2089673"/>
            <a:ext cx="1005888" cy="788926"/>
            <a:chOff x="2560229" y="2089673"/>
            <a:chExt cx="1005888" cy="788926"/>
          </a:xfrm>
        </p:grpSpPr>
        <p:sp>
          <p:nvSpPr>
            <p:cNvPr id="36" name="Rounded Rectangle 35"/>
            <p:cNvSpPr/>
            <p:nvPr/>
          </p:nvSpPr>
          <p:spPr>
            <a:xfrm>
              <a:off x="3368883" y="2089673"/>
              <a:ext cx="197234" cy="394468"/>
            </a:xfrm>
            <a:custGeom>
              <a:avLst/>
              <a:gdLst/>
              <a:ahLst/>
              <a:cxnLst/>
              <a:rect l="0" t="0" r="0" b="0"/>
              <a:pathLst>
                <a:path w="197234" h="394468">
                  <a:moveTo>
                    <a:pt x="0" y="394468"/>
                  </a:moveTo>
                  <a:lnTo>
                    <a:pt x="0" y="368169"/>
                  </a:lnTo>
                  <a:cubicBezTo>
                    <a:pt x="0" y="360902"/>
                    <a:pt x="5886" y="355015"/>
                    <a:pt x="13144" y="355015"/>
                  </a:cubicBezTo>
                  <a:lnTo>
                    <a:pt x="19726" y="355015"/>
                  </a:lnTo>
                  <a:lnTo>
                    <a:pt x="19726" y="39443"/>
                  </a:lnTo>
                  <a:lnTo>
                    <a:pt x="13144" y="39443"/>
                  </a:lnTo>
                  <a:cubicBezTo>
                    <a:pt x="5886" y="39443"/>
                    <a:pt x="0" y="33556"/>
                    <a:pt x="0" y="26298"/>
                  </a:cubicBezTo>
                  <a:lnTo>
                    <a:pt x="0" y="0"/>
                  </a:lnTo>
                  <a:lnTo>
                    <a:pt x="197234" y="0"/>
                  </a:lnTo>
                  <a:lnTo>
                    <a:pt x="197234" y="26298"/>
                  </a:lnTo>
                  <a:cubicBezTo>
                    <a:pt x="197234" y="33556"/>
                    <a:pt x="191347" y="39443"/>
                    <a:pt x="184080" y="39443"/>
                  </a:cubicBezTo>
                  <a:lnTo>
                    <a:pt x="177507" y="39443"/>
                  </a:lnTo>
                  <a:lnTo>
                    <a:pt x="177507" y="355015"/>
                  </a:lnTo>
                  <a:lnTo>
                    <a:pt x="184080" y="355015"/>
                  </a:lnTo>
                  <a:cubicBezTo>
                    <a:pt x="191347" y="355015"/>
                    <a:pt x="197234" y="360902"/>
                    <a:pt x="197234" y="368169"/>
                  </a:cubicBezTo>
                  <a:lnTo>
                    <a:pt x="197234" y="394468"/>
                  </a:lnTo>
                  <a:lnTo>
                    <a:pt x="0" y="394468"/>
                  </a:lnTo>
                </a:path>
              </a:pathLst>
            </a:custGeom>
            <a:solidFill>
              <a:srgbClr val="2F6FD6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2560229" y="2582754"/>
              <a:ext cx="710041" cy="197234"/>
            </a:xfrm>
            <a:custGeom>
              <a:avLst/>
              <a:gdLst/>
              <a:ahLst/>
              <a:cxnLst/>
              <a:rect l="0" t="0" r="0" b="0"/>
              <a:pathLst>
                <a:path w="710041" h="197234">
                  <a:moveTo>
                    <a:pt x="535838" y="177507"/>
                  </a:moveTo>
                  <a:cubicBezTo>
                    <a:pt x="546392" y="153352"/>
                    <a:pt x="552249" y="126663"/>
                    <a:pt x="552249" y="98612"/>
                  </a:cubicBezTo>
                  <a:cubicBezTo>
                    <a:pt x="552249" y="70570"/>
                    <a:pt x="546392" y="43881"/>
                    <a:pt x="535838" y="19726"/>
                  </a:cubicBezTo>
                  <a:lnTo>
                    <a:pt x="670588" y="19726"/>
                  </a:lnTo>
                  <a:lnTo>
                    <a:pt x="670588" y="13144"/>
                  </a:lnTo>
                  <a:cubicBezTo>
                    <a:pt x="670588" y="5886"/>
                    <a:pt x="676475" y="0"/>
                    <a:pt x="683742" y="0"/>
                  </a:cubicBezTo>
                  <a:lnTo>
                    <a:pt x="710041" y="0"/>
                  </a:lnTo>
                  <a:lnTo>
                    <a:pt x="710041" y="197234"/>
                  </a:lnTo>
                  <a:lnTo>
                    <a:pt x="683742" y="197234"/>
                  </a:lnTo>
                  <a:cubicBezTo>
                    <a:pt x="676475" y="197234"/>
                    <a:pt x="670588" y="191347"/>
                    <a:pt x="670588" y="184080"/>
                  </a:cubicBezTo>
                  <a:lnTo>
                    <a:pt x="670588" y="177507"/>
                  </a:lnTo>
                  <a:lnTo>
                    <a:pt x="535838" y="177507"/>
                  </a:lnTo>
                  <a:moveTo>
                    <a:pt x="174193" y="177507"/>
                  </a:moveTo>
                  <a:lnTo>
                    <a:pt x="39443" y="177507"/>
                  </a:lnTo>
                  <a:lnTo>
                    <a:pt x="39443" y="184080"/>
                  </a:lnTo>
                  <a:cubicBezTo>
                    <a:pt x="39443" y="191347"/>
                    <a:pt x="33556" y="197234"/>
                    <a:pt x="26298" y="197234"/>
                  </a:cubicBezTo>
                  <a:lnTo>
                    <a:pt x="0" y="197234"/>
                  </a:lnTo>
                  <a:lnTo>
                    <a:pt x="0" y="0"/>
                  </a:lnTo>
                  <a:lnTo>
                    <a:pt x="26298" y="0"/>
                  </a:lnTo>
                  <a:cubicBezTo>
                    <a:pt x="33556" y="0"/>
                    <a:pt x="39443" y="5886"/>
                    <a:pt x="39443" y="13144"/>
                  </a:cubicBezTo>
                  <a:lnTo>
                    <a:pt x="39443" y="19726"/>
                  </a:lnTo>
                  <a:lnTo>
                    <a:pt x="174193" y="19726"/>
                  </a:lnTo>
                  <a:cubicBezTo>
                    <a:pt x="163639" y="43881"/>
                    <a:pt x="157781" y="70570"/>
                    <a:pt x="157781" y="98612"/>
                  </a:cubicBezTo>
                  <a:cubicBezTo>
                    <a:pt x="157781" y="126663"/>
                    <a:pt x="163639" y="153352"/>
                    <a:pt x="174193" y="177507"/>
                  </a:cubicBezTo>
                </a:path>
              </a:pathLst>
            </a:custGeom>
            <a:solidFill>
              <a:srgbClr val="2F6FD6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" name="Rounded Rectangle 37"/>
            <p:cNvSpPr/>
            <p:nvPr/>
          </p:nvSpPr>
          <p:spPr>
            <a:xfrm>
              <a:off x="3270270" y="2484141"/>
              <a:ext cx="295846" cy="295846"/>
            </a:xfrm>
            <a:custGeom>
              <a:avLst/>
              <a:gdLst/>
              <a:ahLst/>
              <a:cxnLst/>
              <a:rect l="0" t="0" r="0" b="0"/>
              <a:pathLst>
                <a:path w="295846" h="295846">
                  <a:moveTo>
                    <a:pt x="276120" y="118338"/>
                  </a:moveTo>
                  <a:cubicBezTo>
                    <a:pt x="276120" y="205482"/>
                    <a:pt x="205473" y="276120"/>
                    <a:pt x="118338" y="276120"/>
                  </a:cubicBezTo>
                  <a:lnTo>
                    <a:pt x="39443" y="276120"/>
                  </a:lnTo>
                  <a:lnTo>
                    <a:pt x="39443" y="282692"/>
                  </a:lnTo>
                  <a:cubicBezTo>
                    <a:pt x="39443" y="289960"/>
                    <a:pt x="33556" y="295846"/>
                    <a:pt x="26288" y="295846"/>
                  </a:cubicBezTo>
                  <a:lnTo>
                    <a:pt x="0" y="295846"/>
                  </a:lnTo>
                  <a:lnTo>
                    <a:pt x="0" y="98612"/>
                  </a:lnTo>
                  <a:lnTo>
                    <a:pt x="26288" y="98612"/>
                  </a:lnTo>
                  <a:cubicBezTo>
                    <a:pt x="33556" y="98612"/>
                    <a:pt x="39443" y="104498"/>
                    <a:pt x="39443" y="111756"/>
                  </a:cubicBezTo>
                  <a:lnTo>
                    <a:pt x="39443" y="118338"/>
                  </a:lnTo>
                  <a:lnTo>
                    <a:pt x="92040" y="118338"/>
                  </a:lnTo>
                  <a:cubicBezTo>
                    <a:pt x="106556" y="118338"/>
                    <a:pt x="118338" y="106565"/>
                    <a:pt x="118338" y="92040"/>
                  </a:cubicBezTo>
                  <a:lnTo>
                    <a:pt x="118338" y="39443"/>
                  </a:lnTo>
                  <a:lnTo>
                    <a:pt x="111756" y="39443"/>
                  </a:lnTo>
                  <a:cubicBezTo>
                    <a:pt x="104498" y="39443"/>
                    <a:pt x="98612" y="33556"/>
                    <a:pt x="98612" y="26298"/>
                  </a:cubicBezTo>
                  <a:lnTo>
                    <a:pt x="98612" y="0"/>
                  </a:lnTo>
                  <a:lnTo>
                    <a:pt x="295846" y="0"/>
                  </a:lnTo>
                  <a:lnTo>
                    <a:pt x="295846" y="26298"/>
                  </a:lnTo>
                  <a:cubicBezTo>
                    <a:pt x="295846" y="33556"/>
                    <a:pt x="289960" y="39443"/>
                    <a:pt x="282692" y="39443"/>
                  </a:cubicBezTo>
                  <a:lnTo>
                    <a:pt x="276120" y="39443"/>
                  </a:lnTo>
                  <a:lnTo>
                    <a:pt x="276120" y="118338"/>
                  </a:lnTo>
                </a:path>
              </a:pathLst>
            </a:custGeom>
            <a:solidFill>
              <a:srgbClr val="2F6FD6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2718011" y="2484141"/>
              <a:ext cx="394468" cy="394458"/>
            </a:xfrm>
            <a:custGeom>
              <a:avLst/>
              <a:gdLst/>
              <a:ahLst/>
              <a:cxnLst/>
              <a:rect l="0" t="0" r="0" b="0"/>
              <a:pathLst>
                <a:path w="394468" h="394458">
                  <a:moveTo>
                    <a:pt x="394468" y="197224"/>
                  </a:moveTo>
                  <a:cubicBezTo>
                    <a:pt x="394468" y="306152"/>
                    <a:pt x="306162" y="394458"/>
                    <a:pt x="197234" y="394458"/>
                  </a:cubicBezTo>
                  <a:cubicBezTo>
                    <a:pt x="88306" y="394458"/>
                    <a:pt x="0" y="306152"/>
                    <a:pt x="0" y="197224"/>
                  </a:cubicBezTo>
                  <a:cubicBezTo>
                    <a:pt x="0" y="88296"/>
                    <a:pt x="88306" y="0"/>
                    <a:pt x="197234" y="0"/>
                  </a:cubicBezTo>
                  <a:cubicBezTo>
                    <a:pt x="306162" y="0"/>
                    <a:pt x="394468" y="88296"/>
                    <a:pt x="394468" y="197224"/>
                  </a:cubicBezTo>
                </a:path>
              </a:pathLst>
            </a:custGeom>
            <a:solidFill>
              <a:srgbClr val="2F6FD6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2560229" y="2089673"/>
            <a:ext cx="1005885" cy="788929"/>
            <a:chOff x="2560229" y="2089673"/>
            <a:chExt cx="1005885" cy="788929"/>
          </a:xfrm>
        </p:grpSpPr>
        <p:sp>
          <p:nvSpPr>
            <p:cNvPr id="41" name="Rounded Rectangle 40"/>
            <p:cNvSpPr/>
            <p:nvPr/>
          </p:nvSpPr>
          <p:spPr>
            <a:xfrm>
              <a:off x="3368882" y="2089673"/>
              <a:ext cx="197232" cy="394464"/>
            </a:xfrm>
            <a:custGeom>
              <a:avLst/>
              <a:gdLst/>
              <a:ahLst/>
              <a:cxnLst/>
              <a:rect l="0" t="0" r="0" b="0"/>
              <a:pathLst>
                <a:path w="197232" h="394464">
                  <a:moveTo>
                    <a:pt x="0" y="394464"/>
                  </a:moveTo>
                  <a:lnTo>
                    <a:pt x="0" y="368167"/>
                  </a:lnTo>
                  <a:cubicBezTo>
                    <a:pt x="0" y="360905"/>
                    <a:pt x="5886" y="355018"/>
                    <a:pt x="13148" y="355018"/>
                  </a:cubicBezTo>
                  <a:lnTo>
                    <a:pt x="19723" y="355018"/>
                  </a:lnTo>
                  <a:lnTo>
                    <a:pt x="19723" y="39446"/>
                  </a:lnTo>
                  <a:lnTo>
                    <a:pt x="13148" y="39446"/>
                  </a:lnTo>
                  <a:cubicBezTo>
                    <a:pt x="5886" y="39446"/>
                    <a:pt x="0" y="33559"/>
                    <a:pt x="0" y="26297"/>
                  </a:cubicBezTo>
                  <a:lnTo>
                    <a:pt x="0" y="0"/>
                  </a:lnTo>
                  <a:lnTo>
                    <a:pt x="197232" y="0"/>
                  </a:lnTo>
                  <a:lnTo>
                    <a:pt x="197232" y="26297"/>
                  </a:lnTo>
                  <a:cubicBezTo>
                    <a:pt x="197232" y="33559"/>
                    <a:pt x="191345" y="39446"/>
                    <a:pt x="184083" y="39446"/>
                  </a:cubicBezTo>
                  <a:lnTo>
                    <a:pt x="177509" y="39446"/>
                  </a:lnTo>
                  <a:lnTo>
                    <a:pt x="177509" y="355018"/>
                  </a:lnTo>
                  <a:lnTo>
                    <a:pt x="184083" y="355018"/>
                  </a:lnTo>
                  <a:cubicBezTo>
                    <a:pt x="191345" y="355018"/>
                    <a:pt x="197232" y="360905"/>
                    <a:pt x="197232" y="368167"/>
                  </a:cubicBezTo>
                  <a:lnTo>
                    <a:pt x="197232" y="394464"/>
                  </a:lnTo>
                  <a:lnTo>
                    <a:pt x="0" y="394464"/>
                  </a:lnTo>
                  <a:close/>
                  <a:moveTo>
                    <a:pt x="19723" y="355018"/>
                  </a:moveTo>
                  <a:lnTo>
                    <a:pt x="177509" y="355018"/>
                  </a:lnTo>
                  <a:moveTo>
                    <a:pt x="19723" y="39446"/>
                  </a:moveTo>
                  <a:lnTo>
                    <a:pt x="177509" y="39446"/>
                  </a:lnTo>
                </a:path>
              </a:pathLst>
            </a:custGeom>
            <a:noFill/>
            <a:ln w="9858">
              <a:solidFill>
                <a:srgbClr val="F8F6F0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2" name="Rounded Rectangle 41"/>
            <p:cNvSpPr/>
            <p:nvPr/>
          </p:nvSpPr>
          <p:spPr>
            <a:xfrm>
              <a:off x="2560229" y="2582754"/>
              <a:ext cx="710036" cy="197232"/>
            </a:xfrm>
            <a:custGeom>
              <a:avLst/>
              <a:gdLst/>
              <a:ahLst/>
              <a:cxnLst/>
              <a:rect l="0" t="0" r="0" b="0"/>
              <a:pathLst>
                <a:path w="710036" h="197232">
                  <a:moveTo>
                    <a:pt x="535838" y="177509"/>
                  </a:moveTo>
                  <a:cubicBezTo>
                    <a:pt x="546394" y="153349"/>
                    <a:pt x="552250" y="126666"/>
                    <a:pt x="552250" y="98616"/>
                  </a:cubicBezTo>
                  <a:cubicBezTo>
                    <a:pt x="552250" y="70565"/>
                    <a:pt x="546394" y="43882"/>
                    <a:pt x="535838" y="19723"/>
                  </a:cubicBezTo>
                  <a:lnTo>
                    <a:pt x="670590" y="19723"/>
                  </a:lnTo>
                  <a:lnTo>
                    <a:pt x="670590" y="13148"/>
                  </a:lnTo>
                  <a:cubicBezTo>
                    <a:pt x="670590" y="5886"/>
                    <a:pt x="676476" y="0"/>
                    <a:pt x="683738" y="0"/>
                  </a:cubicBezTo>
                  <a:lnTo>
                    <a:pt x="710036" y="0"/>
                  </a:lnTo>
                  <a:lnTo>
                    <a:pt x="710036" y="197232"/>
                  </a:lnTo>
                  <a:lnTo>
                    <a:pt x="683738" y="197232"/>
                  </a:lnTo>
                  <a:cubicBezTo>
                    <a:pt x="676476" y="197232"/>
                    <a:pt x="670590" y="191345"/>
                    <a:pt x="670590" y="184083"/>
                  </a:cubicBezTo>
                  <a:lnTo>
                    <a:pt x="670590" y="177509"/>
                  </a:lnTo>
                  <a:lnTo>
                    <a:pt x="535838" y="177509"/>
                  </a:lnTo>
                  <a:close/>
                  <a:moveTo>
                    <a:pt x="174197" y="177509"/>
                  </a:moveTo>
                  <a:lnTo>
                    <a:pt x="39446" y="177509"/>
                  </a:lnTo>
                  <a:lnTo>
                    <a:pt x="39446" y="184083"/>
                  </a:lnTo>
                  <a:cubicBezTo>
                    <a:pt x="39446" y="191345"/>
                    <a:pt x="33559" y="197232"/>
                    <a:pt x="26297" y="197232"/>
                  </a:cubicBezTo>
                  <a:lnTo>
                    <a:pt x="0" y="197232"/>
                  </a:lnTo>
                  <a:lnTo>
                    <a:pt x="0" y="0"/>
                  </a:lnTo>
                  <a:lnTo>
                    <a:pt x="26297" y="0"/>
                  </a:lnTo>
                  <a:cubicBezTo>
                    <a:pt x="33559" y="0"/>
                    <a:pt x="39446" y="5886"/>
                    <a:pt x="39446" y="13148"/>
                  </a:cubicBezTo>
                  <a:lnTo>
                    <a:pt x="39446" y="19723"/>
                  </a:lnTo>
                  <a:lnTo>
                    <a:pt x="174197" y="19723"/>
                  </a:lnTo>
                  <a:cubicBezTo>
                    <a:pt x="163641" y="43882"/>
                    <a:pt x="157785" y="70565"/>
                    <a:pt x="157785" y="98616"/>
                  </a:cubicBezTo>
                  <a:cubicBezTo>
                    <a:pt x="157785" y="126666"/>
                    <a:pt x="163641" y="153349"/>
                    <a:pt x="174197" y="177509"/>
                  </a:cubicBezTo>
                  <a:close/>
                  <a:moveTo>
                    <a:pt x="670590" y="19723"/>
                  </a:moveTo>
                  <a:lnTo>
                    <a:pt x="670590" y="177509"/>
                  </a:lnTo>
                  <a:moveTo>
                    <a:pt x="39446" y="177509"/>
                  </a:moveTo>
                  <a:lnTo>
                    <a:pt x="39446" y="19723"/>
                  </a:lnTo>
                </a:path>
              </a:pathLst>
            </a:custGeom>
            <a:noFill/>
            <a:ln w="9858">
              <a:solidFill>
                <a:srgbClr val="F8F6F0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3270266" y="2484138"/>
              <a:ext cx="295848" cy="295848"/>
            </a:xfrm>
            <a:custGeom>
              <a:avLst/>
              <a:gdLst/>
              <a:ahLst/>
              <a:cxnLst/>
              <a:rect l="0" t="0" r="0" b="0"/>
              <a:pathLst>
                <a:path w="295848" h="295848">
                  <a:moveTo>
                    <a:pt x="276125" y="118339"/>
                  </a:moveTo>
                  <a:cubicBezTo>
                    <a:pt x="276125" y="205481"/>
                    <a:pt x="205482" y="276125"/>
                    <a:pt x="118339" y="276125"/>
                  </a:cubicBezTo>
                  <a:lnTo>
                    <a:pt x="39446" y="276125"/>
                  </a:lnTo>
                  <a:lnTo>
                    <a:pt x="39446" y="282699"/>
                  </a:lnTo>
                  <a:cubicBezTo>
                    <a:pt x="39446" y="289961"/>
                    <a:pt x="33559" y="295848"/>
                    <a:pt x="26297" y="295848"/>
                  </a:cubicBezTo>
                  <a:lnTo>
                    <a:pt x="0" y="295848"/>
                  </a:lnTo>
                  <a:lnTo>
                    <a:pt x="0" y="98616"/>
                  </a:lnTo>
                  <a:lnTo>
                    <a:pt x="26297" y="98616"/>
                  </a:lnTo>
                  <a:cubicBezTo>
                    <a:pt x="33559" y="98616"/>
                    <a:pt x="39446" y="104502"/>
                    <a:pt x="39446" y="111765"/>
                  </a:cubicBezTo>
                  <a:lnTo>
                    <a:pt x="39446" y="118339"/>
                  </a:lnTo>
                  <a:lnTo>
                    <a:pt x="92041" y="118339"/>
                  </a:lnTo>
                  <a:cubicBezTo>
                    <a:pt x="106565" y="118339"/>
                    <a:pt x="118339" y="106565"/>
                    <a:pt x="118339" y="92041"/>
                  </a:cubicBezTo>
                  <a:lnTo>
                    <a:pt x="118339" y="39446"/>
                  </a:lnTo>
                  <a:lnTo>
                    <a:pt x="111765" y="39446"/>
                  </a:lnTo>
                  <a:cubicBezTo>
                    <a:pt x="104502" y="39446"/>
                    <a:pt x="98616" y="33559"/>
                    <a:pt x="98616" y="26297"/>
                  </a:cubicBezTo>
                  <a:lnTo>
                    <a:pt x="98616" y="0"/>
                  </a:lnTo>
                  <a:lnTo>
                    <a:pt x="295848" y="0"/>
                  </a:lnTo>
                  <a:lnTo>
                    <a:pt x="295848" y="26297"/>
                  </a:lnTo>
                  <a:cubicBezTo>
                    <a:pt x="295848" y="33559"/>
                    <a:pt x="289961" y="39446"/>
                    <a:pt x="282699" y="39446"/>
                  </a:cubicBezTo>
                  <a:lnTo>
                    <a:pt x="276125" y="39446"/>
                  </a:lnTo>
                  <a:lnTo>
                    <a:pt x="276125" y="118339"/>
                  </a:lnTo>
                  <a:close/>
                  <a:moveTo>
                    <a:pt x="39446" y="276125"/>
                  </a:moveTo>
                  <a:lnTo>
                    <a:pt x="39446" y="118339"/>
                  </a:lnTo>
                  <a:moveTo>
                    <a:pt x="118339" y="39446"/>
                  </a:moveTo>
                  <a:lnTo>
                    <a:pt x="276125" y="39446"/>
                  </a:lnTo>
                </a:path>
              </a:pathLst>
            </a:custGeom>
            <a:noFill/>
            <a:ln w="9858">
              <a:solidFill>
                <a:srgbClr val="F8F6F0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" name="Rounded Rectangle 43"/>
            <p:cNvSpPr/>
            <p:nvPr/>
          </p:nvSpPr>
          <p:spPr>
            <a:xfrm>
              <a:off x="2718015" y="2484138"/>
              <a:ext cx="394464" cy="394464"/>
            </a:xfrm>
            <a:custGeom>
              <a:avLst/>
              <a:gdLst/>
              <a:ahLst/>
              <a:cxnLst/>
              <a:rect l="0" t="0" r="0" b="0"/>
              <a:pathLst>
                <a:path w="394464" h="394464">
                  <a:moveTo>
                    <a:pt x="394464" y="197232"/>
                  </a:moveTo>
                  <a:cubicBezTo>
                    <a:pt x="394464" y="306160"/>
                    <a:pt x="306160" y="394464"/>
                    <a:pt x="197232" y="394464"/>
                  </a:cubicBezTo>
                  <a:cubicBezTo>
                    <a:pt x="88304" y="394464"/>
                    <a:pt x="0" y="306160"/>
                    <a:pt x="0" y="197232"/>
                  </a:cubicBezTo>
                  <a:cubicBezTo>
                    <a:pt x="0" y="88304"/>
                    <a:pt x="88304" y="0"/>
                    <a:pt x="197232" y="0"/>
                  </a:cubicBezTo>
                  <a:cubicBezTo>
                    <a:pt x="306160" y="0"/>
                    <a:pt x="394464" y="88304"/>
                    <a:pt x="394464" y="197232"/>
                  </a:cubicBezTo>
                  <a:close/>
                </a:path>
              </a:pathLst>
            </a:custGeom>
            <a:noFill/>
            <a:ln w="9858">
              <a:solidFill>
                <a:srgbClr val="F8F6F0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46" name="Rounded Rectangle 45"/>
          <p:cNvSpPr/>
          <p:nvPr/>
        </p:nvSpPr>
        <p:spPr>
          <a:xfrm>
            <a:off x="6117848" y="1780944"/>
            <a:ext cx="222500" cy="222991"/>
          </a:xfrm>
          <a:custGeom>
            <a:avLst/>
            <a:gdLst/>
            <a:ahLst/>
            <a:cxnLst/>
            <a:rect l="0" t="0" r="0" b="0"/>
            <a:pathLst>
              <a:path w="222500" h="222991">
                <a:moveTo>
                  <a:pt x="213158" y="128092"/>
                </a:moveTo>
                <a:cubicBezTo>
                  <a:pt x="217897" y="128092"/>
                  <a:pt x="221738" y="124251"/>
                  <a:pt x="221738" y="119512"/>
                </a:cubicBezTo>
                <a:lnTo>
                  <a:pt x="221738" y="102363"/>
                </a:lnTo>
                <a:cubicBezTo>
                  <a:pt x="221741" y="100087"/>
                  <a:pt x="220838" y="97903"/>
                  <a:pt x="219228" y="96294"/>
                </a:cubicBezTo>
                <a:cubicBezTo>
                  <a:pt x="217618" y="94684"/>
                  <a:pt x="215435" y="93781"/>
                  <a:pt x="213158" y="93783"/>
                </a:cubicBezTo>
                <a:lnTo>
                  <a:pt x="205693" y="93783"/>
                </a:lnTo>
                <a:cubicBezTo>
                  <a:pt x="203285" y="80202"/>
                  <a:pt x="197977" y="67299"/>
                  <a:pt x="190132" y="55954"/>
                </a:cubicBezTo>
                <a:lnTo>
                  <a:pt x="195378" y="50708"/>
                </a:lnTo>
                <a:cubicBezTo>
                  <a:pt x="198719" y="47359"/>
                  <a:pt x="198719" y="41937"/>
                  <a:pt x="195378" y="38588"/>
                </a:cubicBezTo>
                <a:lnTo>
                  <a:pt x="183248" y="26458"/>
                </a:lnTo>
                <a:cubicBezTo>
                  <a:pt x="181641" y="24848"/>
                  <a:pt x="179459" y="23943"/>
                  <a:pt x="177183" y="23943"/>
                </a:cubicBezTo>
                <a:cubicBezTo>
                  <a:pt x="174908" y="23943"/>
                  <a:pt x="172726" y="24848"/>
                  <a:pt x="171118" y="26458"/>
                </a:cubicBezTo>
                <a:lnTo>
                  <a:pt x="165902" y="31675"/>
                </a:lnTo>
                <a:cubicBezTo>
                  <a:pt x="154574" y="23773"/>
                  <a:pt x="141673" y="18411"/>
                  <a:pt x="128082" y="15956"/>
                </a:cubicBezTo>
                <a:lnTo>
                  <a:pt x="128082" y="8579"/>
                </a:lnTo>
                <a:cubicBezTo>
                  <a:pt x="128082" y="3841"/>
                  <a:pt x="124241" y="0"/>
                  <a:pt x="119503" y="0"/>
                </a:cubicBezTo>
                <a:lnTo>
                  <a:pt x="102353" y="0"/>
                </a:lnTo>
                <a:cubicBezTo>
                  <a:pt x="97617" y="5"/>
                  <a:pt x="93779" y="3843"/>
                  <a:pt x="93774" y="8579"/>
                </a:cubicBezTo>
                <a:lnTo>
                  <a:pt x="93774" y="15926"/>
                </a:lnTo>
                <a:cubicBezTo>
                  <a:pt x="80166" y="18335"/>
                  <a:pt x="67240" y="23660"/>
                  <a:pt x="55885" y="31537"/>
                </a:cubicBezTo>
                <a:lnTo>
                  <a:pt x="50747" y="26369"/>
                </a:lnTo>
                <a:cubicBezTo>
                  <a:pt x="49140" y="24759"/>
                  <a:pt x="46958" y="23854"/>
                  <a:pt x="44683" y="23854"/>
                </a:cubicBezTo>
                <a:cubicBezTo>
                  <a:pt x="42407" y="23854"/>
                  <a:pt x="40225" y="24759"/>
                  <a:pt x="38618" y="26369"/>
                </a:cubicBezTo>
                <a:lnTo>
                  <a:pt x="26448" y="38519"/>
                </a:lnTo>
                <a:cubicBezTo>
                  <a:pt x="23107" y="41868"/>
                  <a:pt x="23107" y="47290"/>
                  <a:pt x="26448" y="50639"/>
                </a:cubicBezTo>
                <a:lnTo>
                  <a:pt x="31606" y="55806"/>
                </a:lnTo>
                <a:cubicBezTo>
                  <a:pt x="23713" y="67152"/>
                  <a:pt x="18368" y="80070"/>
                  <a:pt x="15936" y="93675"/>
                </a:cubicBezTo>
                <a:lnTo>
                  <a:pt x="8569" y="93675"/>
                </a:lnTo>
                <a:cubicBezTo>
                  <a:pt x="3835" y="93680"/>
                  <a:pt x="0" y="97520"/>
                  <a:pt x="0" y="102255"/>
                </a:cubicBezTo>
                <a:lnTo>
                  <a:pt x="0" y="119384"/>
                </a:lnTo>
                <a:cubicBezTo>
                  <a:pt x="0" y="124119"/>
                  <a:pt x="3835" y="127958"/>
                  <a:pt x="8569" y="127964"/>
                </a:cubicBezTo>
                <a:lnTo>
                  <a:pt x="15936" y="127964"/>
                </a:lnTo>
                <a:cubicBezTo>
                  <a:pt x="18367" y="141557"/>
                  <a:pt x="23706" y="154464"/>
                  <a:pt x="31586" y="165803"/>
                </a:cubicBezTo>
                <a:lnTo>
                  <a:pt x="26360" y="171030"/>
                </a:lnTo>
                <a:cubicBezTo>
                  <a:pt x="23017" y="174382"/>
                  <a:pt x="23017" y="179807"/>
                  <a:pt x="26360" y="183159"/>
                </a:cubicBezTo>
                <a:lnTo>
                  <a:pt x="38489" y="195289"/>
                </a:lnTo>
                <a:cubicBezTo>
                  <a:pt x="40097" y="196899"/>
                  <a:pt x="42279" y="197804"/>
                  <a:pt x="44554" y="197804"/>
                </a:cubicBezTo>
                <a:cubicBezTo>
                  <a:pt x="46830" y="197804"/>
                  <a:pt x="49012" y="196899"/>
                  <a:pt x="50619" y="195289"/>
                </a:cubicBezTo>
                <a:lnTo>
                  <a:pt x="55856" y="190053"/>
                </a:lnTo>
                <a:cubicBezTo>
                  <a:pt x="59408" y="192525"/>
                  <a:pt x="63124" y="194753"/>
                  <a:pt x="66980" y="196719"/>
                </a:cubicBezTo>
                <a:moveTo>
                  <a:pt x="77857" y="172637"/>
                </a:moveTo>
                <a:cubicBezTo>
                  <a:pt x="52414" y="158800"/>
                  <a:pt x="38314" y="130552"/>
                  <a:pt x="42549" y="101901"/>
                </a:cubicBezTo>
                <a:cubicBezTo>
                  <a:pt x="46784" y="73250"/>
                  <a:pt x="68453" y="50289"/>
                  <a:pt x="96811" y="44403"/>
                </a:cubicBezTo>
                <a:cubicBezTo>
                  <a:pt x="125169" y="38518"/>
                  <a:pt x="154185" y="50960"/>
                  <a:pt x="169471" y="75559"/>
                </a:cubicBezTo>
                <a:moveTo>
                  <a:pt x="110864" y="43016"/>
                </a:moveTo>
                <a:lnTo>
                  <a:pt x="110864" y="92324"/>
                </a:lnTo>
                <a:moveTo>
                  <a:pt x="51083" y="146563"/>
                </a:moveTo>
                <a:lnTo>
                  <a:pt x="93784" y="121909"/>
                </a:lnTo>
                <a:moveTo>
                  <a:pt x="219993" y="201098"/>
                </a:moveTo>
                <a:lnTo>
                  <a:pt x="170753" y="111140"/>
                </a:lnTo>
                <a:cubicBezTo>
                  <a:pt x="168259" y="106415"/>
                  <a:pt x="163355" y="103459"/>
                  <a:pt x="158012" y="103459"/>
                </a:cubicBezTo>
                <a:cubicBezTo>
                  <a:pt x="152669" y="103459"/>
                  <a:pt x="147765" y="106415"/>
                  <a:pt x="145271" y="111140"/>
                </a:cubicBezTo>
                <a:lnTo>
                  <a:pt x="96042" y="201098"/>
                </a:lnTo>
                <a:cubicBezTo>
                  <a:pt x="93535" y="205679"/>
                  <a:pt x="93630" y="211243"/>
                  <a:pt x="96292" y="215737"/>
                </a:cubicBezTo>
                <a:cubicBezTo>
                  <a:pt x="98953" y="220230"/>
                  <a:pt x="103787" y="222987"/>
                  <a:pt x="109010" y="222990"/>
                </a:cubicBezTo>
                <a:lnTo>
                  <a:pt x="207015" y="222990"/>
                </a:lnTo>
                <a:cubicBezTo>
                  <a:pt x="212239" y="222991"/>
                  <a:pt x="217076" y="220235"/>
                  <a:pt x="219740" y="215741"/>
                </a:cubicBezTo>
                <a:cubicBezTo>
                  <a:pt x="222404" y="211247"/>
                  <a:pt x="222500" y="205681"/>
                  <a:pt x="219993" y="201098"/>
                </a:cubicBezTo>
                <a:close/>
                <a:moveTo>
                  <a:pt x="158012" y="163821"/>
                </a:moveTo>
                <a:lnTo>
                  <a:pt x="158012" y="139167"/>
                </a:lnTo>
                <a:moveTo>
                  <a:pt x="153081" y="193406"/>
                </a:moveTo>
                <a:cubicBezTo>
                  <a:pt x="153081" y="190682"/>
                  <a:pt x="155289" y="188475"/>
                  <a:pt x="158012" y="188475"/>
                </a:cubicBezTo>
                <a:cubicBezTo>
                  <a:pt x="160735" y="188475"/>
                  <a:pt x="162943" y="190682"/>
                  <a:pt x="162943" y="193406"/>
                </a:cubicBezTo>
                <a:cubicBezTo>
                  <a:pt x="162943" y="196129"/>
                  <a:pt x="160735" y="198336"/>
                  <a:pt x="158012" y="198336"/>
                </a:cubicBezTo>
                <a:cubicBezTo>
                  <a:pt x="155289" y="198336"/>
                  <a:pt x="153081" y="196129"/>
                  <a:pt x="153081" y="193406"/>
                </a:cubicBezTo>
                <a:moveTo>
                  <a:pt x="101535" y="129374"/>
                </a:moveTo>
                <a:cubicBezTo>
                  <a:pt x="95004" y="126176"/>
                  <a:pt x="90763" y="119643"/>
                  <a:pt x="90499" y="112376"/>
                </a:cubicBezTo>
                <a:cubicBezTo>
                  <a:pt x="90235" y="105109"/>
                  <a:pt x="93992" y="98286"/>
                  <a:pt x="100273" y="94623"/>
                </a:cubicBezTo>
                <a:cubicBezTo>
                  <a:pt x="106555" y="90960"/>
                  <a:pt x="114343" y="91050"/>
                  <a:pt x="120538" y="94858"/>
                </a:cubicBezTo>
              </a:path>
            </a:pathLst>
          </a:custGeom>
          <a:noFill/>
          <a:ln w="9858">
            <a:solidFill>
              <a:srgbClr val="1C1C1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3945787" y="1384567"/>
            <a:ext cx="157785" cy="216955"/>
          </a:xfrm>
          <a:custGeom>
            <a:avLst/>
            <a:gdLst/>
            <a:ahLst/>
            <a:cxnLst/>
            <a:rect l="0" t="0" r="0" b="0"/>
            <a:pathLst>
              <a:path w="157785" h="216955">
                <a:moveTo>
                  <a:pt x="44377" y="83823"/>
                </a:moveTo>
                <a:lnTo>
                  <a:pt x="44377" y="34515"/>
                </a:lnTo>
                <a:cubicBezTo>
                  <a:pt x="44377" y="15453"/>
                  <a:pt x="59830" y="0"/>
                  <a:pt x="78892" y="0"/>
                </a:cubicBezTo>
                <a:cubicBezTo>
                  <a:pt x="97955" y="0"/>
                  <a:pt x="113408" y="15453"/>
                  <a:pt x="113408" y="34515"/>
                </a:cubicBezTo>
                <a:lnTo>
                  <a:pt x="113408" y="83823"/>
                </a:lnTo>
                <a:cubicBezTo>
                  <a:pt x="113408" y="102886"/>
                  <a:pt x="97955" y="118339"/>
                  <a:pt x="78892" y="118339"/>
                </a:cubicBezTo>
                <a:moveTo>
                  <a:pt x="113408" y="133131"/>
                </a:moveTo>
                <a:lnTo>
                  <a:pt x="113408" y="182439"/>
                </a:lnTo>
                <a:cubicBezTo>
                  <a:pt x="113408" y="201502"/>
                  <a:pt x="97955" y="216955"/>
                  <a:pt x="78892" y="216955"/>
                </a:cubicBezTo>
                <a:cubicBezTo>
                  <a:pt x="59830" y="216955"/>
                  <a:pt x="44377" y="201502"/>
                  <a:pt x="44377" y="182439"/>
                </a:cubicBezTo>
                <a:lnTo>
                  <a:pt x="44377" y="133131"/>
                </a:lnTo>
                <a:cubicBezTo>
                  <a:pt x="44377" y="114069"/>
                  <a:pt x="59830" y="98616"/>
                  <a:pt x="78892" y="98616"/>
                </a:cubicBezTo>
                <a:moveTo>
                  <a:pt x="9250" y="64090"/>
                </a:moveTo>
                <a:lnTo>
                  <a:pt x="22060" y="71486"/>
                </a:lnTo>
                <a:moveTo>
                  <a:pt x="0" y="98606"/>
                </a:moveTo>
                <a:lnTo>
                  <a:pt x="14792" y="98606"/>
                </a:lnTo>
                <a:moveTo>
                  <a:pt x="9250" y="133121"/>
                </a:moveTo>
                <a:lnTo>
                  <a:pt x="22060" y="125725"/>
                </a:lnTo>
                <a:moveTo>
                  <a:pt x="148535" y="133121"/>
                </a:moveTo>
                <a:lnTo>
                  <a:pt x="135725" y="125725"/>
                </a:lnTo>
                <a:moveTo>
                  <a:pt x="157785" y="98606"/>
                </a:moveTo>
                <a:lnTo>
                  <a:pt x="142993" y="98606"/>
                </a:lnTo>
                <a:moveTo>
                  <a:pt x="148535" y="64090"/>
                </a:moveTo>
                <a:lnTo>
                  <a:pt x="135725" y="71486"/>
                </a:lnTo>
              </a:path>
            </a:pathLst>
          </a:custGeom>
          <a:noFill/>
          <a:ln w="9858">
            <a:solidFill>
              <a:srgbClr val="1C1C1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5010842" y="2176505"/>
            <a:ext cx="226817" cy="222132"/>
          </a:xfrm>
          <a:custGeom>
            <a:avLst/>
            <a:gdLst/>
            <a:ahLst/>
            <a:cxnLst/>
            <a:rect l="0" t="0" r="0" b="0"/>
            <a:pathLst>
              <a:path w="226817" h="222132">
                <a:moveTo>
                  <a:pt x="7889" y="9398"/>
                </a:moveTo>
                <a:lnTo>
                  <a:pt x="138989" y="42128"/>
                </a:lnTo>
                <a:cubicBezTo>
                  <a:pt x="155440" y="46965"/>
                  <a:pt x="166972" y="61758"/>
                  <a:pt x="167647" y="78892"/>
                </a:cubicBezTo>
                <a:lnTo>
                  <a:pt x="167647" y="197232"/>
                </a:lnTo>
                <a:cubicBezTo>
                  <a:pt x="168084" y="204536"/>
                  <a:pt x="164926" y="211593"/>
                  <a:pt x="159190" y="216135"/>
                </a:cubicBezTo>
                <a:cubicBezTo>
                  <a:pt x="153453" y="220677"/>
                  <a:pt x="145860" y="222132"/>
                  <a:pt x="138851" y="220032"/>
                </a:cubicBezTo>
                <a:lnTo>
                  <a:pt x="28835" y="194155"/>
                </a:lnTo>
                <a:cubicBezTo>
                  <a:pt x="12326" y="189609"/>
                  <a:pt x="661" y="174896"/>
                  <a:pt x="0" y="157785"/>
                </a:cubicBezTo>
                <a:lnTo>
                  <a:pt x="0" y="29584"/>
                </a:lnTo>
                <a:cubicBezTo>
                  <a:pt x="48" y="13265"/>
                  <a:pt x="13265" y="48"/>
                  <a:pt x="29584" y="0"/>
                </a:cubicBezTo>
                <a:lnTo>
                  <a:pt x="197232" y="0"/>
                </a:lnTo>
                <a:cubicBezTo>
                  <a:pt x="213553" y="43"/>
                  <a:pt x="226773" y="13263"/>
                  <a:pt x="226817" y="29584"/>
                </a:cubicBezTo>
                <a:lnTo>
                  <a:pt x="226817" y="138062"/>
                </a:lnTo>
                <a:cubicBezTo>
                  <a:pt x="226773" y="154383"/>
                  <a:pt x="213553" y="167604"/>
                  <a:pt x="197232" y="167647"/>
                </a:cubicBezTo>
                <a:lnTo>
                  <a:pt x="167647" y="167647"/>
                </a:lnTo>
                <a:moveTo>
                  <a:pt x="88794" y="29584"/>
                </a:moveTo>
                <a:lnTo>
                  <a:pt x="187410" y="29584"/>
                </a:lnTo>
                <a:moveTo>
                  <a:pt x="103586" y="128201"/>
                </a:moveTo>
                <a:cubicBezTo>
                  <a:pt x="103586" y="139093"/>
                  <a:pt x="112416" y="147924"/>
                  <a:pt x="123309" y="147924"/>
                </a:cubicBezTo>
                <a:cubicBezTo>
                  <a:pt x="134202" y="147924"/>
                  <a:pt x="143032" y="139093"/>
                  <a:pt x="143032" y="128201"/>
                </a:cubicBezTo>
                <a:cubicBezTo>
                  <a:pt x="143032" y="117308"/>
                  <a:pt x="134202" y="108477"/>
                  <a:pt x="123309" y="108477"/>
                </a:cubicBezTo>
                <a:cubicBezTo>
                  <a:pt x="112416" y="108477"/>
                  <a:pt x="103586" y="117308"/>
                  <a:pt x="103586" y="128201"/>
                </a:cubicBezTo>
                <a:moveTo>
                  <a:pt x="167686" y="78892"/>
                </a:moveTo>
                <a:lnTo>
                  <a:pt x="187410" y="78892"/>
                </a:lnTo>
              </a:path>
            </a:pathLst>
          </a:custGeom>
          <a:noFill/>
          <a:ln w="9858">
            <a:solidFill>
              <a:srgbClr val="1C1C1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2796908" y="2563030"/>
            <a:ext cx="229213" cy="229282"/>
          </a:xfrm>
          <a:custGeom>
            <a:avLst/>
            <a:gdLst/>
            <a:ahLst/>
            <a:cxnLst/>
            <a:rect l="0" t="0" r="0" b="0"/>
            <a:pathLst>
              <a:path w="229213" h="229282">
                <a:moveTo>
                  <a:pt x="229213" y="229282"/>
                </a:moveTo>
                <a:lnTo>
                  <a:pt x="7396" y="229282"/>
                </a:lnTo>
                <a:lnTo>
                  <a:pt x="7396" y="7396"/>
                </a:lnTo>
                <a:moveTo>
                  <a:pt x="0" y="0"/>
                </a:moveTo>
                <a:moveTo>
                  <a:pt x="226817" y="94918"/>
                </a:moveTo>
                <a:lnTo>
                  <a:pt x="160326" y="55471"/>
                </a:lnTo>
                <a:lnTo>
                  <a:pt x="73887" y="106012"/>
                </a:lnTo>
                <a:lnTo>
                  <a:pt x="7396" y="60402"/>
                </a:lnTo>
                <a:moveTo>
                  <a:pt x="7396" y="200622"/>
                </a:moveTo>
                <a:lnTo>
                  <a:pt x="88754" y="151234"/>
                </a:lnTo>
                <a:lnTo>
                  <a:pt x="113408" y="169526"/>
                </a:lnTo>
                <a:lnTo>
                  <a:pt x="197232" y="191476"/>
                </a:lnTo>
                <a:lnTo>
                  <a:pt x="226817" y="143918"/>
                </a:lnTo>
                <a:moveTo>
                  <a:pt x="0" y="0"/>
                </a:moveTo>
                <a:moveTo>
                  <a:pt x="7396" y="114641"/>
                </a:moveTo>
                <a:lnTo>
                  <a:pt x="78584" y="35748"/>
                </a:lnTo>
                <a:lnTo>
                  <a:pt x="144534" y="139295"/>
                </a:lnTo>
                <a:lnTo>
                  <a:pt x="226817" y="35748"/>
                </a:lnTo>
              </a:path>
            </a:pathLst>
          </a:custGeom>
          <a:noFill/>
          <a:ln w="9858">
            <a:solidFill>
              <a:srgbClr val="1C1C1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2821918" y="3005301"/>
            <a:ext cx="153962" cy="139323"/>
          </a:xfrm>
          <a:custGeom>
            <a:avLst/>
            <a:gdLst/>
            <a:ahLst/>
            <a:cxnLst/>
            <a:rect l="0" t="0" r="0" b="0"/>
            <a:pathLst>
              <a:path w="153962" h="139323">
                <a:moveTo>
                  <a:pt x="112272" y="18156"/>
                </a:moveTo>
                <a:lnTo>
                  <a:pt x="153962" y="2408"/>
                </a:lnTo>
                <a:lnTo>
                  <a:pt x="153962" y="139323"/>
                </a:lnTo>
                <a:moveTo>
                  <a:pt x="0" y="51690"/>
                </a:moveTo>
                <a:cubicBezTo>
                  <a:pt x="0" y="23601"/>
                  <a:pt x="13394" y="0"/>
                  <a:pt x="39142" y="0"/>
                </a:cubicBezTo>
                <a:cubicBezTo>
                  <a:pt x="64892" y="0"/>
                  <a:pt x="78286" y="23601"/>
                  <a:pt x="78286" y="51690"/>
                </a:cubicBezTo>
                <a:lnTo>
                  <a:pt x="78286" y="86671"/>
                </a:lnTo>
                <a:cubicBezTo>
                  <a:pt x="78286" y="114760"/>
                  <a:pt x="64263" y="138981"/>
                  <a:pt x="39142" y="138981"/>
                </a:cubicBezTo>
                <a:cubicBezTo>
                  <a:pt x="14022" y="138981"/>
                  <a:pt x="0" y="114760"/>
                  <a:pt x="0" y="86671"/>
                </a:cubicBezTo>
                <a:lnTo>
                  <a:pt x="0" y="51690"/>
                </a:lnTo>
                <a:close/>
              </a:path>
            </a:pathLst>
          </a:custGeom>
          <a:noFill/>
          <a:ln w="9858">
            <a:solidFill>
              <a:srgbClr val="1C1C1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3926420" y="3005301"/>
            <a:ext cx="192861" cy="138981"/>
          </a:xfrm>
          <a:custGeom>
            <a:avLst/>
            <a:gdLst/>
            <a:ahLst/>
            <a:cxnLst/>
            <a:rect l="0" t="0" r="0" b="0"/>
            <a:pathLst>
              <a:path w="192861" h="138981">
                <a:moveTo>
                  <a:pt x="0" y="51690"/>
                </a:moveTo>
                <a:cubicBezTo>
                  <a:pt x="0" y="23601"/>
                  <a:pt x="13394" y="0"/>
                  <a:pt x="39142" y="0"/>
                </a:cubicBezTo>
                <a:cubicBezTo>
                  <a:pt x="64892" y="0"/>
                  <a:pt x="78286" y="23601"/>
                  <a:pt x="78286" y="51690"/>
                </a:cubicBezTo>
                <a:lnTo>
                  <a:pt x="78286" y="86671"/>
                </a:lnTo>
                <a:cubicBezTo>
                  <a:pt x="78286" y="114760"/>
                  <a:pt x="64263" y="138981"/>
                  <a:pt x="39142" y="138981"/>
                </a:cubicBezTo>
                <a:cubicBezTo>
                  <a:pt x="14022" y="138981"/>
                  <a:pt x="0" y="114760"/>
                  <a:pt x="0" y="86671"/>
                </a:cubicBezTo>
                <a:lnTo>
                  <a:pt x="0" y="51690"/>
                </a:lnTo>
                <a:close/>
                <a:moveTo>
                  <a:pt x="107290" y="38559"/>
                </a:moveTo>
                <a:cubicBezTo>
                  <a:pt x="107290" y="15777"/>
                  <a:pt x="123189" y="0"/>
                  <a:pt x="144794" y="0"/>
                </a:cubicBezTo>
                <a:cubicBezTo>
                  <a:pt x="180636" y="0"/>
                  <a:pt x="192861" y="34976"/>
                  <a:pt x="169368" y="66088"/>
                </a:cubicBezTo>
                <a:lnTo>
                  <a:pt x="109748" y="136693"/>
                </a:lnTo>
                <a:lnTo>
                  <a:pt x="191702" y="136693"/>
                </a:lnTo>
              </a:path>
            </a:pathLst>
          </a:custGeom>
          <a:noFill/>
          <a:ln w="9858">
            <a:solidFill>
              <a:srgbClr val="1C1C1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5030921" y="3005301"/>
            <a:ext cx="187633" cy="139022"/>
          </a:xfrm>
          <a:custGeom>
            <a:avLst/>
            <a:gdLst/>
            <a:ahLst/>
            <a:cxnLst/>
            <a:rect l="0" t="0" r="0" b="0"/>
            <a:pathLst>
              <a:path w="187633" h="139022">
                <a:moveTo>
                  <a:pt x="0" y="51690"/>
                </a:moveTo>
                <a:cubicBezTo>
                  <a:pt x="0" y="23601"/>
                  <a:pt x="13394" y="0"/>
                  <a:pt x="39142" y="0"/>
                </a:cubicBezTo>
                <a:cubicBezTo>
                  <a:pt x="64892" y="0"/>
                  <a:pt x="78286" y="23601"/>
                  <a:pt x="78286" y="51690"/>
                </a:cubicBezTo>
                <a:lnTo>
                  <a:pt x="78286" y="86671"/>
                </a:lnTo>
                <a:cubicBezTo>
                  <a:pt x="78286" y="114760"/>
                  <a:pt x="64263" y="138981"/>
                  <a:pt x="39142" y="138981"/>
                </a:cubicBezTo>
                <a:cubicBezTo>
                  <a:pt x="14022" y="138981"/>
                  <a:pt x="0" y="114760"/>
                  <a:pt x="0" y="86671"/>
                </a:cubicBezTo>
                <a:lnTo>
                  <a:pt x="0" y="51690"/>
                </a:lnTo>
                <a:close/>
                <a:moveTo>
                  <a:pt x="108719" y="36354"/>
                </a:moveTo>
                <a:cubicBezTo>
                  <a:pt x="108131" y="24476"/>
                  <a:pt x="115431" y="72"/>
                  <a:pt x="147889" y="72"/>
                </a:cubicBezTo>
                <a:cubicBezTo>
                  <a:pt x="180347" y="72"/>
                  <a:pt x="185319" y="24171"/>
                  <a:pt x="184194" y="37778"/>
                </a:cubicBezTo>
                <a:cubicBezTo>
                  <a:pt x="182954" y="52782"/>
                  <a:pt x="173562" y="68107"/>
                  <a:pt x="133765" y="68107"/>
                </a:cubicBezTo>
                <a:cubicBezTo>
                  <a:pt x="170809" y="68107"/>
                  <a:pt x="187633" y="78235"/>
                  <a:pt x="187633" y="105663"/>
                </a:cubicBezTo>
                <a:cubicBezTo>
                  <a:pt x="187633" y="129372"/>
                  <a:pt x="166677" y="139022"/>
                  <a:pt x="147529" y="139022"/>
                </a:cubicBezTo>
                <a:cubicBezTo>
                  <a:pt x="133768" y="138904"/>
                  <a:pt x="106245" y="131119"/>
                  <a:pt x="106245" y="100918"/>
                </a:cubicBezTo>
              </a:path>
            </a:pathLst>
          </a:custGeom>
          <a:noFill/>
          <a:ln w="9858">
            <a:solidFill>
              <a:srgbClr val="1C1C1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6135422" y="3004591"/>
            <a:ext cx="198427" cy="140170"/>
          </a:xfrm>
          <a:custGeom>
            <a:avLst/>
            <a:gdLst/>
            <a:ahLst/>
            <a:cxnLst/>
            <a:rect l="0" t="0" r="0" b="0"/>
            <a:pathLst>
              <a:path w="198427" h="140170">
                <a:moveTo>
                  <a:pt x="0" y="52403"/>
                </a:moveTo>
                <a:cubicBezTo>
                  <a:pt x="0" y="24313"/>
                  <a:pt x="13394" y="712"/>
                  <a:pt x="39142" y="712"/>
                </a:cubicBezTo>
                <a:cubicBezTo>
                  <a:pt x="64892" y="712"/>
                  <a:pt x="78286" y="24313"/>
                  <a:pt x="78286" y="52403"/>
                </a:cubicBezTo>
                <a:lnTo>
                  <a:pt x="78286" y="87383"/>
                </a:lnTo>
                <a:cubicBezTo>
                  <a:pt x="78286" y="115473"/>
                  <a:pt x="64263" y="139693"/>
                  <a:pt x="39142" y="139693"/>
                </a:cubicBezTo>
                <a:cubicBezTo>
                  <a:pt x="14022" y="139693"/>
                  <a:pt x="0" y="115473"/>
                  <a:pt x="0" y="87383"/>
                </a:cubicBezTo>
                <a:lnTo>
                  <a:pt x="0" y="52403"/>
                </a:lnTo>
                <a:close/>
                <a:moveTo>
                  <a:pt x="171777" y="140170"/>
                </a:moveTo>
                <a:lnTo>
                  <a:pt x="171777" y="0"/>
                </a:lnTo>
                <a:lnTo>
                  <a:pt x="104644" y="99536"/>
                </a:lnTo>
                <a:lnTo>
                  <a:pt x="198427" y="99536"/>
                </a:lnTo>
              </a:path>
            </a:pathLst>
          </a:custGeom>
          <a:noFill/>
          <a:ln w="9858">
            <a:solidFill>
              <a:srgbClr val="1C1C1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2425210" y="3273064"/>
            <a:ext cx="980086" cy="1577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900" b="1">
                <a:solidFill>
                  <a:srgbClr val="1C1C1C"/>
                </a:solidFill>
                <a:latin typeface="Shantell Sans"/>
              </a:rPr>
              <a:t>Market Risk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587832" y="3273064"/>
            <a:ext cx="863834" cy="1577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900" b="1">
                <a:solidFill>
                  <a:srgbClr val="1C1C1C"/>
                </a:solidFill>
                <a:latin typeface="Shantell Sans"/>
              </a:rPr>
              <a:t>Credit Risk</a:t>
            </a:r>
          </a:p>
        </p:txBody>
      </p:sp>
      <p:grpSp>
        <p:nvGrpSpPr>
          <p:cNvPr id="58" name="Group 57"/>
          <p:cNvGrpSpPr/>
          <p:nvPr/>
        </p:nvGrpSpPr>
        <p:grpSpPr>
          <a:xfrm>
            <a:off x="4807906" y="3273067"/>
            <a:ext cx="632698" cy="315543"/>
            <a:chOff x="4807906" y="3273067"/>
            <a:chExt cx="632698" cy="315543"/>
          </a:xfrm>
        </p:grpSpPr>
        <p:sp>
          <p:nvSpPr>
            <p:cNvPr id="56" name="TextBox 55"/>
            <p:cNvSpPr txBox="1"/>
            <p:nvPr/>
          </p:nvSpPr>
          <p:spPr>
            <a:xfrm>
              <a:off x="4760454" y="3273067"/>
              <a:ext cx="727602" cy="1577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900" b="1">
                  <a:solidFill>
                    <a:srgbClr val="1C1C1C"/>
                  </a:solidFill>
                  <a:latin typeface="Shantell Sans"/>
                </a:rPr>
                <a:t>Liquidity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4760454" y="3430801"/>
              <a:ext cx="727602" cy="1578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900" b="1">
                  <a:solidFill>
                    <a:srgbClr val="1C1C1C"/>
                  </a:solidFill>
                  <a:latin typeface="Shantell Sans"/>
                </a:rPr>
                <a:t>Risk</a:t>
              </a:r>
            </a:p>
          </p:txBody>
        </p:sp>
      </p:grpSp>
      <p:grpSp>
        <p:nvGrpSpPr>
          <p:cNvPr id="61" name="Group 60"/>
          <p:cNvGrpSpPr/>
          <p:nvPr/>
        </p:nvGrpSpPr>
        <p:grpSpPr>
          <a:xfrm>
            <a:off x="5796793" y="3273081"/>
            <a:ext cx="863917" cy="315543"/>
            <a:chOff x="5796793" y="3273081"/>
            <a:chExt cx="863917" cy="315543"/>
          </a:xfrm>
        </p:grpSpPr>
        <p:sp>
          <p:nvSpPr>
            <p:cNvPr id="59" name="TextBox 58"/>
            <p:cNvSpPr txBox="1"/>
            <p:nvPr/>
          </p:nvSpPr>
          <p:spPr>
            <a:xfrm>
              <a:off x="5732000" y="3273081"/>
              <a:ext cx="993504" cy="1577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900" b="1">
                  <a:solidFill>
                    <a:srgbClr val="1C1C1C"/>
                  </a:solidFill>
                  <a:latin typeface="Shantell Sans"/>
                </a:rPr>
                <a:t>Operational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5732000" y="3430815"/>
              <a:ext cx="993504" cy="1578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900" b="1">
                  <a:solidFill>
                    <a:srgbClr val="1C1C1C"/>
                  </a:solidFill>
                  <a:latin typeface="Shantell Sans"/>
                </a:rPr>
                <a:t>Risk</a:t>
              </a:r>
            </a:p>
          </p:txBody>
        </p:sp>
      </p:grpSp>
      <p:grpSp>
        <p:nvGrpSpPr>
          <p:cNvPr id="69" name="Group 68"/>
          <p:cNvGrpSpPr/>
          <p:nvPr/>
        </p:nvGrpSpPr>
        <p:grpSpPr>
          <a:xfrm>
            <a:off x="2463820" y="3509746"/>
            <a:ext cx="902855" cy="828426"/>
            <a:chOff x="2463820" y="3509746"/>
            <a:chExt cx="902855" cy="828426"/>
          </a:xfrm>
        </p:grpSpPr>
        <p:sp>
          <p:nvSpPr>
            <p:cNvPr id="62" name="TextBox 61"/>
            <p:cNvSpPr txBox="1"/>
            <p:nvPr/>
          </p:nvSpPr>
          <p:spPr>
            <a:xfrm>
              <a:off x="2396106" y="3509746"/>
              <a:ext cx="1038283" cy="1183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1C1C1C"/>
                  </a:solidFill>
                  <a:latin typeface="Roboto"/>
                </a:rPr>
                <a:t>Potential losses due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2396106" y="3628141"/>
              <a:ext cx="1038283" cy="118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1C1C1C"/>
                  </a:solidFill>
                  <a:latin typeface="Roboto"/>
                </a:rPr>
                <a:t>to changes in</a:t>
              </a: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2396106" y="3746442"/>
              <a:ext cx="1038283" cy="1183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1C1C1C"/>
                  </a:solidFill>
                  <a:latin typeface="Roboto"/>
                </a:rPr>
                <a:t>market prices,</a:t>
              </a: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2396106" y="3864838"/>
              <a:ext cx="1038283" cy="118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1C1C1C"/>
                  </a:solidFill>
                  <a:latin typeface="Roboto"/>
                </a:rPr>
                <a:t>including interest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2396106" y="3983138"/>
              <a:ext cx="1038283" cy="1183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1C1C1C"/>
                  </a:solidFill>
                  <a:latin typeface="Roboto"/>
                </a:rPr>
                <a:t>rates, equity prices,</a:t>
              </a: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2396106" y="4101534"/>
              <a:ext cx="1038283" cy="118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1C1C1C"/>
                  </a:solidFill>
                  <a:latin typeface="Roboto"/>
                </a:rPr>
                <a:t>and currency</a:t>
              </a: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2396106" y="4219834"/>
              <a:ext cx="1038283" cy="1183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1C1C1C"/>
                  </a:solidFill>
                  <a:latin typeface="Roboto"/>
                </a:rPr>
                <a:t>fluctuations.</a:t>
              </a:r>
            </a:p>
          </p:txBody>
        </p:sp>
      </p:grpSp>
      <p:grpSp>
        <p:nvGrpSpPr>
          <p:cNvPr id="76" name="Group 75"/>
          <p:cNvGrpSpPr/>
          <p:nvPr/>
        </p:nvGrpSpPr>
        <p:grpSpPr>
          <a:xfrm>
            <a:off x="3587314" y="3509741"/>
            <a:ext cx="864879" cy="710078"/>
            <a:chOff x="3587314" y="3509741"/>
            <a:chExt cx="864879" cy="710078"/>
          </a:xfrm>
        </p:grpSpPr>
        <p:sp>
          <p:nvSpPr>
            <p:cNvPr id="70" name="TextBox 69"/>
            <p:cNvSpPr txBox="1"/>
            <p:nvPr/>
          </p:nvSpPr>
          <p:spPr>
            <a:xfrm>
              <a:off x="3522449" y="3509741"/>
              <a:ext cx="994610" cy="118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1C1C1C"/>
                  </a:solidFill>
                  <a:latin typeface="Roboto"/>
                </a:rPr>
                <a:t>The risk that a</a:t>
              </a: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3522449" y="3628041"/>
              <a:ext cx="994610" cy="1183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1C1C1C"/>
                  </a:solidFill>
                  <a:latin typeface="Roboto"/>
                </a:rPr>
                <a:t>counterparty or</a:t>
              </a: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3522449" y="3746437"/>
              <a:ext cx="994610" cy="118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1C1C1C"/>
                  </a:solidFill>
                  <a:latin typeface="Roboto"/>
                </a:rPr>
                <a:t>borrower will fail to</a:t>
              </a: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3522449" y="3864737"/>
              <a:ext cx="994610" cy="1183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1C1C1C"/>
                  </a:solidFill>
                  <a:latin typeface="Roboto"/>
                </a:rPr>
                <a:t>meet their</a:t>
              </a: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3522449" y="3983133"/>
              <a:ext cx="994610" cy="118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1C1C1C"/>
                  </a:solidFill>
                  <a:latin typeface="Roboto"/>
                </a:rPr>
                <a:t>contractual</a:t>
              </a: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3522449" y="4101434"/>
              <a:ext cx="994610" cy="11838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1C1C1C"/>
                  </a:solidFill>
                  <a:latin typeface="Roboto"/>
                </a:rPr>
                <a:t>obligations.</a:t>
              </a:r>
            </a:p>
          </p:txBody>
        </p:sp>
      </p:grpSp>
      <p:grpSp>
        <p:nvGrpSpPr>
          <p:cNvPr id="82" name="Group 81"/>
          <p:cNvGrpSpPr/>
          <p:nvPr/>
        </p:nvGrpSpPr>
        <p:grpSpPr>
          <a:xfrm>
            <a:off x="5780657" y="3667533"/>
            <a:ext cx="896188" cy="591730"/>
            <a:chOff x="5780657" y="3667533"/>
            <a:chExt cx="896188" cy="591730"/>
          </a:xfrm>
        </p:grpSpPr>
        <p:sp>
          <p:nvSpPr>
            <p:cNvPr id="77" name="TextBox 76"/>
            <p:cNvSpPr txBox="1"/>
            <p:nvPr/>
          </p:nvSpPr>
          <p:spPr>
            <a:xfrm>
              <a:off x="5713443" y="3667533"/>
              <a:ext cx="1030616" cy="118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1C1C1C"/>
                  </a:solidFill>
                  <a:latin typeface="Roboto"/>
                </a:rPr>
                <a:t>Risks arising from</a:t>
              </a: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5713443" y="3785833"/>
              <a:ext cx="1030616" cy="1183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1C1C1C"/>
                  </a:solidFill>
                  <a:latin typeface="Roboto"/>
                </a:rPr>
                <a:t>failures in internal</a:t>
              </a:r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5713443" y="3904229"/>
              <a:ext cx="1030616" cy="118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1C1C1C"/>
                  </a:solidFill>
                  <a:latin typeface="Roboto"/>
                </a:rPr>
                <a:t>processes, people,</a:t>
              </a: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5713443" y="4022529"/>
              <a:ext cx="1030616" cy="1183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1C1C1C"/>
                  </a:solidFill>
                  <a:latin typeface="Roboto"/>
                </a:rPr>
                <a:t>systems, or external</a:t>
              </a: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5713443" y="4140925"/>
              <a:ext cx="1030616" cy="1183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1C1C1C"/>
                  </a:solidFill>
                  <a:latin typeface="Roboto"/>
                </a:rPr>
                <a:t>events.</a:t>
              </a:r>
            </a:p>
          </p:txBody>
        </p:sp>
      </p:grpSp>
      <p:sp>
        <p:nvSpPr>
          <p:cNvPr id="83" name="TextBox 82"/>
          <p:cNvSpPr txBox="1"/>
          <p:nvPr/>
        </p:nvSpPr>
        <p:spPr>
          <a:xfrm>
            <a:off x="-43362" y="371475"/>
            <a:ext cx="9230724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3100" b="1">
                <a:solidFill>
                  <a:srgbClr val="1C1C1C"/>
                </a:solidFill>
                <a:latin typeface="Shantell Sans"/>
              </a:rPr>
              <a:t>Categorizing Global Economic Threats</a:t>
            </a:r>
          </a:p>
        </p:txBody>
      </p:sp>
      <p:grpSp>
        <p:nvGrpSpPr>
          <p:cNvPr id="92" name="Group 91"/>
          <p:cNvGrpSpPr/>
          <p:nvPr/>
        </p:nvGrpSpPr>
        <p:grpSpPr>
          <a:xfrm>
            <a:off x="4682052" y="3667500"/>
            <a:ext cx="884405" cy="946774"/>
            <a:chOff x="4682052" y="3667500"/>
            <a:chExt cx="884405" cy="946774"/>
          </a:xfrm>
        </p:grpSpPr>
        <p:sp>
          <p:nvSpPr>
            <p:cNvPr id="84" name="TextBox 83"/>
            <p:cNvSpPr txBox="1"/>
            <p:nvPr/>
          </p:nvSpPr>
          <p:spPr>
            <a:xfrm>
              <a:off x="4615722" y="3667500"/>
              <a:ext cx="1017065" cy="1183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1C1C1C"/>
                  </a:solidFill>
                  <a:latin typeface="Roboto"/>
                </a:rPr>
                <a:t>The danger that an</a:t>
              </a:r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4615722" y="3785895"/>
              <a:ext cx="1017065" cy="118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1C1C1C"/>
                  </a:solidFill>
                  <a:latin typeface="Roboto"/>
                </a:rPr>
                <a:t>organization will be</a:t>
              </a: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4615722" y="3904196"/>
              <a:ext cx="1017065" cy="1183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1C1C1C"/>
                  </a:solidFill>
                  <a:latin typeface="Roboto"/>
                </a:rPr>
                <a:t>unable to meet its</a:t>
              </a: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4615722" y="4022591"/>
              <a:ext cx="1017065" cy="118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1C1C1C"/>
                  </a:solidFill>
                  <a:latin typeface="Roboto"/>
                </a:rPr>
                <a:t>short-term financial</a:t>
              </a: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4615722" y="4140892"/>
              <a:ext cx="1017065" cy="1183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1C1C1C"/>
                  </a:solidFill>
                  <a:latin typeface="Roboto"/>
                </a:rPr>
                <a:t>demands without</a:t>
              </a:r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4615722" y="4259288"/>
              <a:ext cx="1017065" cy="118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1C1C1C"/>
                  </a:solidFill>
                  <a:latin typeface="Roboto"/>
                </a:rPr>
                <a:t>incurring</a:t>
              </a: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4615722" y="4377588"/>
              <a:ext cx="1017065" cy="1183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1C1C1C"/>
                  </a:solidFill>
                  <a:latin typeface="Roboto"/>
                </a:rPr>
                <a:t>unacceptable</a:t>
              </a: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4615722" y="4495984"/>
              <a:ext cx="1017065" cy="118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1C1C1C"/>
                  </a:solidFill>
                  <a:latin typeface="Roboto"/>
                </a:rPr>
                <a:t>losses.</a:t>
              </a:r>
            </a:p>
          </p:txBody>
        </p:sp>
      </p:grpSp>
      <p:sp>
        <p:nvSpPr>
          <p:cNvPr id="93" name="Rounded Rectangle 92"/>
          <p:cNvSpPr/>
          <p:nvPr/>
        </p:nvSpPr>
        <p:spPr>
          <a:xfrm>
            <a:off x="7886700" y="4829136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9F8A4A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821167" y="1643555"/>
            <a:ext cx="1501663" cy="1501663"/>
          </a:xfrm>
          <a:custGeom>
            <a:avLst/>
            <a:gdLst/>
            <a:ahLst/>
            <a:cxnLst/>
            <a:rect l="0" t="0" r="0" b="0"/>
            <a:pathLst>
              <a:path w="1501663" h="1501663">
                <a:moveTo>
                  <a:pt x="0" y="750836"/>
                </a:moveTo>
                <a:cubicBezTo>
                  <a:pt x="0" y="1165507"/>
                  <a:pt x="336156" y="1501663"/>
                  <a:pt x="750836" y="1501663"/>
                </a:cubicBezTo>
                <a:cubicBezTo>
                  <a:pt x="1165507" y="1501663"/>
                  <a:pt x="1501663" y="1165507"/>
                  <a:pt x="1501663" y="750836"/>
                </a:cubicBezTo>
                <a:cubicBezTo>
                  <a:pt x="1501663" y="336156"/>
                  <a:pt x="1165507" y="0"/>
                  <a:pt x="750836" y="0"/>
                </a:cubicBezTo>
                <a:cubicBezTo>
                  <a:pt x="336156" y="0"/>
                  <a:pt x="0" y="336156"/>
                  <a:pt x="0" y="750836"/>
                </a:cubicBezTo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821167" y="1643555"/>
            <a:ext cx="1501665" cy="1501665"/>
          </a:xfrm>
          <a:custGeom>
            <a:avLst/>
            <a:gdLst/>
            <a:ahLst/>
            <a:cxnLst/>
            <a:rect l="0" t="0" r="0" b="0"/>
            <a:pathLst>
              <a:path w="1501665" h="1501665">
                <a:moveTo>
                  <a:pt x="0" y="750832"/>
                </a:moveTo>
                <a:cubicBezTo>
                  <a:pt x="0" y="1165506"/>
                  <a:pt x="336159" y="1501665"/>
                  <a:pt x="750832" y="1501665"/>
                </a:cubicBezTo>
                <a:cubicBezTo>
                  <a:pt x="1165506" y="1501665"/>
                  <a:pt x="1501665" y="1165506"/>
                  <a:pt x="1501665" y="750832"/>
                </a:cubicBezTo>
                <a:cubicBezTo>
                  <a:pt x="1501665" y="336159"/>
                  <a:pt x="1165506" y="0"/>
                  <a:pt x="750832" y="0"/>
                </a:cubicBezTo>
                <a:cubicBezTo>
                  <a:pt x="336159" y="0"/>
                  <a:pt x="0" y="336159"/>
                  <a:pt x="0" y="750832"/>
                </a:cubicBezTo>
              </a:path>
            </a:pathLst>
          </a:custGeom>
          <a:noFill/>
          <a:ln w="10429">
            <a:solidFill>
              <a:srgbClr val="F8F6F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118999" y="1309851"/>
            <a:ext cx="1139132" cy="1167965"/>
          </a:xfrm>
          <a:custGeom>
            <a:avLst/>
            <a:gdLst/>
            <a:ahLst/>
            <a:cxnLst/>
            <a:rect l="0" t="0" r="0" b="0"/>
            <a:pathLst>
              <a:path w="1139132" h="1167965">
                <a:moveTo>
                  <a:pt x="702163" y="1084535"/>
                </a:moveTo>
                <a:cubicBezTo>
                  <a:pt x="702163" y="781916"/>
                  <a:pt x="881205" y="521103"/>
                  <a:pt x="1139132" y="402250"/>
                </a:cubicBezTo>
                <a:cubicBezTo>
                  <a:pt x="1062732" y="168706"/>
                  <a:pt x="843057" y="0"/>
                  <a:pt x="583977" y="0"/>
                </a:cubicBezTo>
                <a:cubicBezTo>
                  <a:pt x="261461" y="0"/>
                  <a:pt x="0" y="261461"/>
                  <a:pt x="0" y="583977"/>
                </a:cubicBezTo>
                <a:cubicBezTo>
                  <a:pt x="0" y="906503"/>
                  <a:pt x="261461" y="1167965"/>
                  <a:pt x="583977" y="1167965"/>
                </a:cubicBezTo>
                <a:cubicBezTo>
                  <a:pt x="625640" y="1167965"/>
                  <a:pt x="666273" y="1163602"/>
                  <a:pt x="705459" y="1155306"/>
                </a:cubicBezTo>
                <a:cubicBezTo>
                  <a:pt x="703278" y="1132008"/>
                  <a:pt x="702163" y="1108405"/>
                  <a:pt x="702163" y="1084535"/>
                </a:cubicBezTo>
              </a:path>
            </a:pathLst>
          </a:custGeom>
          <a:solidFill>
            <a:srgbClr val="4C87C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118999" y="1309851"/>
            <a:ext cx="1167962" cy="1167962"/>
          </a:xfrm>
          <a:custGeom>
            <a:avLst/>
            <a:gdLst/>
            <a:ahLst/>
            <a:cxnLst/>
            <a:rect l="0" t="0" r="0" b="0"/>
            <a:pathLst>
              <a:path w="1167962" h="1167962">
                <a:moveTo>
                  <a:pt x="702167" y="1084536"/>
                </a:moveTo>
                <a:cubicBezTo>
                  <a:pt x="702167" y="781912"/>
                  <a:pt x="881203" y="521104"/>
                  <a:pt x="1139132" y="402253"/>
                </a:cubicBezTo>
                <a:cubicBezTo>
                  <a:pt x="1062730" y="168706"/>
                  <a:pt x="843057" y="0"/>
                  <a:pt x="583981" y="0"/>
                </a:cubicBezTo>
                <a:cubicBezTo>
                  <a:pt x="261457" y="0"/>
                  <a:pt x="0" y="261457"/>
                  <a:pt x="0" y="583981"/>
                </a:cubicBezTo>
                <a:cubicBezTo>
                  <a:pt x="0" y="906504"/>
                  <a:pt x="261457" y="1167962"/>
                  <a:pt x="583981" y="1167962"/>
                </a:cubicBezTo>
                <a:cubicBezTo>
                  <a:pt x="625636" y="1167962"/>
                  <a:pt x="666272" y="1163600"/>
                  <a:pt x="705459" y="1155309"/>
                </a:cubicBezTo>
                <a:cubicBezTo>
                  <a:pt x="703281" y="1132011"/>
                  <a:pt x="702167" y="1108403"/>
                  <a:pt x="702167" y="1084536"/>
                </a:cubicBezTo>
                <a:close/>
                <a:moveTo>
                  <a:pt x="702167" y="1084529"/>
                </a:moveTo>
                <a:cubicBezTo>
                  <a:pt x="702167" y="781905"/>
                  <a:pt x="881203" y="521097"/>
                  <a:pt x="1139132" y="402247"/>
                </a:cubicBezTo>
                <a:cubicBezTo>
                  <a:pt x="1157843" y="459442"/>
                  <a:pt x="1167962" y="520527"/>
                  <a:pt x="1167962" y="583974"/>
                </a:cubicBezTo>
                <a:cubicBezTo>
                  <a:pt x="1167962" y="864842"/>
                  <a:pt x="969680" y="1099400"/>
                  <a:pt x="705459" y="1155303"/>
                </a:cubicBezTo>
                <a:cubicBezTo>
                  <a:pt x="703281" y="1132005"/>
                  <a:pt x="702167" y="1108397"/>
                  <a:pt x="702167" y="1084529"/>
                </a:cubicBezTo>
                <a:close/>
              </a:path>
            </a:pathLst>
          </a:custGeom>
          <a:noFill/>
          <a:ln w="10429">
            <a:solidFill>
              <a:srgbClr val="F8F6F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988019" y="3006217"/>
            <a:ext cx="1167965" cy="973264"/>
          </a:xfrm>
          <a:custGeom>
            <a:avLst/>
            <a:gdLst/>
            <a:ahLst/>
            <a:cxnLst/>
            <a:rect l="0" t="0" r="0" b="0"/>
            <a:pathLst>
              <a:path w="1167965" h="973264">
                <a:moveTo>
                  <a:pt x="583977" y="138998"/>
                </a:moveTo>
                <a:cubicBezTo>
                  <a:pt x="746255" y="138998"/>
                  <a:pt x="896512" y="87525"/>
                  <a:pt x="1019298" y="0"/>
                </a:cubicBezTo>
                <a:cubicBezTo>
                  <a:pt x="1111748" y="103317"/>
                  <a:pt x="1167965" y="239734"/>
                  <a:pt x="1167965" y="389277"/>
                </a:cubicBezTo>
                <a:cubicBezTo>
                  <a:pt x="1167965" y="711803"/>
                  <a:pt x="906503" y="973264"/>
                  <a:pt x="583977" y="973264"/>
                </a:cubicBezTo>
                <a:cubicBezTo>
                  <a:pt x="261461" y="973264"/>
                  <a:pt x="0" y="711803"/>
                  <a:pt x="0" y="389277"/>
                </a:cubicBezTo>
                <a:cubicBezTo>
                  <a:pt x="0" y="239734"/>
                  <a:pt x="56216" y="103317"/>
                  <a:pt x="148666" y="0"/>
                </a:cubicBezTo>
                <a:cubicBezTo>
                  <a:pt x="271452" y="87525"/>
                  <a:pt x="421700" y="138998"/>
                  <a:pt x="583977" y="138998"/>
                </a:cubicBezTo>
              </a:path>
            </a:pathLst>
          </a:custGeom>
          <a:solidFill>
            <a:srgbClr val="4C87C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988019" y="2811516"/>
            <a:ext cx="1167962" cy="1167961"/>
          </a:xfrm>
          <a:custGeom>
            <a:avLst/>
            <a:gdLst/>
            <a:ahLst/>
            <a:cxnLst/>
            <a:rect l="0" t="0" r="0" b="0"/>
            <a:pathLst>
              <a:path w="1167962" h="1167961">
                <a:moveTo>
                  <a:pt x="583981" y="333703"/>
                </a:moveTo>
                <a:cubicBezTo>
                  <a:pt x="746258" y="333703"/>
                  <a:pt x="896511" y="282221"/>
                  <a:pt x="1019299" y="194701"/>
                </a:cubicBezTo>
                <a:cubicBezTo>
                  <a:pt x="1111748" y="298013"/>
                  <a:pt x="1167962" y="434432"/>
                  <a:pt x="1167962" y="583980"/>
                </a:cubicBezTo>
                <a:cubicBezTo>
                  <a:pt x="1167962" y="906504"/>
                  <a:pt x="906504" y="1167961"/>
                  <a:pt x="583981" y="1167961"/>
                </a:cubicBezTo>
                <a:cubicBezTo>
                  <a:pt x="261457" y="1167961"/>
                  <a:pt x="0" y="906504"/>
                  <a:pt x="0" y="583980"/>
                </a:cubicBezTo>
                <a:cubicBezTo>
                  <a:pt x="0" y="434432"/>
                  <a:pt x="56213" y="298013"/>
                  <a:pt x="148662" y="194701"/>
                </a:cubicBezTo>
                <a:cubicBezTo>
                  <a:pt x="271451" y="282221"/>
                  <a:pt x="421703" y="333703"/>
                  <a:pt x="583981" y="333703"/>
                </a:cubicBezTo>
                <a:close/>
                <a:moveTo>
                  <a:pt x="583981" y="333703"/>
                </a:moveTo>
                <a:cubicBezTo>
                  <a:pt x="746258" y="333703"/>
                  <a:pt x="896511" y="282222"/>
                  <a:pt x="1019299" y="194701"/>
                </a:cubicBezTo>
                <a:cubicBezTo>
                  <a:pt x="912367" y="75204"/>
                  <a:pt x="756956" y="0"/>
                  <a:pt x="583981" y="0"/>
                </a:cubicBezTo>
                <a:cubicBezTo>
                  <a:pt x="411005" y="0"/>
                  <a:pt x="255595" y="75204"/>
                  <a:pt x="148663" y="194701"/>
                </a:cubicBezTo>
                <a:cubicBezTo>
                  <a:pt x="271451" y="282222"/>
                  <a:pt x="421704" y="333703"/>
                  <a:pt x="583981" y="333703"/>
                </a:cubicBezTo>
                <a:close/>
              </a:path>
            </a:pathLst>
          </a:custGeom>
          <a:noFill/>
          <a:ln w="10429">
            <a:solidFill>
              <a:srgbClr val="F8F6F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873775" y="1309851"/>
            <a:ext cx="1137323" cy="1167965"/>
          </a:xfrm>
          <a:custGeom>
            <a:avLst/>
            <a:gdLst/>
            <a:ahLst/>
            <a:cxnLst/>
            <a:rect l="0" t="0" r="0" b="0"/>
            <a:pathLst>
              <a:path w="1137323" h="1167965">
                <a:moveTo>
                  <a:pt x="449056" y="1084535"/>
                </a:moveTo>
                <a:cubicBezTo>
                  <a:pt x="449056" y="777201"/>
                  <a:pt x="264404" y="512997"/>
                  <a:pt x="0" y="396811"/>
                </a:cubicBezTo>
                <a:cubicBezTo>
                  <a:pt x="78009" y="166087"/>
                  <a:pt x="296284" y="0"/>
                  <a:pt x="553335" y="0"/>
                </a:cubicBezTo>
                <a:cubicBezTo>
                  <a:pt x="875861" y="0"/>
                  <a:pt x="1137323" y="261461"/>
                  <a:pt x="1137323" y="583977"/>
                </a:cubicBezTo>
                <a:cubicBezTo>
                  <a:pt x="1137323" y="906503"/>
                  <a:pt x="875861" y="1167965"/>
                  <a:pt x="553335" y="1167965"/>
                </a:cubicBezTo>
                <a:cubicBezTo>
                  <a:pt x="516502" y="1167965"/>
                  <a:pt x="480450" y="1164555"/>
                  <a:pt x="445503" y="1158030"/>
                </a:cubicBezTo>
                <a:cubicBezTo>
                  <a:pt x="447855" y="1133846"/>
                  <a:pt x="449056" y="1109329"/>
                  <a:pt x="449056" y="1084535"/>
                </a:cubicBezTo>
              </a:path>
            </a:pathLst>
          </a:custGeom>
          <a:solidFill>
            <a:srgbClr val="4C87C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843134" y="1309851"/>
            <a:ext cx="1167962" cy="1167962"/>
          </a:xfrm>
          <a:custGeom>
            <a:avLst/>
            <a:gdLst/>
            <a:ahLst/>
            <a:cxnLst/>
            <a:rect l="0" t="0" r="0" b="0"/>
            <a:pathLst>
              <a:path w="1167962" h="1167962">
                <a:moveTo>
                  <a:pt x="479698" y="1084536"/>
                </a:moveTo>
                <a:cubicBezTo>
                  <a:pt x="479698" y="777205"/>
                  <a:pt x="295049" y="513000"/>
                  <a:pt x="30639" y="396810"/>
                </a:cubicBezTo>
                <a:cubicBezTo>
                  <a:pt x="108654" y="166089"/>
                  <a:pt x="326921" y="0"/>
                  <a:pt x="583981" y="0"/>
                </a:cubicBezTo>
                <a:cubicBezTo>
                  <a:pt x="906504" y="0"/>
                  <a:pt x="1167962" y="261457"/>
                  <a:pt x="1167962" y="583981"/>
                </a:cubicBezTo>
                <a:cubicBezTo>
                  <a:pt x="1167962" y="906504"/>
                  <a:pt x="906504" y="1167962"/>
                  <a:pt x="583981" y="1167962"/>
                </a:cubicBezTo>
                <a:cubicBezTo>
                  <a:pt x="547140" y="1167962"/>
                  <a:pt x="511096" y="1164550"/>
                  <a:pt x="476147" y="1158026"/>
                </a:cubicBezTo>
                <a:cubicBezTo>
                  <a:pt x="478496" y="1133847"/>
                  <a:pt x="479698" y="1109331"/>
                  <a:pt x="479698" y="1084536"/>
                </a:cubicBezTo>
                <a:close/>
                <a:moveTo>
                  <a:pt x="479698" y="1084541"/>
                </a:moveTo>
                <a:cubicBezTo>
                  <a:pt x="479698" y="777210"/>
                  <a:pt x="295050" y="513005"/>
                  <a:pt x="30639" y="396815"/>
                </a:cubicBezTo>
                <a:cubicBezTo>
                  <a:pt x="10771" y="455572"/>
                  <a:pt x="0" y="518521"/>
                  <a:pt x="0" y="583986"/>
                </a:cubicBezTo>
                <a:cubicBezTo>
                  <a:pt x="0" y="869669"/>
                  <a:pt x="205137" y="1107440"/>
                  <a:pt x="476148" y="1158031"/>
                </a:cubicBezTo>
                <a:cubicBezTo>
                  <a:pt x="478496" y="1133852"/>
                  <a:pt x="479698" y="1109337"/>
                  <a:pt x="479698" y="1084541"/>
                </a:cubicBezTo>
                <a:close/>
              </a:path>
            </a:pathLst>
          </a:custGeom>
          <a:noFill/>
          <a:ln w="10429">
            <a:solidFill>
              <a:srgbClr val="F8F6F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1380" y="371475"/>
            <a:ext cx="696125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3100" b="1">
                <a:solidFill>
                  <a:srgbClr val="1C1C1C"/>
                </a:solidFill>
                <a:latin typeface="Shantell Sans"/>
              </a:rPr>
              <a:t>Risk Governance Framework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2224194" y="1247312"/>
            <a:ext cx="743664" cy="333659"/>
            <a:chOff x="2224194" y="1247312"/>
            <a:chExt cx="743664" cy="333659"/>
          </a:xfrm>
        </p:grpSpPr>
        <p:sp>
          <p:nvSpPr>
            <p:cNvPr id="11" name="TextBox 10"/>
            <p:cNvSpPr txBox="1"/>
            <p:nvPr/>
          </p:nvSpPr>
          <p:spPr>
            <a:xfrm>
              <a:off x="2112645" y="1247312"/>
              <a:ext cx="855213" cy="1667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1000" b="1">
                  <a:solidFill>
                    <a:srgbClr val="1C1C1C"/>
                  </a:solidFill>
                  <a:latin typeface="Shantell Sans"/>
                </a:rPr>
                <a:t>Ethical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112645" y="1414094"/>
              <a:ext cx="855213" cy="1668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1000" b="1">
                  <a:solidFill>
                    <a:srgbClr val="1C1C1C"/>
                  </a:solidFill>
                  <a:latin typeface="Shantell Sans"/>
                </a:rPr>
                <a:t>Mandates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6176141" y="1184744"/>
            <a:ext cx="748541" cy="333659"/>
            <a:chOff x="6176141" y="1184744"/>
            <a:chExt cx="748541" cy="333659"/>
          </a:xfrm>
        </p:grpSpPr>
        <p:sp>
          <p:nvSpPr>
            <p:cNvPr id="14" name="TextBox 13"/>
            <p:cNvSpPr txBox="1"/>
            <p:nvPr/>
          </p:nvSpPr>
          <p:spPr>
            <a:xfrm>
              <a:off x="6176141" y="1184744"/>
              <a:ext cx="860822" cy="1667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000" b="1">
                  <a:solidFill>
                    <a:srgbClr val="1C1C1C"/>
                  </a:solidFill>
                  <a:latin typeface="Shantell Sans"/>
                </a:rPr>
                <a:t>Strategic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176141" y="1351526"/>
              <a:ext cx="860822" cy="1668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000" b="1">
                  <a:solidFill>
                    <a:srgbClr val="1C1C1C"/>
                  </a:solidFill>
                  <a:latin typeface="Shantell Sans"/>
                </a:rPr>
                <a:t>Alignment</a:t>
              </a:r>
            </a:p>
          </p:txBody>
        </p:sp>
      </p:grpSp>
      <p:sp>
        <p:nvSpPr>
          <p:cNvPr id="17" name="Rounded Rectangle 16"/>
          <p:cNvSpPr/>
          <p:nvPr/>
        </p:nvSpPr>
        <p:spPr>
          <a:xfrm>
            <a:off x="3404037" y="1601841"/>
            <a:ext cx="319531" cy="322860"/>
          </a:xfrm>
          <a:custGeom>
            <a:avLst/>
            <a:gdLst/>
            <a:ahLst/>
            <a:cxnLst/>
            <a:rect l="0" t="0" r="0" b="0"/>
            <a:pathLst>
              <a:path w="319531" h="322860">
                <a:moveTo>
                  <a:pt x="233328" y="313708"/>
                </a:moveTo>
                <a:cubicBezTo>
                  <a:pt x="234034" y="315829"/>
                  <a:pt x="233677" y="318161"/>
                  <a:pt x="232369" y="319974"/>
                </a:cubicBezTo>
                <a:cubicBezTo>
                  <a:pt x="231060" y="321787"/>
                  <a:pt x="228959" y="322860"/>
                  <a:pt x="226723" y="322857"/>
                </a:cubicBezTo>
                <a:lnTo>
                  <a:pt x="106979" y="322857"/>
                </a:lnTo>
                <a:cubicBezTo>
                  <a:pt x="104743" y="322860"/>
                  <a:pt x="102642" y="321787"/>
                  <a:pt x="101334" y="319974"/>
                </a:cubicBezTo>
                <a:cubicBezTo>
                  <a:pt x="100025" y="318161"/>
                  <a:pt x="99668" y="315829"/>
                  <a:pt x="100375" y="313708"/>
                </a:cubicBezTo>
                <a:lnTo>
                  <a:pt x="106840" y="294339"/>
                </a:lnTo>
                <a:cubicBezTo>
                  <a:pt x="109466" y="286463"/>
                  <a:pt x="116836" y="281149"/>
                  <a:pt x="125138" y="281144"/>
                </a:cubicBezTo>
                <a:lnTo>
                  <a:pt x="208564" y="281144"/>
                </a:lnTo>
                <a:cubicBezTo>
                  <a:pt x="216867" y="281149"/>
                  <a:pt x="224236" y="286463"/>
                  <a:pt x="226862" y="294339"/>
                </a:cubicBezTo>
                <a:close/>
                <a:moveTo>
                  <a:pt x="194660" y="281144"/>
                </a:moveTo>
                <a:lnTo>
                  <a:pt x="139043" y="281144"/>
                </a:lnTo>
                <a:lnTo>
                  <a:pt x="139043" y="267240"/>
                </a:lnTo>
                <a:cubicBezTo>
                  <a:pt x="139043" y="251882"/>
                  <a:pt x="151493" y="239431"/>
                  <a:pt x="166851" y="239431"/>
                </a:cubicBezTo>
                <a:cubicBezTo>
                  <a:pt x="182210" y="239431"/>
                  <a:pt x="194660" y="251882"/>
                  <a:pt x="194660" y="267240"/>
                </a:cubicBezTo>
                <a:close/>
                <a:moveTo>
                  <a:pt x="0" y="0"/>
                </a:moveTo>
                <a:moveTo>
                  <a:pt x="166851" y="239431"/>
                </a:moveTo>
                <a:lnTo>
                  <a:pt x="166851" y="72580"/>
                </a:lnTo>
                <a:moveTo>
                  <a:pt x="187708" y="51723"/>
                </a:moveTo>
                <a:cubicBezTo>
                  <a:pt x="187708" y="63242"/>
                  <a:pt x="178370" y="72580"/>
                  <a:pt x="166851" y="72580"/>
                </a:cubicBezTo>
                <a:cubicBezTo>
                  <a:pt x="155333" y="72580"/>
                  <a:pt x="145995" y="63242"/>
                  <a:pt x="145995" y="51723"/>
                </a:cubicBezTo>
                <a:cubicBezTo>
                  <a:pt x="148954" y="38668"/>
                  <a:pt x="153907" y="26147"/>
                  <a:pt x="160678" y="14599"/>
                </a:cubicBezTo>
                <a:cubicBezTo>
                  <a:pt x="161872" y="12292"/>
                  <a:pt x="164253" y="10844"/>
                  <a:pt x="166851" y="10844"/>
                </a:cubicBezTo>
                <a:cubicBezTo>
                  <a:pt x="169449" y="10844"/>
                  <a:pt x="171830" y="12292"/>
                  <a:pt x="173025" y="14599"/>
                </a:cubicBezTo>
                <a:cubicBezTo>
                  <a:pt x="179805" y="26142"/>
                  <a:pt x="184758" y="38665"/>
                  <a:pt x="187708" y="51723"/>
                </a:cubicBezTo>
                <a:close/>
                <a:moveTo>
                  <a:pt x="0" y="0"/>
                </a:moveTo>
                <a:moveTo>
                  <a:pt x="41712" y="100388"/>
                </a:moveTo>
                <a:lnTo>
                  <a:pt x="291990" y="100388"/>
                </a:lnTo>
                <a:moveTo>
                  <a:pt x="0" y="0"/>
                </a:moveTo>
                <a:moveTo>
                  <a:pt x="69521" y="100388"/>
                </a:moveTo>
                <a:lnTo>
                  <a:pt x="69521" y="169910"/>
                </a:lnTo>
                <a:moveTo>
                  <a:pt x="117686" y="169910"/>
                </a:moveTo>
                <a:cubicBezTo>
                  <a:pt x="119714" y="169889"/>
                  <a:pt x="121650" y="170756"/>
                  <a:pt x="122986" y="172282"/>
                </a:cubicBezTo>
                <a:cubicBezTo>
                  <a:pt x="124323" y="173808"/>
                  <a:pt x="124926" y="175841"/>
                  <a:pt x="124638" y="177849"/>
                </a:cubicBezTo>
                <a:cubicBezTo>
                  <a:pt x="120732" y="205258"/>
                  <a:pt x="97262" y="225621"/>
                  <a:pt x="69577" y="225621"/>
                </a:cubicBezTo>
                <a:cubicBezTo>
                  <a:pt x="41891" y="225621"/>
                  <a:pt x="18421" y="205258"/>
                  <a:pt x="14516" y="177849"/>
                </a:cubicBezTo>
                <a:cubicBezTo>
                  <a:pt x="14227" y="175841"/>
                  <a:pt x="14831" y="173808"/>
                  <a:pt x="16167" y="172282"/>
                </a:cubicBezTo>
                <a:cubicBezTo>
                  <a:pt x="17503" y="170756"/>
                  <a:pt x="19439" y="169889"/>
                  <a:pt x="21468" y="169910"/>
                </a:cubicBezTo>
                <a:close/>
                <a:moveTo>
                  <a:pt x="0" y="0"/>
                </a:moveTo>
                <a:moveTo>
                  <a:pt x="264181" y="100388"/>
                </a:moveTo>
                <a:lnTo>
                  <a:pt x="264181" y="169910"/>
                </a:lnTo>
                <a:moveTo>
                  <a:pt x="212624" y="169910"/>
                </a:moveTo>
                <a:cubicBezTo>
                  <a:pt x="211543" y="169916"/>
                  <a:pt x="210512" y="170366"/>
                  <a:pt x="209773" y="171155"/>
                </a:cubicBezTo>
                <a:cubicBezTo>
                  <a:pt x="209034" y="171944"/>
                  <a:pt x="208652" y="173002"/>
                  <a:pt x="208717" y="174081"/>
                </a:cubicBezTo>
                <a:cubicBezTo>
                  <a:pt x="210821" y="202402"/>
                  <a:pt x="233924" y="224590"/>
                  <a:pt x="262307" y="225546"/>
                </a:cubicBezTo>
                <a:cubicBezTo>
                  <a:pt x="290691" y="226503"/>
                  <a:pt x="315236" y="205923"/>
                  <a:pt x="319242" y="177808"/>
                </a:cubicBezTo>
                <a:cubicBezTo>
                  <a:pt x="319531" y="175800"/>
                  <a:pt x="318927" y="173766"/>
                  <a:pt x="317591" y="172240"/>
                </a:cubicBezTo>
                <a:cubicBezTo>
                  <a:pt x="316255" y="170714"/>
                  <a:pt x="314319" y="169848"/>
                  <a:pt x="312290" y="169868"/>
                </a:cubicBezTo>
                <a:close/>
              </a:path>
            </a:pathLst>
          </a:custGeom>
          <a:noFill/>
          <a:ln w="10429">
            <a:solidFill>
              <a:srgbClr val="1C1C1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406258" y="1601841"/>
            <a:ext cx="310543" cy="323274"/>
          </a:xfrm>
          <a:custGeom>
            <a:avLst/>
            <a:gdLst/>
            <a:ahLst/>
            <a:cxnLst/>
            <a:rect l="0" t="0" r="0" b="0"/>
            <a:pathLst>
              <a:path w="310543" h="323274">
                <a:moveTo>
                  <a:pt x="65007" y="323274"/>
                </a:moveTo>
                <a:lnTo>
                  <a:pt x="65007" y="236164"/>
                </a:lnTo>
                <a:cubicBezTo>
                  <a:pt x="45795" y="218365"/>
                  <a:pt x="32396" y="195186"/>
                  <a:pt x="26560" y="169655"/>
                </a:cubicBezTo>
                <a:cubicBezTo>
                  <a:pt x="20725" y="144124"/>
                  <a:pt x="22723" y="117426"/>
                  <a:pt x="32296" y="93048"/>
                </a:cubicBezTo>
                <a:cubicBezTo>
                  <a:pt x="41868" y="68670"/>
                  <a:pt x="58569" y="47745"/>
                  <a:pt x="80218" y="33006"/>
                </a:cubicBezTo>
                <a:cubicBezTo>
                  <a:pt x="101867" y="18267"/>
                  <a:pt x="127457" y="10398"/>
                  <a:pt x="153648" y="10428"/>
                </a:cubicBezTo>
                <a:cubicBezTo>
                  <a:pt x="252911" y="10428"/>
                  <a:pt x="274337" y="92157"/>
                  <a:pt x="309724" y="183953"/>
                </a:cubicBezTo>
                <a:cubicBezTo>
                  <a:pt x="310330" y="185534"/>
                  <a:pt x="310543" y="187237"/>
                  <a:pt x="310344" y="188918"/>
                </a:cubicBezTo>
                <a:cubicBezTo>
                  <a:pt x="310145" y="190599"/>
                  <a:pt x="309541" y="192207"/>
                  <a:pt x="308583" y="193603"/>
                </a:cubicBezTo>
                <a:cubicBezTo>
                  <a:pt x="307625" y="194997"/>
                  <a:pt x="306343" y="196139"/>
                  <a:pt x="304846" y="196929"/>
                </a:cubicBezTo>
                <a:cubicBezTo>
                  <a:pt x="303348" y="197718"/>
                  <a:pt x="301683" y="198133"/>
                  <a:pt x="299991" y="198136"/>
                </a:cubicBezTo>
                <a:lnTo>
                  <a:pt x="273572" y="198136"/>
                </a:lnTo>
                <a:lnTo>
                  <a:pt x="273572" y="239848"/>
                </a:lnTo>
                <a:cubicBezTo>
                  <a:pt x="273572" y="250912"/>
                  <a:pt x="269177" y="261521"/>
                  <a:pt x="261355" y="269344"/>
                </a:cubicBezTo>
                <a:cubicBezTo>
                  <a:pt x="253532" y="277166"/>
                  <a:pt x="242922" y="281561"/>
                  <a:pt x="231859" y="281561"/>
                </a:cubicBezTo>
                <a:lnTo>
                  <a:pt x="211003" y="281561"/>
                </a:lnTo>
                <a:lnTo>
                  <a:pt x="211003" y="323274"/>
                </a:lnTo>
                <a:moveTo>
                  <a:pt x="154675" y="210788"/>
                </a:moveTo>
                <a:cubicBezTo>
                  <a:pt x="114987" y="210788"/>
                  <a:pt x="82814" y="178615"/>
                  <a:pt x="82814" y="138927"/>
                </a:cubicBezTo>
                <a:cubicBezTo>
                  <a:pt x="82814" y="99240"/>
                  <a:pt x="114987" y="67067"/>
                  <a:pt x="154675" y="67067"/>
                </a:cubicBezTo>
                <a:cubicBezTo>
                  <a:pt x="194362" y="67067"/>
                  <a:pt x="226535" y="99240"/>
                  <a:pt x="226535" y="138927"/>
                </a:cubicBezTo>
                <a:cubicBezTo>
                  <a:pt x="226535" y="178615"/>
                  <a:pt x="194362" y="210788"/>
                  <a:pt x="154675" y="210788"/>
                </a:cubicBezTo>
                <a:close/>
                <a:moveTo>
                  <a:pt x="154677" y="153041"/>
                </a:moveTo>
                <a:cubicBezTo>
                  <a:pt x="146882" y="153041"/>
                  <a:pt x="140564" y="146722"/>
                  <a:pt x="140564" y="138927"/>
                </a:cubicBezTo>
                <a:cubicBezTo>
                  <a:pt x="140564" y="131133"/>
                  <a:pt x="146882" y="124814"/>
                  <a:pt x="154677" y="124814"/>
                </a:cubicBezTo>
                <a:cubicBezTo>
                  <a:pt x="162471" y="124814"/>
                  <a:pt x="168789" y="131133"/>
                  <a:pt x="168789" y="138927"/>
                </a:cubicBezTo>
                <a:cubicBezTo>
                  <a:pt x="168789" y="146722"/>
                  <a:pt x="162471" y="153041"/>
                  <a:pt x="154677" y="153041"/>
                </a:cubicBezTo>
                <a:close/>
                <a:moveTo>
                  <a:pt x="154671" y="82821"/>
                </a:moveTo>
                <a:lnTo>
                  <a:pt x="154671" y="51311"/>
                </a:lnTo>
                <a:moveTo>
                  <a:pt x="0" y="0"/>
                </a:moveTo>
                <a:moveTo>
                  <a:pt x="242286" y="138927"/>
                </a:moveTo>
                <a:lnTo>
                  <a:pt x="210776" y="138927"/>
                </a:lnTo>
                <a:moveTo>
                  <a:pt x="154671" y="226543"/>
                </a:moveTo>
                <a:lnTo>
                  <a:pt x="154671" y="195034"/>
                </a:lnTo>
                <a:moveTo>
                  <a:pt x="0" y="0"/>
                </a:moveTo>
                <a:moveTo>
                  <a:pt x="98565" y="138927"/>
                </a:moveTo>
                <a:lnTo>
                  <a:pt x="67055" y="138927"/>
                </a:lnTo>
              </a:path>
            </a:pathLst>
          </a:custGeom>
          <a:noFill/>
          <a:ln w="10429">
            <a:solidFill>
              <a:srgbClr val="1C1C1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4" name="Group 23"/>
          <p:cNvGrpSpPr/>
          <p:nvPr/>
        </p:nvGrpSpPr>
        <p:grpSpPr>
          <a:xfrm>
            <a:off x="1840212" y="1664396"/>
            <a:ext cx="1127645" cy="625678"/>
            <a:chOff x="1840212" y="1664396"/>
            <a:chExt cx="1127645" cy="625678"/>
          </a:xfrm>
        </p:grpSpPr>
        <p:sp>
          <p:nvSpPr>
            <p:cNvPr id="19" name="TextBox 18"/>
            <p:cNvSpPr txBox="1"/>
            <p:nvPr/>
          </p:nvSpPr>
          <p:spPr>
            <a:xfrm>
              <a:off x="1671066" y="1664396"/>
              <a:ext cx="1296791" cy="125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700" b="0">
                  <a:solidFill>
                    <a:srgbClr val="1C1C1C"/>
                  </a:solidFill>
                  <a:latin typeface="Roboto"/>
                </a:rPr>
                <a:t>Ensures that risk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671066" y="1789460"/>
              <a:ext cx="1296791" cy="1251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700" b="0">
                  <a:solidFill>
                    <a:srgbClr val="1C1C1C"/>
                  </a:solidFill>
                  <a:latin typeface="Roboto"/>
                </a:rPr>
                <a:t>mitigation activities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671066" y="1914618"/>
              <a:ext cx="1296791" cy="1251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700" b="0">
                  <a:solidFill>
                    <a:srgbClr val="1C1C1C"/>
                  </a:solidFill>
                  <a:latin typeface="Roboto"/>
                </a:rPr>
                <a:t>adhere to established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671066" y="2039777"/>
              <a:ext cx="1296791" cy="1251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700" b="0">
                  <a:solidFill>
                    <a:srgbClr val="1C1C1C"/>
                  </a:solidFill>
                  <a:latin typeface="Roboto"/>
                </a:rPr>
                <a:t>ethical mandates and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671066" y="2164935"/>
              <a:ext cx="1296791" cy="1251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700" b="0">
                  <a:solidFill>
                    <a:srgbClr val="1C1C1C"/>
                  </a:solidFill>
                  <a:latin typeface="Roboto"/>
                </a:rPr>
                <a:t>regulatory requirements.</a:t>
              </a: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6176141" y="1601827"/>
            <a:ext cx="1099661" cy="750807"/>
            <a:chOff x="6176141" y="1601827"/>
            <a:chExt cx="1099661" cy="750807"/>
          </a:xfrm>
        </p:grpSpPr>
        <p:sp>
          <p:nvSpPr>
            <p:cNvPr id="25" name="TextBox 24"/>
            <p:cNvSpPr txBox="1"/>
            <p:nvPr/>
          </p:nvSpPr>
          <p:spPr>
            <a:xfrm>
              <a:off x="6176141" y="1601827"/>
              <a:ext cx="1264610" cy="125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1C1C1C"/>
                  </a:solidFill>
                  <a:latin typeface="Roboto"/>
                </a:rPr>
                <a:t>Ensures the systematic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6176141" y="1726890"/>
              <a:ext cx="1264610" cy="1251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1C1C1C"/>
                  </a:solidFill>
                  <a:latin typeface="Roboto"/>
                </a:rPr>
                <a:t>alignment of risk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176141" y="1852048"/>
              <a:ext cx="1264610" cy="1251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1C1C1C"/>
                  </a:solidFill>
                  <a:latin typeface="Roboto"/>
                </a:rPr>
                <a:t>management protocols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176141" y="1977207"/>
              <a:ext cx="1264610" cy="1251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1C1C1C"/>
                  </a:solidFill>
                  <a:latin typeface="Roboto"/>
                </a:rPr>
                <a:t>with the entity's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6176141" y="2102365"/>
              <a:ext cx="1264610" cy="125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1C1C1C"/>
                  </a:solidFill>
                  <a:latin typeface="Roboto"/>
                </a:rPr>
                <a:t>overarching strategic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176141" y="2227429"/>
              <a:ext cx="1264610" cy="1252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1C1C1C"/>
                  </a:solidFill>
                  <a:latin typeface="Roboto"/>
                </a:rPr>
                <a:t>objectives.</a:t>
              </a: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4136231" y="2310983"/>
            <a:ext cx="871537" cy="333659"/>
            <a:chOff x="4136231" y="2310983"/>
            <a:chExt cx="871537" cy="333659"/>
          </a:xfrm>
        </p:grpSpPr>
        <p:sp>
          <p:nvSpPr>
            <p:cNvPr id="32" name="TextBox 31"/>
            <p:cNvSpPr txBox="1"/>
            <p:nvPr/>
          </p:nvSpPr>
          <p:spPr>
            <a:xfrm>
              <a:off x="4070866" y="2310983"/>
              <a:ext cx="1002267" cy="1667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000" b="1">
                  <a:solidFill>
                    <a:srgbClr val="1C1C1C"/>
                  </a:solidFill>
                  <a:latin typeface="Shantell Sans"/>
                </a:rPr>
                <a:t>Risk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070866" y="2477765"/>
              <a:ext cx="1002267" cy="1668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000" b="1">
                  <a:solidFill>
                    <a:srgbClr val="1C1C1C"/>
                  </a:solidFill>
                  <a:latin typeface="Shantell Sans"/>
                </a:rPr>
                <a:t>Governance</a:t>
              </a:r>
            </a:p>
          </p:txBody>
        </p:sp>
      </p:grpSp>
      <p:sp>
        <p:nvSpPr>
          <p:cNvPr id="35" name="Rounded Rectangle 34"/>
          <p:cNvSpPr/>
          <p:nvPr/>
        </p:nvSpPr>
        <p:spPr>
          <a:xfrm>
            <a:off x="4405148" y="3395497"/>
            <a:ext cx="323275" cy="317714"/>
          </a:xfrm>
          <a:custGeom>
            <a:avLst/>
            <a:gdLst/>
            <a:ahLst/>
            <a:cxnLst/>
            <a:rect l="0" t="0" r="0" b="0"/>
            <a:pathLst>
              <a:path w="323275" h="317714">
                <a:moveTo>
                  <a:pt x="295466" y="142519"/>
                </a:moveTo>
                <a:lnTo>
                  <a:pt x="295466" y="66045"/>
                </a:lnTo>
                <a:moveTo>
                  <a:pt x="295466" y="66045"/>
                </a:moveTo>
                <a:cubicBezTo>
                  <a:pt x="310825" y="66045"/>
                  <a:pt x="323275" y="53595"/>
                  <a:pt x="323275" y="38236"/>
                </a:cubicBezTo>
                <a:cubicBezTo>
                  <a:pt x="323275" y="22878"/>
                  <a:pt x="310825" y="10428"/>
                  <a:pt x="295466" y="10428"/>
                </a:cubicBezTo>
                <a:cubicBezTo>
                  <a:pt x="280107" y="10428"/>
                  <a:pt x="267658" y="22878"/>
                  <a:pt x="267658" y="38236"/>
                </a:cubicBezTo>
                <a:cubicBezTo>
                  <a:pt x="267658" y="53595"/>
                  <a:pt x="280107" y="66045"/>
                  <a:pt x="295466" y="66045"/>
                </a:cubicBezTo>
                <a:close/>
                <a:moveTo>
                  <a:pt x="10428" y="292686"/>
                </a:moveTo>
                <a:cubicBezTo>
                  <a:pt x="10428" y="206479"/>
                  <a:pt x="80259" y="136957"/>
                  <a:pt x="166851" y="136957"/>
                </a:cubicBezTo>
                <a:cubicBezTo>
                  <a:pt x="253443" y="136957"/>
                  <a:pt x="323275" y="206479"/>
                  <a:pt x="323275" y="292686"/>
                </a:cubicBezTo>
                <a:moveTo>
                  <a:pt x="166851" y="317714"/>
                </a:moveTo>
                <a:cubicBezTo>
                  <a:pt x="178370" y="317714"/>
                  <a:pt x="187708" y="308375"/>
                  <a:pt x="187708" y="296857"/>
                </a:cubicBezTo>
                <a:cubicBezTo>
                  <a:pt x="187708" y="285337"/>
                  <a:pt x="178370" y="276001"/>
                  <a:pt x="166851" y="276001"/>
                </a:cubicBezTo>
                <a:cubicBezTo>
                  <a:pt x="155333" y="276001"/>
                  <a:pt x="145995" y="285337"/>
                  <a:pt x="145995" y="296857"/>
                </a:cubicBezTo>
                <a:cubicBezTo>
                  <a:pt x="145995" y="308375"/>
                  <a:pt x="155333" y="317714"/>
                  <a:pt x="166851" y="317714"/>
                </a:cubicBezTo>
                <a:close/>
                <a:moveTo>
                  <a:pt x="0" y="0"/>
                </a:moveTo>
                <a:moveTo>
                  <a:pt x="159204" y="277391"/>
                </a:moveTo>
                <a:lnTo>
                  <a:pt x="127224" y="188403"/>
                </a:lnTo>
                <a:moveTo>
                  <a:pt x="0" y="0"/>
                </a:moveTo>
                <a:moveTo>
                  <a:pt x="206479" y="188403"/>
                </a:moveTo>
                <a:lnTo>
                  <a:pt x="199526" y="207869"/>
                </a:lnTo>
                <a:moveTo>
                  <a:pt x="0" y="0"/>
                </a:moveTo>
                <a:moveTo>
                  <a:pt x="266962" y="239849"/>
                </a:moveTo>
                <a:lnTo>
                  <a:pt x="246106" y="252363"/>
                </a:lnTo>
                <a:moveTo>
                  <a:pt x="0" y="0"/>
                </a:moveTo>
                <a:moveTo>
                  <a:pt x="87597" y="252363"/>
                </a:moveTo>
                <a:lnTo>
                  <a:pt x="66740" y="239849"/>
                </a:lnTo>
                <a:moveTo>
                  <a:pt x="0" y="0"/>
                </a:moveTo>
                <a:moveTo>
                  <a:pt x="280867" y="316323"/>
                </a:moveTo>
                <a:lnTo>
                  <a:pt x="260010" y="313542"/>
                </a:lnTo>
                <a:moveTo>
                  <a:pt x="0" y="0"/>
                </a:moveTo>
                <a:moveTo>
                  <a:pt x="52836" y="316323"/>
                </a:moveTo>
                <a:lnTo>
                  <a:pt x="73692" y="313542"/>
                </a:lnTo>
              </a:path>
            </a:pathLst>
          </a:custGeom>
          <a:noFill/>
          <a:ln w="10429">
            <a:solidFill>
              <a:srgbClr val="1C1C1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011508" y="4146326"/>
            <a:ext cx="1121521" cy="16684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000" b="1">
                <a:solidFill>
                  <a:srgbClr val="1C1C1C"/>
                </a:solidFill>
                <a:latin typeface="Shantell Sans"/>
              </a:rPr>
              <a:t>Risk Appetite</a:t>
            </a:r>
          </a:p>
        </p:txBody>
      </p:sp>
      <p:grpSp>
        <p:nvGrpSpPr>
          <p:cNvPr id="42" name="Group 41"/>
          <p:cNvGrpSpPr/>
          <p:nvPr/>
        </p:nvGrpSpPr>
        <p:grpSpPr>
          <a:xfrm>
            <a:off x="4005821" y="4396608"/>
            <a:ext cx="1132884" cy="625677"/>
            <a:chOff x="4005821" y="4396608"/>
            <a:chExt cx="1132884" cy="625677"/>
          </a:xfrm>
        </p:grpSpPr>
        <p:sp>
          <p:nvSpPr>
            <p:cNvPr id="37" name="TextBox 36"/>
            <p:cNvSpPr txBox="1"/>
            <p:nvPr/>
          </p:nvSpPr>
          <p:spPr>
            <a:xfrm>
              <a:off x="3920855" y="4396608"/>
              <a:ext cx="1302816" cy="125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1C1C1C"/>
                  </a:solidFill>
                  <a:latin typeface="Roboto"/>
                </a:rPr>
                <a:t>Articulates the threshold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3920855" y="4521671"/>
              <a:ext cx="1302816" cy="1251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1C1C1C"/>
                  </a:solidFill>
                  <a:latin typeface="Roboto"/>
                </a:rPr>
                <a:t>of risk exposure an or-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3920855" y="4646829"/>
              <a:ext cx="1302816" cy="1251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1C1C1C"/>
                  </a:solidFill>
                  <a:latin typeface="Roboto"/>
                </a:rPr>
                <a:t>ganization is prepared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3920855" y="4771988"/>
              <a:ext cx="1302816" cy="1251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1C1C1C"/>
                  </a:solidFill>
                  <a:latin typeface="Roboto"/>
                </a:rPr>
                <a:t>to assume in pursuit of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3920855" y="4897146"/>
              <a:ext cx="1302816" cy="1251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1C1C1C"/>
                  </a:solidFill>
                  <a:latin typeface="Roboto"/>
                </a:rPr>
                <a:t>value.</a:t>
              </a:r>
            </a:p>
          </p:txBody>
        </p:sp>
      </p:grpSp>
      <p:sp>
        <p:nvSpPr>
          <p:cNvPr id="43" name="Rounded Rectangle 42"/>
          <p:cNvSpPr/>
          <p:nvPr/>
        </p:nvSpPr>
        <p:spPr>
          <a:xfrm>
            <a:off x="7886700" y="4829136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9F8A4A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160026" y="2169111"/>
            <a:ext cx="791660" cy="876671"/>
          </a:xfrm>
          <a:custGeom>
            <a:avLst/>
            <a:gdLst/>
            <a:ahLst/>
            <a:cxnLst/>
            <a:rect l="0" t="0" r="0" b="0"/>
            <a:pathLst>
              <a:path w="791660" h="876671">
                <a:moveTo>
                  <a:pt x="265414" y="63931"/>
                </a:moveTo>
                <a:cubicBezTo>
                  <a:pt x="297446" y="22840"/>
                  <a:pt x="315753" y="0"/>
                  <a:pt x="347786" y="4562"/>
                </a:cubicBezTo>
                <a:cubicBezTo>
                  <a:pt x="379818" y="9134"/>
                  <a:pt x="398116" y="31965"/>
                  <a:pt x="420995" y="41090"/>
                </a:cubicBezTo>
                <a:cubicBezTo>
                  <a:pt x="443884" y="50225"/>
                  <a:pt x="462181" y="68494"/>
                  <a:pt x="535400" y="63931"/>
                </a:cubicBezTo>
                <a:cubicBezTo>
                  <a:pt x="608618" y="59359"/>
                  <a:pt x="581158" y="95897"/>
                  <a:pt x="576586" y="105022"/>
                </a:cubicBezTo>
                <a:cubicBezTo>
                  <a:pt x="571995" y="114166"/>
                  <a:pt x="521665" y="168944"/>
                  <a:pt x="480488" y="196338"/>
                </a:cubicBezTo>
                <a:cubicBezTo>
                  <a:pt x="478259" y="197824"/>
                  <a:pt x="476221" y="199358"/>
                  <a:pt x="474392" y="200910"/>
                </a:cubicBezTo>
                <a:cubicBezTo>
                  <a:pt x="494214" y="200910"/>
                  <a:pt x="517093" y="210035"/>
                  <a:pt x="517093" y="228304"/>
                </a:cubicBezTo>
                <a:cubicBezTo>
                  <a:pt x="517093" y="242001"/>
                  <a:pt x="506768" y="254079"/>
                  <a:pt x="492499" y="255555"/>
                </a:cubicBezTo>
                <a:cubicBezTo>
                  <a:pt x="509177" y="272167"/>
                  <a:pt x="530437" y="295579"/>
                  <a:pt x="562860" y="333317"/>
                </a:cubicBezTo>
                <a:cubicBezTo>
                  <a:pt x="639708" y="422786"/>
                  <a:pt x="698411" y="513978"/>
                  <a:pt x="736749" y="598141"/>
                </a:cubicBezTo>
                <a:cubicBezTo>
                  <a:pt x="759628" y="648366"/>
                  <a:pt x="791660" y="716861"/>
                  <a:pt x="791660" y="789908"/>
                </a:cubicBezTo>
                <a:cubicBezTo>
                  <a:pt x="791660" y="834351"/>
                  <a:pt x="776411" y="866012"/>
                  <a:pt x="773353" y="876671"/>
                </a:cubicBezTo>
                <a:lnTo>
                  <a:pt x="0" y="876671"/>
                </a:lnTo>
                <a:lnTo>
                  <a:pt x="6105" y="848791"/>
                </a:lnTo>
                <a:cubicBezTo>
                  <a:pt x="21469" y="778497"/>
                  <a:pt x="46329" y="670626"/>
                  <a:pt x="114404" y="506825"/>
                </a:cubicBezTo>
                <a:cubicBezTo>
                  <a:pt x="183041" y="360721"/>
                  <a:pt x="215074" y="315058"/>
                  <a:pt x="260832" y="255698"/>
                </a:cubicBezTo>
                <a:cubicBezTo>
                  <a:pt x="260756" y="255679"/>
                  <a:pt x="233381" y="251098"/>
                  <a:pt x="233381" y="228304"/>
                </a:cubicBezTo>
                <a:cubicBezTo>
                  <a:pt x="233381" y="214636"/>
                  <a:pt x="243373" y="207159"/>
                  <a:pt x="243430" y="207121"/>
                </a:cubicBezTo>
                <a:cubicBezTo>
                  <a:pt x="217074" y="188185"/>
                  <a:pt x="189595" y="166230"/>
                  <a:pt x="178469" y="150675"/>
                </a:cubicBezTo>
                <a:cubicBezTo>
                  <a:pt x="155590" y="118719"/>
                  <a:pt x="173888" y="105022"/>
                  <a:pt x="178469" y="105022"/>
                </a:cubicBezTo>
                <a:cubicBezTo>
                  <a:pt x="183041" y="105022"/>
                  <a:pt x="233381" y="105022"/>
                  <a:pt x="265414" y="63931"/>
                </a:cubicBezTo>
              </a:path>
            </a:pathLst>
          </a:custGeom>
          <a:solidFill>
            <a:srgbClr val="FB7F1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160026" y="2169114"/>
            <a:ext cx="791662" cy="876663"/>
          </a:xfrm>
          <a:custGeom>
            <a:avLst/>
            <a:gdLst/>
            <a:ahLst/>
            <a:cxnLst/>
            <a:rect l="0" t="0" r="0" b="0"/>
            <a:pathLst>
              <a:path w="791662" h="876663">
                <a:moveTo>
                  <a:pt x="114402" y="506820"/>
                </a:moveTo>
                <a:cubicBezTo>
                  <a:pt x="36608" y="694024"/>
                  <a:pt x="15253" y="808174"/>
                  <a:pt x="0" y="876663"/>
                </a:cubicBezTo>
                <a:lnTo>
                  <a:pt x="773358" y="876662"/>
                </a:lnTo>
                <a:cubicBezTo>
                  <a:pt x="776408" y="866008"/>
                  <a:pt x="791662" y="834346"/>
                  <a:pt x="791662" y="789909"/>
                </a:cubicBezTo>
                <a:cubicBezTo>
                  <a:pt x="791662" y="716853"/>
                  <a:pt x="759629" y="648364"/>
                  <a:pt x="736749" y="598139"/>
                </a:cubicBezTo>
                <a:cubicBezTo>
                  <a:pt x="698407" y="513972"/>
                  <a:pt x="639713" y="422778"/>
                  <a:pt x="562858" y="333313"/>
                </a:cubicBezTo>
                <a:cubicBezTo>
                  <a:pt x="530436" y="295572"/>
                  <a:pt x="509181" y="272156"/>
                  <a:pt x="492500" y="255545"/>
                </a:cubicBezTo>
                <a:cubicBezTo>
                  <a:pt x="506770" y="254073"/>
                  <a:pt x="517097" y="241994"/>
                  <a:pt x="517097" y="228297"/>
                </a:cubicBezTo>
                <a:cubicBezTo>
                  <a:pt x="517097" y="210032"/>
                  <a:pt x="494217" y="200901"/>
                  <a:pt x="474394" y="200902"/>
                </a:cubicBezTo>
                <a:cubicBezTo>
                  <a:pt x="476227" y="199350"/>
                  <a:pt x="478255" y="197820"/>
                  <a:pt x="480488" y="196335"/>
                </a:cubicBezTo>
                <a:cubicBezTo>
                  <a:pt x="521673" y="168938"/>
                  <a:pt x="572010" y="114147"/>
                  <a:pt x="576586" y="105016"/>
                </a:cubicBezTo>
                <a:cubicBezTo>
                  <a:pt x="581162" y="95885"/>
                  <a:pt x="608619" y="59356"/>
                  <a:pt x="535401" y="63923"/>
                </a:cubicBezTo>
                <a:cubicBezTo>
                  <a:pt x="462184" y="68490"/>
                  <a:pt x="443880" y="50224"/>
                  <a:pt x="420999" y="41092"/>
                </a:cubicBezTo>
                <a:cubicBezTo>
                  <a:pt x="398119" y="31960"/>
                  <a:pt x="379814" y="9131"/>
                  <a:pt x="347782" y="4566"/>
                </a:cubicBezTo>
                <a:cubicBezTo>
                  <a:pt x="315749" y="0"/>
                  <a:pt x="297445" y="22829"/>
                  <a:pt x="265412" y="63923"/>
                </a:cubicBezTo>
                <a:cubicBezTo>
                  <a:pt x="233380" y="105016"/>
                  <a:pt x="183043" y="105016"/>
                  <a:pt x="178467" y="105016"/>
                </a:cubicBezTo>
                <a:cubicBezTo>
                  <a:pt x="173891" y="105016"/>
                  <a:pt x="155586" y="118714"/>
                  <a:pt x="178467" y="150675"/>
                </a:cubicBezTo>
                <a:cubicBezTo>
                  <a:pt x="189596" y="166221"/>
                  <a:pt x="217076" y="188181"/>
                  <a:pt x="243424" y="207113"/>
                </a:cubicBezTo>
                <a:cubicBezTo>
                  <a:pt x="243424" y="207113"/>
                  <a:pt x="233380" y="214598"/>
                  <a:pt x="233380" y="228297"/>
                </a:cubicBezTo>
                <a:cubicBezTo>
                  <a:pt x="233380" y="251126"/>
                  <a:pt x="260836" y="255693"/>
                  <a:pt x="260836" y="255693"/>
                </a:cubicBezTo>
                <a:cubicBezTo>
                  <a:pt x="215075" y="315050"/>
                  <a:pt x="183043" y="360709"/>
                  <a:pt x="114402" y="506820"/>
                </a:cubicBezTo>
                <a:close/>
                <a:moveTo>
                  <a:pt x="233380" y="228297"/>
                </a:moveTo>
                <a:cubicBezTo>
                  <a:pt x="233380" y="219164"/>
                  <a:pt x="237292" y="212138"/>
                  <a:pt x="243424" y="207113"/>
                </a:cubicBezTo>
                <a:cubicBezTo>
                  <a:pt x="248163" y="203232"/>
                  <a:pt x="254227" y="200901"/>
                  <a:pt x="260836" y="200901"/>
                </a:cubicBezTo>
                <a:lnTo>
                  <a:pt x="474394" y="200902"/>
                </a:lnTo>
                <a:cubicBezTo>
                  <a:pt x="498793" y="200901"/>
                  <a:pt x="517097" y="213166"/>
                  <a:pt x="517097" y="228297"/>
                </a:cubicBezTo>
                <a:cubicBezTo>
                  <a:pt x="517097" y="242463"/>
                  <a:pt x="506320" y="254119"/>
                  <a:pt x="492500" y="255545"/>
                </a:cubicBezTo>
                <a:cubicBezTo>
                  <a:pt x="491560" y="255642"/>
                  <a:pt x="490606" y="255692"/>
                  <a:pt x="489641" y="255692"/>
                </a:cubicBezTo>
                <a:lnTo>
                  <a:pt x="260836" y="255693"/>
                </a:lnTo>
                <a:cubicBezTo>
                  <a:pt x="260836" y="255693"/>
                  <a:pt x="233380" y="251126"/>
                  <a:pt x="233380" y="228297"/>
                </a:cubicBezTo>
                <a:close/>
              </a:path>
            </a:pathLst>
          </a:custGeom>
          <a:noFill/>
          <a:ln w="13730">
            <a:solidFill>
              <a:srgbClr val="F8F6F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219766" y="2167108"/>
            <a:ext cx="791660" cy="878671"/>
          </a:xfrm>
          <a:custGeom>
            <a:avLst/>
            <a:gdLst/>
            <a:ahLst/>
            <a:cxnLst/>
            <a:rect l="0" t="0" r="0" b="0"/>
            <a:pathLst>
              <a:path w="791660" h="878671">
                <a:moveTo>
                  <a:pt x="265414" y="64065"/>
                </a:moveTo>
                <a:cubicBezTo>
                  <a:pt x="297446" y="22879"/>
                  <a:pt x="315753" y="0"/>
                  <a:pt x="347786" y="4581"/>
                </a:cubicBezTo>
                <a:cubicBezTo>
                  <a:pt x="379818" y="9153"/>
                  <a:pt x="398116" y="32032"/>
                  <a:pt x="420995" y="41186"/>
                </a:cubicBezTo>
                <a:cubicBezTo>
                  <a:pt x="443884" y="50339"/>
                  <a:pt x="462181" y="68646"/>
                  <a:pt x="535400" y="64065"/>
                </a:cubicBezTo>
                <a:cubicBezTo>
                  <a:pt x="608609" y="59493"/>
                  <a:pt x="581167" y="96097"/>
                  <a:pt x="576586" y="105251"/>
                </a:cubicBezTo>
                <a:cubicBezTo>
                  <a:pt x="572014" y="114404"/>
                  <a:pt x="521674" y="169325"/>
                  <a:pt x="480488" y="196786"/>
                </a:cubicBezTo>
                <a:cubicBezTo>
                  <a:pt x="478259" y="198272"/>
                  <a:pt x="476221" y="199805"/>
                  <a:pt x="474392" y="201358"/>
                </a:cubicBezTo>
                <a:cubicBezTo>
                  <a:pt x="494214" y="201358"/>
                  <a:pt x="517093" y="210521"/>
                  <a:pt x="517093" y="228828"/>
                </a:cubicBezTo>
                <a:cubicBezTo>
                  <a:pt x="517093" y="242554"/>
                  <a:pt x="506768" y="254650"/>
                  <a:pt x="492499" y="256127"/>
                </a:cubicBezTo>
                <a:cubicBezTo>
                  <a:pt x="509187" y="272776"/>
                  <a:pt x="530437" y="296246"/>
                  <a:pt x="562860" y="334079"/>
                </a:cubicBezTo>
                <a:cubicBezTo>
                  <a:pt x="639718" y="423748"/>
                  <a:pt x="698411" y="515159"/>
                  <a:pt x="736749" y="599513"/>
                </a:cubicBezTo>
                <a:cubicBezTo>
                  <a:pt x="759628" y="649852"/>
                  <a:pt x="791660" y="718499"/>
                  <a:pt x="791660" y="791717"/>
                </a:cubicBezTo>
                <a:cubicBezTo>
                  <a:pt x="791660" y="836256"/>
                  <a:pt x="776411" y="867994"/>
                  <a:pt x="773353" y="878671"/>
                </a:cubicBezTo>
                <a:lnTo>
                  <a:pt x="0" y="878671"/>
                </a:lnTo>
                <a:lnTo>
                  <a:pt x="6105" y="850734"/>
                </a:lnTo>
                <a:cubicBezTo>
                  <a:pt x="21469" y="780287"/>
                  <a:pt x="46329" y="672169"/>
                  <a:pt x="114404" y="507987"/>
                </a:cubicBezTo>
                <a:cubicBezTo>
                  <a:pt x="183041" y="361540"/>
                  <a:pt x="215074" y="315772"/>
                  <a:pt x="260832" y="256279"/>
                </a:cubicBezTo>
                <a:cubicBezTo>
                  <a:pt x="260832" y="256279"/>
                  <a:pt x="233381" y="251707"/>
                  <a:pt x="233381" y="228828"/>
                </a:cubicBezTo>
                <a:cubicBezTo>
                  <a:pt x="233381" y="215093"/>
                  <a:pt x="243430" y="207587"/>
                  <a:pt x="243430" y="207587"/>
                </a:cubicBezTo>
                <a:cubicBezTo>
                  <a:pt x="217074" y="188614"/>
                  <a:pt x="189595" y="166601"/>
                  <a:pt x="178469" y="151028"/>
                </a:cubicBezTo>
                <a:cubicBezTo>
                  <a:pt x="155590" y="118986"/>
                  <a:pt x="173888" y="105251"/>
                  <a:pt x="178469" y="105251"/>
                </a:cubicBezTo>
                <a:cubicBezTo>
                  <a:pt x="183041" y="105251"/>
                  <a:pt x="233381" y="105260"/>
                  <a:pt x="265414" y="64065"/>
                </a:cubicBezTo>
              </a:path>
            </a:pathLst>
          </a:custGeom>
          <a:solidFill>
            <a:srgbClr val="2F6FD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219766" y="2167110"/>
            <a:ext cx="791662" cy="878674"/>
          </a:xfrm>
          <a:custGeom>
            <a:avLst/>
            <a:gdLst/>
            <a:ahLst/>
            <a:cxnLst/>
            <a:rect l="0" t="0" r="0" b="0"/>
            <a:pathLst>
              <a:path w="791662" h="878674">
                <a:moveTo>
                  <a:pt x="114402" y="507983"/>
                </a:moveTo>
                <a:cubicBezTo>
                  <a:pt x="36608" y="695616"/>
                  <a:pt x="15253" y="810027"/>
                  <a:pt x="0" y="878674"/>
                </a:cubicBezTo>
                <a:lnTo>
                  <a:pt x="773358" y="878673"/>
                </a:lnTo>
                <a:cubicBezTo>
                  <a:pt x="776408" y="867995"/>
                  <a:pt x="791662" y="836261"/>
                  <a:pt x="791662" y="791721"/>
                </a:cubicBezTo>
                <a:cubicBezTo>
                  <a:pt x="791662" y="718498"/>
                  <a:pt x="759629" y="649851"/>
                  <a:pt x="736749" y="599511"/>
                </a:cubicBezTo>
                <a:cubicBezTo>
                  <a:pt x="698407" y="515151"/>
                  <a:pt x="639713" y="423749"/>
                  <a:pt x="562858" y="334077"/>
                </a:cubicBezTo>
                <a:cubicBezTo>
                  <a:pt x="530436" y="296250"/>
                  <a:pt x="509181" y="272780"/>
                  <a:pt x="492500" y="256132"/>
                </a:cubicBezTo>
                <a:cubicBezTo>
                  <a:pt x="506770" y="254656"/>
                  <a:pt x="517097" y="242549"/>
                  <a:pt x="517097" y="228820"/>
                </a:cubicBezTo>
                <a:cubicBezTo>
                  <a:pt x="517097" y="210514"/>
                  <a:pt x="494217" y="201361"/>
                  <a:pt x="474394" y="201362"/>
                </a:cubicBezTo>
                <a:cubicBezTo>
                  <a:pt x="476227" y="199808"/>
                  <a:pt x="478255" y="198273"/>
                  <a:pt x="480488" y="196785"/>
                </a:cubicBezTo>
                <a:cubicBezTo>
                  <a:pt x="521673" y="169327"/>
                  <a:pt x="572010" y="114409"/>
                  <a:pt x="576586" y="105257"/>
                </a:cubicBezTo>
                <a:cubicBezTo>
                  <a:pt x="581162" y="96106"/>
                  <a:pt x="608619" y="59491"/>
                  <a:pt x="535401" y="64069"/>
                </a:cubicBezTo>
                <a:cubicBezTo>
                  <a:pt x="462184" y="68646"/>
                  <a:pt x="443880" y="50339"/>
                  <a:pt x="420999" y="41186"/>
                </a:cubicBezTo>
                <a:cubicBezTo>
                  <a:pt x="398119" y="32033"/>
                  <a:pt x="379814" y="9152"/>
                  <a:pt x="347782" y="4576"/>
                </a:cubicBezTo>
                <a:cubicBezTo>
                  <a:pt x="315749" y="0"/>
                  <a:pt x="297445" y="22881"/>
                  <a:pt x="265412" y="64069"/>
                </a:cubicBezTo>
                <a:cubicBezTo>
                  <a:pt x="233380" y="105257"/>
                  <a:pt x="183043" y="105257"/>
                  <a:pt x="178467" y="105257"/>
                </a:cubicBezTo>
                <a:cubicBezTo>
                  <a:pt x="173891" y="105257"/>
                  <a:pt x="155586" y="118986"/>
                  <a:pt x="178467" y="151021"/>
                </a:cubicBezTo>
                <a:cubicBezTo>
                  <a:pt x="189596" y="166603"/>
                  <a:pt x="217076" y="188613"/>
                  <a:pt x="243424" y="207588"/>
                </a:cubicBezTo>
                <a:cubicBezTo>
                  <a:pt x="243424" y="207588"/>
                  <a:pt x="233380" y="215090"/>
                  <a:pt x="233380" y="228820"/>
                </a:cubicBezTo>
                <a:cubicBezTo>
                  <a:pt x="233380" y="251702"/>
                  <a:pt x="260836" y="256279"/>
                  <a:pt x="260836" y="256279"/>
                </a:cubicBezTo>
                <a:cubicBezTo>
                  <a:pt x="215075" y="315773"/>
                  <a:pt x="183043" y="361537"/>
                  <a:pt x="114402" y="507983"/>
                </a:cubicBezTo>
                <a:close/>
                <a:moveTo>
                  <a:pt x="233380" y="228820"/>
                </a:moveTo>
                <a:cubicBezTo>
                  <a:pt x="233380" y="219667"/>
                  <a:pt x="237291" y="212625"/>
                  <a:pt x="243424" y="207588"/>
                </a:cubicBezTo>
                <a:cubicBezTo>
                  <a:pt x="248163" y="203698"/>
                  <a:pt x="254227" y="201361"/>
                  <a:pt x="260836" y="201361"/>
                </a:cubicBezTo>
                <a:lnTo>
                  <a:pt x="474394" y="201362"/>
                </a:lnTo>
                <a:cubicBezTo>
                  <a:pt x="498793" y="201361"/>
                  <a:pt x="517097" y="213656"/>
                  <a:pt x="517097" y="228820"/>
                </a:cubicBezTo>
                <a:cubicBezTo>
                  <a:pt x="517097" y="243020"/>
                  <a:pt x="506320" y="254702"/>
                  <a:pt x="492500" y="256132"/>
                </a:cubicBezTo>
                <a:cubicBezTo>
                  <a:pt x="491560" y="256229"/>
                  <a:pt x="490606" y="256279"/>
                  <a:pt x="489641" y="256279"/>
                </a:cubicBezTo>
                <a:lnTo>
                  <a:pt x="375238" y="256279"/>
                </a:lnTo>
                <a:lnTo>
                  <a:pt x="260836" y="256279"/>
                </a:lnTo>
                <a:cubicBezTo>
                  <a:pt x="260836" y="256279"/>
                  <a:pt x="233380" y="251702"/>
                  <a:pt x="233380" y="228820"/>
                </a:cubicBezTo>
                <a:close/>
              </a:path>
            </a:pathLst>
          </a:custGeom>
          <a:noFill/>
          <a:ln w="13730">
            <a:solidFill>
              <a:srgbClr val="F8F6F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148837" y="3045711"/>
            <a:ext cx="2846327" cy="1098261"/>
          </a:xfrm>
          <a:custGeom>
            <a:avLst/>
            <a:gdLst/>
            <a:ahLst/>
            <a:cxnLst/>
            <a:rect l="0" t="0" r="0" b="0"/>
            <a:pathLst>
              <a:path w="2846327" h="1098261">
                <a:moveTo>
                  <a:pt x="2214829" y="878605"/>
                </a:moveTo>
                <a:cubicBezTo>
                  <a:pt x="2229993" y="878605"/>
                  <a:pt x="2242280" y="890901"/>
                  <a:pt x="2242280" y="906065"/>
                </a:cubicBezTo>
                <a:lnTo>
                  <a:pt x="2242280" y="988437"/>
                </a:lnTo>
                <a:lnTo>
                  <a:pt x="2379564" y="988437"/>
                </a:lnTo>
                <a:cubicBezTo>
                  <a:pt x="2394727" y="988437"/>
                  <a:pt x="2407024" y="1000725"/>
                  <a:pt x="2407024" y="1015888"/>
                </a:cubicBezTo>
                <a:lnTo>
                  <a:pt x="2407024" y="1098261"/>
                </a:lnTo>
                <a:lnTo>
                  <a:pt x="430148" y="1098261"/>
                </a:lnTo>
                <a:lnTo>
                  <a:pt x="430148" y="1015888"/>
                </a:lnTo>
                <a:cubicBezTo>
                  <a:pt x="430148" y="1000725"/>
                  <a:pt x="442445" y="988437"/>
                  <a:pt x="457609" y="988437"/>
                </a:cubicBezTo>
                <a:lnTo>
                  <a:pt x="485060" y="988437"/>
                </a:lnTo>
                <a:lnTo>
                  <a:pt x="485060" y="906065"/>
                </a:lnTo>
                <a:cubicBezTo>
                  <a:pt x="485060" y="890901"/>
                  <a:pt x="497357" y="878605"/>
                  <a:pt x="512521" y="878605"/>
                </a:cubicBezTo>
                <a:lnTo>
                  <a:pt x="1363675" y="878605"/>
                </a:lnTo>
                <a:lnTo>
                  <a:pt x="1363675" y="599465"/>
                </a:lnTo>
                <a:lnTo>
                  <a:pt x="544553" y="439302"/>
                </a:lnTo>
                <a:lnTo>
                  <a:pt x="375237" y="439302"/>
                </a:lnTo>
                <a:cubicBezTo>
                  <a:pt x="365131" y="439302"/>
                  <a:pt x="356930" y="431111"/>
                  <a:pt x="356930" y="420995"/>
                </a:cubicBezTo>
                <a:lnTo>
                  <a:pt x="356930" y="256260"/>
                </a:lnTo>
                <a:lnTo>
                  <a:pt x="192195" y="256260"/>
                </a:lnTo>
                <a:cubicBezTo>
                  <a:pt x="111318" y="256260"/>
                  <a:pt x="45758" y="190700"/>
                  <a:pt x="45758" y="109823"/>
                </a:cubicBezTo>
                <a:lnTo>
                  <a:pt x="45758" y="54911"/>
                </a:lnTo>
                <a:lnTo>
                  <a:pt x="27460" y="54911"/>
                </a:lnTo>
                <a:cubicBezTo>
                  <a:pt x="12296" y="54911"/>
                  <a:pt x="0" y="42624"/>
                  <a:pt x="0" y="27460"/>
                </a:cubicBezTo>
                <a:cubicBezTo>
                  <a:pt x="0" y="12296"/>
                  <a:pt x="12296" y="0"/>
                  <a:pt x="27460" y="0"/>
                </a:cubicBezTo>
                <a:lnTo>
                  <a:pt x="878605" y="0"/>
                </a:lnTo>
                <a:cubicBezTo>
                  <a:pt x="893768" y="0"/>
                  <a:pt x="906065" y="12296"/>
                  <a:pt x="906065" y="27460"/>
                </a:cubicBezTo>
                <a:cubicBezTo>
                  <a:pt x="906065" y="42624"/>
                  <a:pt x="893768" y="54911"/>
                  <a:pt x="878605" y="54911"/>
                </a:cubicBezTo>
                <a:lnTo>
                  <a:pt x="860307" y="54911"/>
                </a:lnTo>
                <a:lnTo>
                  <a:pt x="860307" y="109823"/>
                </a:lnTo>
                <a:cubicBezTo>
                  <a:pt x="860307" y="190700"/>
                  <a:pt x="794746" y="256260"/>
                  <a:pt x="713870" y="256260"/>
                </a:cubicBezTo>
                <a:lnTo>
                  <a:pt x="544553" y="256260"/>
                </a:lnTo>
                <a:lnTo>
                  <a:pt x="544553" y="366083"/>
                </a:lnTo>
                <a:lnTo>
                  <a:pt x="1363675" y="439302"/>
                </a:lnTo>
                <a:lnTo>
                  <a:pt x="1363675" y="393544"/>
                </a:lnTo>
                <a:cubicBezTo>
                  <a:pt x="1363675" y="378380"/>
                  <a:pt x="1375962" y="366083"/>
                  <a:pt x="1391126" y="366083"/>
                </a:cubicBezTo>
                <a:lnTo>
                  <a:pt x="1446047" y="366083"/>
                </a:lnTo>
                <a:cubicBezTo>
                  <a:pt x="1461211" y="366083"/>
                  <a:pt x="1473498" y="378380"/>
                  <a:pt x="1473498" y="393544"/>
                </a:cubicBezTo>
                <a:lnTo>
                  <a:pt x="1473498" y="439302"/>
                </a:lnTo>
                <a:lnTo>
                  <a:pt x="2297191" y="366083"/>
                </a:lnTo>
                <a:lnTo>
                  <a:pt x="2297191" y="256260"/>
                </a:lnTo>
                <a:lnTo>
                  <a:pt x="2132457" y="256260"/>
                </a:lnTo>
                <a:cubicBezTo>
                  <a:pt x="2051580" y="256260"/>
                  <a:pt x="1986019" y="190700"/>
                  <a:pt x="1986019" y="109823"/>
                </a:cubicBezTo>
                <a:lnTo>
                  <a:pt x="1986019" y="54911"/>
                </a:lnTo>
                <a:lnTo>
                  <a:pt x="1967712" y="54911"/>
                </a:lnTo>
                <a:cubicBezTo>
                  <a:pt x="1952548" y="54911"/>
                  <a:pt x="1940261" y="42624"/>
                  <a:pt x="1940261" y="27460"/>
                </a:cubicBezTo>
                <a:cubicBezTo>
                  <a:pt x="1940261" y="12296"/>
                  <a:pt x="1952548" y="0"/>
                  <a:pt x="1967712" y="0"/>
                </a:cubicBezTo>
                <a:lnTo>
                  <a:pt x="2818866" y="0"/>
                </a:lnTo>
                <a:cubicBezTo>
                  <a:pt x="2834030" y="0"/>
                  <a:pt x="2846327" y="12296"/>
                  <a:pt x="2846327" y="27460"/>
                </a:cubicBezTo>
                <a:cubicBezTo>
                  <a:pt x="2846327" y="42624"/>
                  <a:pt x="2834030" y="54911"/>
                  <a:pt x="2818866" y="54911"/>
                </a:cubicBezTo>
                <a:lnTo>
                  <a:pt x="2800559" y="54911"/>
                </a:lnTo>
                <a:lnTo>
                  <a:pt x="2800559" y="109823"/>
                </a:lnTo>
                <a:cubicBezTo>
                  <a:pt x="2800559" y="190700"/>
                  <a:pt x="2734998" y="256260"/>
                  <a:pt x="2654131" y="256260"/>
                </a:cubicBezTo>
                <a:lnTo>
                  <a:pt x="2484815" y="256260"/>
                </a:lnTo>
                <a:lnTo>
                  <a:pt x="2484815" y="420995"/>
                </a:lnTo>
                <a:cubicBezTo>
                  <a:pt x="2484815" y="431111"/>
                  <a:pt x="2476623" y="439302"/>
                  <a:pt x="2466508" y="439302"/>
                </a:cubicBezTo>
                <a:lnTo>
                  <a:pt x="2297191" y="439302"/>
                </a:lnTo>
                <a:lnTo>
                  <a:pt x="1473498" y="599465"/>
                </a:lnTo>
                <a:lnTo>
                  <a:pt x="1473498" y="878605"/>
                </a:lnTo>
                <a:lnTo>
                  <a:pt x="2214829" y="878605"/>
                </a:lnTo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148837" y="3045711"/>
            <a:ext cx="2846324" cy="1098260"/>
          </a:xfrm>
          <a:custGeom>
            <a:avLst/>
            <a:gdLst/>
            <a:ahLst/>
            <a:cxnLst/>
            <a:rect l="0" t="0" r="0" b="0"/>
            <a:pathLst>
              <a:path w="2846324" h="1098260">
                <a:moveTo>
                  <a:pt x="1473499" y="599467"/>
                </a:moveTo>
                <a:lnTo>
                  <a:pt x="1473499" y="439304"/>
                </a:lnTo>
                <a:lnTo>
                  <a:pt x="2297194" y="366086"/>
                </a:lnTo>
                <a:lnTo>
                  <a:pt x="2297194" y="439304"/>
                </a:lnTo>
                <a:lnTo>
                  <a:pt x="1473499" y="599467"/>
                </a:lnTo>
                <a:close/>
                <a:moveTo>
                  <a:pt x="1363673" y="599467"/>
                </a:moveTo>
                <a:lnTo>
                  <a:pt x="1363673" y="439304"/>
                </a:lnTo>
                <a:lnTo>
                  <a:pt x="544554" y="366086"/>
                </a:lnTo>
                <a:lnTo>
                  <a:pt x="544554" y="439304"/>
                </a:lnTo>
                <a:lnTo>
                  <a:pt x="1363673" y="599467"/>
                </a:lnTo>
                <a:close/>
                <a:moveTo>
                  <a:pt x="430151" y="1015890"/>
                </a:moveTo>
                <a:cubicBezTo>
                  <a:pt x="430151" y="1000726"/>
                  <a:pt x="442444" y="988434"/>
                  <a:pt x="457608" y="988434"/>
                </a:cubicBezTo>
                <a:lnTo>
                  <a:pt x="2379564" y="988434"/>
                </a:lnTo>
                <a:cubicBezTo>
                  <a:pt x="2394728" y="988434"/>
                  <a:pt x="2407020" y="1000726"/>
                  <a:pt x="2407020" y="1015890"/>
                </a:cubicBezTo>
                <a:lnTo>
                  <a:pt x="2407020" y="1098260"/>
                </a:lnTo>
                <a:lnTo>
                  <a:pt x="430151" y="1098260"/>
                </a:lnTo>
                <a:lnTo>
                  <a:pt x="430151" y="1015890"/>
                </a:lnTo>
                <a:close/>
                <a:moveTo>
                  <a:pt x="485064" y="906064"/>
                </a:moveTo>
                <a:cubicBezTo>
                  <a:pt x="485064" y="890900"/>
                  <a:pt x="497357" y="878608"/>
                  <a:pt x="512521" y="878608"/>
                </a:cubicBezTo>
                <a:lnTo>
                  <a:pt x="2214824" y="878608"/>
                </a:lnTo>
                <a:cubicBezTo>
                  <a:pt x="2229989" y="878608"/>
                  <a:pt x="2242281" y="890900"/>
                  <a:pt x="2242281" y="906064"/>
                </a:cubicBezTo>
                <a:lnTo>
                  <a:pt x="2242281" y="988434"/>
                </a:lnTo>
                <a:lnTo>
                  <a:pt x="485064" y="988434"/>
                </a:lnTo>
                <a:lnTo>
                  <a:pt x="485064" y="906064"/>
                </a:lnTo>
                <a:close/>
                <a:moveTo>
                  <a:pt x="1363673" y="393543"/>
                </a:moveTo>
                <a:cubicBezTo>
                  <a:pt x="1363673" y="378379"/>
                  <a:pt x="1375965" y="366086"/>
                  <a:pt x="1391129" y="366086"/>
                </a:cubicBezTo>
                <a:lnTo>
                  <a:pt x="1446042" y="366086"/>
                </a:lnTo>
                <a:cubicBezTo>
                  <a:pt x="1461207" y="366086"/>
                  <a:pt x="1473499" y="378379"/>
                  <a:pt x="1473499" y="393543"/>
                </a:cubicBezTo>
                <a:lnTo>
                  <a:pt x="1473499" y="878608"/>
                </a:lnTo>
                <a:lnTo>
                  <a:pt x="1363673" y="878608"/>
                </a:lnTo>
                <a:lnTo>
                  <a:pt x="1363673" y="393543"/>
                </a:lnTo>
                <a:close/>
                <a:moveTo>
                  <a:pt x="2297194" y="439304"/>
                </a:moveTo>
                <a:lnTo>
                  <a:pt x="2297194" y="256260"/>
                </a:lnTo>
                <a:lnTo>
                  <a:pt x="2484813" y="256260"/>
                </a:lnTo>
                <a:lnTo>
                  <a:pt x="2484813" y="420999"/>
                </a:lnTo>
                <a:cubicBezTo>
                  <a:pt x="2484813" y="431109"/>
                  <a:pt x="2476619" y="439304"/>
                  <a:pt x="2466509" y="439304"/>
                </a:cubicBezTo>
                <a:lnTo>
                  <a:pt x="2297194" y="439304"/>
                </a:lnTo>
                <a:close/>
                <a:moveTo>
                  <a:pt x="1986020" y="54913"/>
                </a:moveTo>
                <a:lnTo>
                  <a:pt x="2800563" y="54913"/>
                </a:lnTo>
                <a:lnTo>
                  <a:pt x="2800563" y="109826"/>
                </a:lnTo>
                <a:cubicBezTo>
                  <a:pt x="2800563" y="190700"/>
                  <a:pt x="2735003" y="256260"/>
                  <a:pt x="2654128" y="256260"/>
                </a:cubicBezTo>
                <a:lnTo>
                  <a:pt x="2132455" y="256260"/>
                </a:lnTo>
                <a:cubicBezTo>
                  <a:pt x="2051581" y="256260"/>
                  <a:pt x="1986020" y="190700"/>
                  <a:pt x="1986020" y="109826"/>
                </a:cubicBezTo>
                <a:lnTo>
                  <a:pt x="1986020" y="54913"/>
                </a:lnTo>
                <a:close/>
                <a:moveTo>
                  <a:pt x="1940259" y="27456"/>
                </a:moveTo>
                <a:cubicBezTo>
                  <a:pt x="1940259" y="12292"/>
                  <a:pt x="1952552" y="0"/>
                  <a:pt x="1967716" y="0"/>
                </a:cubicBezTo>
                <a:lnTo>
                  <a:pt x="2818868" y="0"/>
                </a:lnTo>
                <a:cubicBezTo>
                  <a:pt x="2834032" y="0"/>
                  <a:pt x="2846324" y="12292"/>
                  <a:pt x="2846324" y="27456"/>
                </a:cubicBezTo>
                <a:cubicBezTo>
                  <a:pt x="2846324" y="42620"/>
                  <a:pt x="2834032" y="54913"/>
                  <a:pt x="2818868" y="54913"/>
                </a:cubicBezTo>
                <a:lnTo>
                  <a:pt x="1967716" y="54913"/>
                </a:lnTo>
                <a:cubicBezTo>
                  <a:pt x="1952552" y="54913"/>
                  <a:pt x="1940259" y="42620"/>
                  <a:pt x="1940259" y="27456"/>
                </a:cubicBezTo>
                <a:close/>
                <a:moveTo>
                  <a:pt x="375238" y="439304"/>
                </a:moveTo>
                <a:cubicBezTo>
                  <a:pt x="365129" y="439304"/>
                  <a:pt x="356934" y="431109"/>
                  <a:pt x="356934" y="420999"/>
                </a:cubicBezTo>
                <a:lnTo>
                  <a:pt x="356934" y="256260"/>
                </a:lnTo>
                <a:lnTo>
                  <a:pt x="544554" y="256260"/>
                </a:lnTo>
                <a:lnTo>
                  <a:pt x="544554" y="439304"/>
                </a:lnTo>
                <a:lnTo>
                  <a:pt x="375238" y="439304"/>
                </a:lnTo>
                <a:close/>
                <a:moveTo>
                  <a:pt x="45760" y="54913"/>
                </a:moveTo>
                <a:lnTo>
                  <a:pt x="860303" y="54913"/>
                </a:lnTo>
                <a:lnTo>
                  <a:pt x="860303" y="109826"/>
                </a:lnTo>
                <a:cubicBezTo>
                  <a:pt x="860303" y="190700"/>
                  <a:pt x="794743" y="256260"/>
                  <a:pt x="713869" y="256260"/>
                </a:cubicBezTo>
                <a:lnTo>
                  <a:pt x="192195" y="256260"/>
                </a:lnTo>
                <a:cubicBezTo>
                  <a:pt x="111321" y="256260"/>
                  <a:pt x="45760" y="190700"/>
                  <a:pt x="45760" y="109826"/>
                </a:cubicBezTo>
                <a:lnTo>
                  <a:pt x="45760" y="54913"/>
                </a:lnTo>
                <a:close/>
                <a:moveTo>
                  <a:pt x="0" y="27456"/>
                </a:moveTo>
                <a:cubicBezTo>
                  <a:pt x="0" y="12292"/>
                  <a:pt x="12292" y="0"/>
                  <a:pt x="27456" y="0"/>
                </a:cubicBezTo>
                <a:lnTo>
                  <a:pt x="878608" y="0"/>
                </a:lnTo>
                <a:cubicBezTo>
                  <a:pt x="893772" y="0"/>
                  <a:pt x="906064" y="12292"/>
                  <a:pt x="906064" y="27456"/>
                </a:cubicBezTo>
                <a:cubicBezTo>
                  <a:pt x="906064" y="42620"/>
                  <a:pt x="893772" y="54913"/>
                  <a:pt x="878608" y="54913"/>
                </a:cubicBezTo>
                <a:lnTo>
                  <a:pt x="27456" y="54913"/>
                </a:lnTo>
                <a:cubicBezTo>
                  <a:pt x="12292" y="54913"/>
                  <a:pt x="0" y="42620"/>
                  <a:pt x="0" y="27456"/>
                </a:cubicBezTo>
                <a:close/>
              </a:path>
            </a:pathLst>
          </a:custGeom>
          <a:noFill/>
          <a:ln w="13730">
            <a:solidFill>
              <a:srgbClr val="F8F6F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0" name="Group 9"/>
          <p:cNvGrpSpPr/>
          <p:nvPr/>
        </p:nvGrpSpPr>
        <p:grpSpPr>
          <a:xfrm>
            <a:off x="653053" y="371475"/>
            <a:ext cx="7837884" cy="800099"/>
            <a:chOff x="653053" y="371475"/>
            <a:chExt cx="7837884" cy="800099"/>
          </a:xfrm>
        </p:grpSpPr>
        <p:sp>
          <p:nvSpPr>
            <p:cNvPr id="8" name="TextBox 7"/>
            <p:cNvSpPr txBox="1"/>
            <p:nvPr/>
          </p:nvSpPr>
          <p:spPr>
            <a:xfrm>
              <a:off x="65212" y="371475"/>
              <a:ext cx="9013566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3100" b="1">
                  <a:solidFill>
                    <a:srgbClr val="1C1C1C"/>
                  </a:solidFill>
                  <a:latin typeface="Shantell Sans"/>
                </a:rPr>
                <a:t>Who holds primary responsibility for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5212" y="771525"/>
              <a:ext cx="9013566" cy="400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3100" b="1">
                  <a:solidFill>
                    <a:srgbClr val="1C1C1C"/>
                  </a:solidFill>
                  <a:latin typeface="Shantell Sans"/>
                </a:rPr>
                <a:t>risk governance?</a:t>
              </a: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6572494" y="1872422"/>
            <a:ext cx="1759303" cy="26358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Shantell Sans"/>
              </a:rPr>
              <a:t>Management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1519954" y="1872418"/>
            <a:ext cx="1051550" cy="527188"/>
            <a:chOff x="1519954" y="1872418"/>
            <a:chExt cx="1051550" cy="527188"/>
          </a:xfrm>
        </p:grpSpPr>
        <p:sp>
          <p:nvSpPr>
            <p:cNvPr id="12" name="TextBox 11"/>
            <p:cNvSpPr txBox="1"/>
            <p:nvPr/>
          </p:nvSpPr>
          <p:spPr>
            <a:xfrm>
              <a:off x="1362222" y="1872418"/>
              <a:ext cx="1209282" cy="2635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1700" b="1">
                  <a:solidFill>
                    <a:srgbClr val="1C1C1C"/>
                  </a:solidFill>
                  <a:latin typeface="Shantell Sans"/>
                </a:rPr>
                <a:t>Board of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362222" y="2135974"/>
              <a:ext cx="1209282" cy="2636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1700" b="1">
                  <a:solidFill>
                    <a:srgbClr val="1C1C1C"/>
                  </a:solidFill>
                  <a:latin typeface="Shantell Sans"/>
                </a:rPr>
                <a:t>Directors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6572494" y="2465498"/>
            <a:ext cx="1558651" cy="878661"/>
            <a:chOff x="6572494" y="2465498"/>
            <a:chExt cx="1558651" cy="878661"/>
          </a:xfrm>
        </p:grpSpPr>
        <p:sp>
          <p:nvSpPr>
            <p:cNvPr id="15" name="TextBox 14"/>
            <p:cNvSpPr txBox="1"/>
            <p:nvPr/>
          </p:nvSpPr>
          <p:spPr>
            <a:xfrm>
              <a:off x="6572494" y="2465498"/>
              <a:ext cx="1792448" cy="2196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400" b="1">
                  <a:solidFill>
                    <a:srgbClr val="1C1C1C"/>
                  </a:solidFill>
                  <a:latin typeface="Shantell Sans"/>
                </a:rPr>
                <a:t>Implementing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572494" y="2685144"/>
              <a:ext cx="1792448" cy="2196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400" b="1">
                  <a:solidFill>
                    <a:srgbClr val="1C1C1C"/>
                  </a:solidFill>
                  <a:latin typeface="Shantell Sans"/>
                </a:rPr>
                <a:t>framework and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572494" y="2904791"/>
              <a:ext cx="1792448" cy="2196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400" b="1">
                  <a:solidFill>
                    <a:srgbClr val="1C1C1C"/>
                  </a:solidFill>
                  <a:latin typeface="Shantell Sans"/>
                </a:rPr>
                <a:t>daily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572494" y="3124437"/>
              <a:ext cx="1792448" cy="2197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400" b="1">
                  <a:solidFill>
                    <a:srgbClr val="1C1C1C"/>
                  </a:solidFill>
                  <a:latin typeface="Shantell Sans"/>
                </a:rPr>
                <a:t>management</a:t>
              </a: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1338608" y="2729094"/>
            <a:ext cx="1232896" cy="658995"/>
            <a:chOff x="1338608" y="2729094"/>
            <a:chExt cx="1232896" cy="658995"/>
          </a:xfrm>
        </p:grpSpPr>
        <p:sp>
          <p:nvSpPr>
            <p:cNvPr id="20" name="TextBox 19"/>
            <p:cNvSpPr txBox="1"/>
            <p:nvPr/>
          </p:nvSpPr>
          <p:spPr>
            <a:xfrm>
              <a:off x="1153674" y="2729094"/>
              <a:ext cx="1417830" cy="2196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1400" b="1">
                  <a:solidFill>
                    <a:srgbClr val="1C1C1C"/>
                  </a:solidFill>
                  <a:latin typeface="Shantell Sans"/>
                </a:rPr>
                <a:t>Setting risk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153674" y="2948740"/>
              <a:ext cx="1417830" cy="2196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1400" b="1">
                  <a:solidFill>
                    <a:srgbClr val="1C1C1C"/>
                  </a:solidFill>
                  <a:latin typeface="Shantell Sans"/>
                </a:rPr>
                <a:t>appetite and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153674" y="3168386"/>
              <a:ext cx="1417830" cy="2197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1400" b="1">
                  <a:solidFill>
                    <a:srgbClr val="1C1C1C"/>
                  </a:solidFill>
                  <a:latin typeface="Shantell Sans"/>
                </a:rPr>
                <a:t>strategy</a:t>
              </a: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928318" y="3497924"/>
            <a:ext cx="1643186" cy="823864"/>
            <a:chOff x="928318" y="3497924"/>
            <a:chExt cx="1643186" cy="823864"/>
          </a:xfrm>
        </p:grpSpPr>
        <p:sp>
          <p:nvSpPr>
            <p:cNvPr id="24" name="TextBox 23"/>
            <p:cNvSpPr txBox="1"/>
            <p:nvPr/>
          </p:nvSpPr>
          <p:spPr>
            <a:xfrm>
              <a:off x="681841" y="3497924"/>
              <a:ext cx="1889663" cy="1647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1000" b="0">
                  <a:solidFill>
                    <a:srgbClr val="1C1C1C"/>
                  </a:solidFill>
                  <a:latin typeface="Roboto"/>
                </a:rPr>
                <a:t>Responsible for setting the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81841" y="3662706"/>
              <a:ext cx="1889663" cy="1647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1000" b="0">
                  <a:solidFill>
                    <a:srgbClr val="1C1C1C"/>
                  </a:solidFill>
                  <a:latin typeface="Roboto"/>
                </a:rPr>
                <a:t>risk appetite, approving the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681841" y="3827488"/>
              <a:ext cx="1889663" cy="1647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1000" b="0">
                  <a:solidFill>
                    <a:srgbClr val="1C1C1C"/>
                  </a:solidFill>
                  <a:latin typeface="Roboto"/>
                </a:rPr>
                <a:t>risk management strategy,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81841" y="3992271"/>
              <a:ext cx="1889663" cy="1647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1000" b="0">
                  <a:solidFill>
                    <a:srgbClr val="1C1C1C"/>
                  </a:solidFill>
                  <a:latin typeface="Roboto"/>
                </a:rPr>
                <a:t>and providing oversight of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81841" y="4157054"/>
              <a:ext cx="1889663" cy="1647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1000" b="0">
                  <a:solidFill>
                    <a:srgbClr val="1C1C1C"/>
                  </a:solidFill>
                  <a:latin typeface="Roboto"/>
                </a:rPr>
                <a:t>the risk culture.</a:t>
              </a: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6572494" y="3453999"/>
            <a:ext cx="1633413" cy="988647"/>
            <a:chOff x="6572494" y="3453999"/>
            <a:chExt cx="1633413" cy="988647"/>
          </a:xfrm>
        </p:grpSpPr>
        <p:sp>
          <p:nvSpPr>
            <p:cNvPr id="30" name="TextBox 29"/>
            <p:cNvSpPr txBox="1"/>
            <p:nvPr/>
          </p:nvSpPr>
          <p:spPr>
            <a:xfrm>
              <a:off x="6572494" y="3453999"/>
              <a:ext cx="1878424" cy="1647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000" b="0">
                  <a:solidFill>
                    <a:srgbClr val="1C1C1C"/>
                  </a:solidFill>
                  <a:latin typeface="Roboto"/>
                </a:rPr>
                <a:t>Tasked with implementing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6572494" y="3618782"/>
              <a:ext cx="1878424" cy="1647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000" b="0">
                  <a:solidFill>
                    <a:srgbClr val="1C1C1C"/>
                  </a:solidFill>
                  <a:latin typeface="Roboto"/>
                </a:rPr>
                <a:t>the risk framework,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6572494" y="3783565"/>
              <a:ext cx="1878424" cy="1647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000" b="0">
                  <a:solidFill>
                    <a:srgbClr val="1C1C1C"/>
                  </a:solidFill>
                  <a:latin typeface="Roboto"/>
                </a:rPr>
                <a:t>identifying emerging risks,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6572494" y="3948347"/>
              <a:ext cx="1878424" cy="1647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000" b="0">
                  <a:solidFill>
                    <a:srgbClr val="1C1C1C"/>
                  </a:solidFill>
                  <a:latin typeface="Roboto"/>
                </a:rPr>
                <a:t>and managing day-to-day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6572494" y="4113130"/>
              <a:ext cx="1878424" cy="1647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000" b="0">
                  <a:solidFill>
                    <a:srgbClr val="1C1C1C"/>
                  </a:solidFill>
                  <a:latin typeface="Roboto"/>
                </a:rPr>
                <a:t>risk exposures within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6572494" y="4277912"/>
              <a:ext cx="1878424" cy="1647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000" b="0">
                  <a:solidFill>
                    <a:srgbClr val="1C1C1C"/>
                  </a:solidFill>
                  <a:latin typeface="Roboto"/>
                </a:rPr>
                <a:t>approved limits.</a:t>
              </a:r>
            </a:p>
          </p:txBody>
        </p:sp>
      </p:grpSp>
      <p:sp>
        <p:nvSpPr>
          <p:cNvPr id="37" name="Rounded Rectangle 36"/>
          <p:cNvSpPr/>
          <p:nvPr/>
        </p:nvSpPr>
        <p:spPr>
          <a:xfrm>
            <a:off x="228600" y="4829136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1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9F8A4A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372728" y="1429426"/>
            <a:ext cx="3151517" cy="3247024"/>
          </a:xfrm>
          <a:custGeom>
            <a:avLst/>
            <a:gdLst/>
            <a:ahLst/>
            <a:cxnLst/>
            <a:rect l="0" t="0" r="0" b="0"/>
            <a:pathLst>
              <a:path w="3151517" h="3247024">
                <a:moveTo>
                  <a:pt x="191004" y="2960522"/>
                </a:moveTo>
                <a:lnTo>
                  <a:pt x="191004" y="2865015"/>
                </a:lnTo>
                <a:lnTo>
                  <a:pt x="2960522" y="2865015"/>
                </a:lnTo>
                <a:lnTo>
                  <a:pt x="2960522" y="2960522"/>
                </a:lnTo>
                <a:lnTo>
                  <a:pt x="3056020" y="2960522"/>
                </a:lnTo>
                <a:lnTo>
                  <a:pt x="3056020" y="3056020"/>
                </a:lnTo>
                <a:lnTo>
                  <a:pt x="3151517" y="3056020"/>
                </a:lnTo>
                <a:lnTo>
                  <a:pt x="3151517" y="3247024"/>
                </a:lnTo>
                <a:lnTo>
                  <a:pt x="0" y="3247024"/>
                </a:lnTo>
                <a:lnTo>
                  <a:pt x="0" y="3056020"/>
                </a:lnTo>
                <a:lnTo>
                  <a:pt x="95497" y="3056020"/>
                </a:lnTo>
                <a:lnTo>
                  <a:pt x="95497" y="2960522"/>
                </a:lnTo>
                <a:lnTo>
                  <a:pt x="191004" y="2960522"/>
                </a:lnTo>
                <a:moveTo>
                  <a:pt x="2960522" y="764009"/>
                </a:moveTo>
                <a:lnTo>
                  <a:pt x="2960522" y="859507"/>
                </a:lnTo>
                <a:lnTo>
                  <a:pt x="191004" y="859507"/>
                </a:lnTo>
                <a:lnTo>
                  <a:pt x="191004" y="764009"/>
                </a:lnTo>
                <a:lnTo>
                  <a:pt x="95497" y="764009"/>
                </a:lnTo>
                <a:lnTo>
                  <a:pt x="95497" y="668502"/>
                </a:lnTo>
                <a:lnTo>
                  <a:pt x="0" y="668502"/>
                </a:lnTo>
                <a:lnTo>
                  <a:pt x="0" y="573004"/>
                </a:lnTo>
                <a:lnTo>
                  <a:pt x="1575758" y="0"/>
                </a:lnTo>
                <a:lnTo>
                  <a:pt x="3151517" y="573004"/>
                </a:lnTo>
                <a:lnTo>
                  <a:pt x="3151517" y="668502"/>
                </a:lnTo>
                <a:lnTo>
                  <a:pt x="3056020" y="668502"/>
                </a:lnTo>
                <a:lnTo>
                  <a:pt x="3056020" y="764009"/>
                </a:lnTo>
                <a:lnTo>
                  <a:pt x="2960522" y="764009"/>
                </a:lnTo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372728" y="1429426"/>
            <a:ext cx="3151521" cy="3247022"/>
          </a:xfrm>
          <a:custGeom>
            <a:avLst/>
            <a:gdLst/>
            <a:ahLst/>
            <a:cxnLst/>
            <a:rect l="0" t="0" r="0" b="0"/>
            <a:pathLst>
              <a:path w="3151521" h="3247022">
                <a:moveTo>
                  <a:pt x="0" y="3056021"/>
                </a:moveTo>
                <a:lnTo>
                  <a:pt x="95500" y="3056021"/>
                </a:lnTo>
                <a:lnTo>
                  <a:pt x="3056021" y="3056021"/>
                </a:lnTo>
                <a:lnTo>
                  <a:pt x="3151521" y="3056021"/>
                </a:lnTo>
                <a:lnTo>
                  <a:pt x="3151521" y="3247022"/>
                </a:lnTo>
                <a:lnTo>
                  <a:pt x="0" y="3247022"/>
                </a:lnTo>
                <a:lnTo>
                  <a:pt x="0" y="3056021"/>
                </a:lnTo>
                <a:close/>
                <a:moveTo>
                  <a:pt x="191001" y="2865019"/>
                </a:moveTo>
                <a:lnTo>
                  <a:pt x="2960520" y="2865019"/>
                </a:lnTo>
                <a:lnTo>
                  <a:pt x="2960520" y="2960520"/>
                </a:lnTo>
                <a:lnTo>
                  <a:pt x="191001" y="2960520"/>
                </a:lnTo>
                <a:lnTo>
                  <a:pt x="191001" y="2865019"/>
                </a:lnTo>
                <a:close/>
                <a:moveTo>
                  <a:pt x="1575760" y="0"/>
                </a:moveTo>
                <a:lnTo>
                  <a:pt x="3151521" y="573003"/>
                </a:lnTo>
                <a:lnTo>
                  <a:pt x="3151521" y="668504"/>
                </a:lnTo>
                <a:lnTo>
                  <a:pt x="3056021" y="668504"/>
                </a:lnTo>
                <a:lnTo>
                  <a:pt x="95500" y="668504"/>
                </a:lnTo>
                <a:lnTo>
                  <a:pt x="0" y="668504"/>
                </a:lnTo>
                <a:lnTo>
                  <a:pt x="0" y="573003"/>
                </a:lnTo>
                <a:lnTo>
                  <a:pt x="1575760" y="0"/>
                </a:lnTo>
                <a:close/>
                <a:moveTo>
                  <a:pt x="191001" y="859505"/>
                </a:moveTo>
                <a:lnTo>
                  <a:pt x="2960520" y="859505"/>
                </a:lnTo>
                <a:lnTo>
                  <a:pt x="2960520" y="764005"/>
                </a:lnTo>
                <a:lnTo>
                  <a:pt x="191001" y="764005"/>
                </a:lnTo>
                <a:lnTo>
                  <a:pt x="191001" y="859505"/>
                </a:lnTo>
                <a:close/>
                <a:moveTo>
                  <a:pt x="95500" y="668504"/>
                </a:moveTo>
                <a:lnTo>
                  <a:pt x="95500" y="764005"/>
                </a:lnTo>
                <a:lnTo>
                  <a:pt x="191001" y="764005"/>
                </a:lnTo>
                <a:lnTo>
                  <a:pt x="2960520" y="764005"/>
                </a:lnTo>
                <a:lnTo>
                  <a:pt x="3056021" y="764005"/>
                </a:lnTo>
                <a:lnTo>
                  <a:pt x="3056021" y="668504"/>
                </a:lnTo>
                <a:lnTo>
                  <a:pt x="95500" y="668504"/>
                </a:lnTo>
                <a:close/>
                <a:moveTo>
                  <a:pt x="2960520" y="2960520"/>
                </a:moveTo>
                <a:lnTo>
                  <a:pt x="191001" y="2960520"/>
                </a:lnTo>
                <a:lnTo>
                  <a:pt x="95500" y="2960520"/>
                </a:lnTo>
                <a:lnTo>
                  <a:pt x="95500" y="3056021"/>
                </a:lnTo>
                <a:lnTo>
                  <a:pt x="3056021" y="3056021"/>
                </a:lnTo>
                <a:lnTo>
                  <a:pt x="3056021" y="2960520"/>
                </a:lnTo>
                <a:lnTo>
                  <a:pt x="2960520" y="2960520"/>
                </a:lnTo>
                <a:close/>
              </a:path>
            </a:pathLst>
          </a:custGeom>
          <a:noFill/>
          <a:ln w="11937">
            <a:solidFill>
              <a:srgbClr val="F8F6F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664743" y="2288932"/>
            <a:ext cx="573004" cy="2005517"/>
          </a:xfrm>
          <a:custGeom>
            <a:avLst/>
            <a:gdLst/>
            <a:ahLst/>
            <a:cxnLst/>
            <a:rect l="0" t="0" r="0" b="0"/>
            <a:pathLst>
              <a:path w="573004" h="2005517">
                <a:moveTo>
                  <a:pt x="573004" y="1910010"/>
                </a:moveTo>
                <a:lnTo>
                  <a:pt x="573004" y="2005517"/>
                </a:lnTo>
                <a:lnTo>
                  <a:pt x="0" y="2005517"/>
                </a:lnTo>
                <a:lnTo>
                  <a:pt x="0" y="1910010"/>
                </a:lnTo>
                <a:lnTo>
                  <a:pt x="47748" y="1910010"/>
                </a:lnTo>
                <a:lnTo>
                  <a:pt x="47748" y="1814512"/>
                </a:lnTo>
                <a:lnTo>
                  <a:pt x="95497" y="1814512"/>
                </a:lnTo>
                <a:lnTo>
                  <a:pt x="95497" y="191004"/>
                </a:lnTo>
                <a:lnTo>
                  <a:pt x="47748" y="191004"/>
                </a:lnTo>
                <a:lnTo>
                  <a:pt x="47748" y="95497"/>
                </a:lnTo>
                <a:lnTo>
                  <a:pt x="0" y="95497"/>
                </a:lnTo>
                <a:lnTo>
                  <a:pt x="0" y="0"/>
                </a:lnTo>
                <a:lnTo>
                  <a:pt x="573004" y="0"/>
                </a:lnTo>
                <a:lnTo>
                  <a:pt x="573004" y="95497"/>
                </a:lnTo>
                <a:lnTo>
                  <a:pt x="525256" y="95497"/>
                </a:lnTo>
                <a:lnTo>
                  <a:pt x="525256" y="191004"/>
                </a:lnTo>
                <a:lnTo>
                  <a:pt x="477507" y="191004"/>
                </a:lnTo>
                <a:lnTo>
                  <a:pt x="477507" y="1814512"/>
                </a:lnTo>
                <a:lnTo>
                  <a:pt x="525256" y="1814512"/>
                </a:lnTo>
                <a:lnTo>
                  <a:pt x="525256" y="1910010"/>
                </a:lnTo>
                <a:lnTo>
                  <a:pt x="573004" y="1910010"/>
                </a:lnTo>
              </a:path>
            </a:pathLst>
          </a:custGeom>
          <a:solidFill>
            <a:srgbClr val="4C87C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664743" y="2288932"/>
            <a:ext cx="573003" cy="2005513"/>
          </a:xfrm>
          <a:custGeom>
            <a:avLst/>
            <a:gdLst/>
            <a:ahLst/>
            <a:cxnLst/>
            <a:rect l="0" t="0" r="0" b="0"/>
            <a:pathLst>
              <a:path w="573003" h="2005513">
                <a:moveTo>
                  <a:pt x="95500" y="191001"/>
                </a:moveTo>
                <a:lnTo>
                  <a:pt x="477503" y="191001"/>
                </a:lnTo>
                <a:lnTo>
                  <a:pt x="477503" y="1814512"/>
                </a:lnTo>
                <a:lnTo>
                  <a:pt x="95500" y="1814512"/>
                </a:lnTo>
                <a:lnTo>
                  <a:pt x="95500" y="191001"/>
                </a:lnTo>
                <a:close/>
                <a:moveTo>
                  <a:pt x="47750" y="95500"/>
                </a:moveTo>
                <a:lnTo>
                  <a:pt x="525253" y="95500"/>
                </a:lnTo>
                <a:lnTo>
                  <a:pt x="573003" y="95500"/>
                </a:lnTo>
                <a:lnTo>
                  <a:pt x="573003" y="0"/>
                </a:lnTo>
                <a:lnTo>
                  <a:pt x="0" y="0"/>
                </a:lnTo>
                <a:lnTo>
                  <a:pt x="0" y="95500"/>
                </a:lnTo>
                <a:lnTo>
                  <a:pt x="47750" y="95500"/>
                </a:lnTo>
                <a:close/>
                <a:moveTo>
                  <a:pt x="525253" y="1910013"/>
                </a:moveTo>
                <a:lnTo>
                  <a:pt x="47750" y="1910013"/>
                </a:lnTo>
                <a:lnTo>
                  <a:pt x="0" y="1910013"/>
                </a:lnTo>
                <a:lnTo>
                  <a:pt x="0" y="2005513"/>
                </a:lnTo>
                <a:lnTo>
                  <a:pt x="573003" y="2005513"/>
                </a:lnTo>
                <a:lnTo>
                  <a:pt x="573003" y="1910013"/>
                </a:lnTo>
                <a:lnTo>
                  <a:pt x="525253" y="1910013"/>
                </a:lnTo>
                <a:close/>
                <a:moveTo>
                  <a:pt x="525253" y="1910013"/>
                </a:moveTo>
                <a:lnTo>
                  <a:pt x="525253" y="1814512"/>
                </a:lnTo>
                <a:lnTo>
                  <a:pt x="477503" y="1814512"/>
                </a:lnTo>
                <a:lnTo>
                  <a:pt x="95500" y="1814512"/>
                </a:lnTo>
                <a:lnTo>
                  <a:pt x="47750" y="1814512"/>
                </a:lnTo>
                <a:lnTo>
                  <a:pt x="47750" y="1910013"/>
                </a:lnTo>
                <a:lnTo>
                  <a:pt x="525253" y="1910013"/>
                </a:lnTo>
                <a:close/>
                <a:moveTo>
                  <a:pt x="525253" y="95500"/>
                </a:moveTo>
                <a:lnTo>
                  <a:pt x="47750" y="95500"/>
                </a:lnTo>
                <a:lnTo>
                  <a:pt x="47750" y="191001"/>
                </a:lnTo>
                <a:lnTo>
                  <a:pt x="95500" y="191001"/>
                </a:lnTo>
                <a:lnTo>
                  <a:pt x="477503" y="191001"/>
                </a:lnTo>
                <a:lnTo>
                  <a:pt x="525253" y="191001"/>
                </a:lnTo>
                <a:lnTo>
                  <a:pt x="525253" y="95500"/>
                </a:lnTo>
                <a:close/>
              </a:path>
            </a:pathLst>
          </a:custGeom>
          <a:noFill/>
          <a:ln w="11937">
            <a:solidFill>
              <a:srgbClr val="F8F6F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664743" y="2288932"/>
            <a:ext cx="573004" cy="2005517"/>
          </a:xfrm>
          <a:custGeom>
            <a:avLst/>
            <a:gdLst/>
            <a:ahLst/>
            <a:cxnLst/>
            <a:rect l="0" t="0" r="0" b="0"/>
            <a:pathLst>
              <a:path w="573004" h="2005517">
                <a:moveTo>
                  <a:pt x="573004" y="1910010"/>
                </a:moveTo>
                <a:lnTo>
                  <a:pt x="573004" y="2005517"/>
                </a:lnTo>
                <a:lnTo>
                  <a:pt x="0" y="2005517"/>
                </a:lnTo>
                <a:lnTo>
                  <a:pt x="0" y="1910010"/>
                </a:lnTo>
                <a:lnTo>
                  <a:pt x="47748" y="1910010"/>
                </a:lnTo>
                <a:lnTo>
                  <a:pt x="47748" y="1814512"/>
                </a:lnTo>
                <a:lnTo>
                  <a:pt x="95497" y="1814512"/>
                </a:lnTo>
                <a:lnTo>
                  <a:pt x="95497" y="191004"/>
                </a:lnTo>
                <a:lnTo>
                  <a:pt x="47748" y="191004"/>
                </a:lnTo>
                <a:lnTo>
                  <a:pt x="47748" y="95497"/>
                </a:lnTo>
                <a:lnTo>
                  <a:pt x="0" y="95497"/>
                </a:lnTo>
                <a:lnTo>
                  <a:pt x="0" y="0"/>
                </a:lnTo>
                <a:lnTo>
                  <a:pt x="573004" y="0"/>
                </a:lnTo>
                <a:lnTo>
                  <a:pt x="573004" y="95497"/>
                </a:lnTo>
                <a:lnTo>
                  <a:pt x="525256" y="95497"/>
                </a:lnTo>
                <a:lnTo>
                  <a:pt x="525256" y="191004"/>
                </a:lnTo>
                <a:lnTo>
                  <a:pt x="477507" y="191004"/>
                </a:lnTo>
                <a:lnTo>
                  <a:pt x="477507" y="1814512"/>
                </a:lnTo>
                <a:lnTo>
                  <a:pt x="525256" y="1814512"/>
                </a:lnTo>
                <a:lnTo>
                  <a:pt x="525256" y="1910010"/>
                </a:lnTo>
                <a:lnTo>
                  <a:pt x="573004" y="1910010"/>
                </a:lnTo>
              </a:path>
            </a:pathLst>
          </a:custGeom>
          <a:solidFill>
            <a:srgbClr val="4C87C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664743" y="2288932"/>
            <a:ext cx="573003" cy="2005513"/>
          </a:xfrm>
          <a:custGeom>
            <a:avLst/>
            <a:gdLst/>
            <a:ahLst/>
            <a:cxnLst/>
            <a:rect l="0" t="0" r="0" b="0"/>
            <a:pathLst>
              <a:path w="573003" h="2005513">
                <a:moveTo>
                  <a:pt x="95500" y="191001"/>
                </a:moveTo>
                <a:lnTo>
                  <a:pt x="477503" y="191001"/>
                </a:lnTo>
                <a:lnTo>
                  <a:pt x="477503" y="1814512"/>
                </a:lnTo>
                <a:lnTo>
                  <a:pt x="95500" y="1814512"/>
                </a:lnTo>
                <a:lnTo>
                  <a:pt x="95500" y="191001"/>
                </a:lnTo>
                <a:close/>
                <a:moveTo>
                  <a:pt x="47750" y="95500"/>
                </a:moveTo>
                <a:lnTo>
                  <a:pt x="525253" y="95500"/>
                </a:lnTo>
                <a:lnTo>
                  <a:pt x="573003" y="95500"/>
                </a:lnTo>
                <a:lnTo>
                  <a:pt x="573003" y="0"/>
                </a:lnTo>
                <a:lnTo>
                  <a:pt x="0" y="0"/>
                </a:lnTo>
                <a:lnTo>
                  <a:pt x="0" y="95500"/>
                </a:lnTo>
                <a:lnTo>
                  <a:pt x="47750" y="95500"/>
                </a:lnTo>
                <a:close/>
                <a:moveTo>
                  <a:pt x="525253" y="1910013"/>
                </a:moveTo>
                <a:lnTo>
                  <a:pt x="47750" y="1910013"/>
                </a:lnTo>
                <a:lnTo>
                  <a:pt x="0" y="1910013"/>
                </a:lnTo>
                <a:lnTo>
                  <a:pt x="0" y="2005513"/>
                </a:lnTo>
                <a:lnTo>
                  <a:pt x="573003" y="2005513"/>
                </a:lnTo>
                <a:lnTo>
                  <a:pt x="573003" y="1910013"/>
                </a:lnTo>
                <a:lnTo>
                  <a:pt x="525253" y="1910013"/>
                </a:lnTo>
                <a:close/>
                <a:moveTo>
                  <a:pt x="525253" y="1910013"/>
                </a:moveTo>
                <a:lnTo>
                  <a:pt x="525253" y="1814512"/>
                </a:lnTo>
                <a:lnTo>
                  <a:pt x="477503" y="1814512"/>
                </a:lnTo>
                <a:lnTo>
                  <a:pt x="95500" y="1814512"/>
                </a:lnTo>
                <a:lnTo>
                  <a:pt x="47750" y="1814512"/>
                </a:lnTo>
                <a:lnTo>
                  <a:pt x="47750" y="1910013"/>
                </a:lnTo>
                <a:lnTo>
                  <a:pt x="525253" y="1910013"/>
                </a:lnTo>
                <a:close/>
                <a:moveTo>
                  <a:pt x="525253" y="95500"/>
                </a:moveTo>
                <a:lnTo>
                  <a:pt x="47750" y="95500"/>
                </a:lnTo>
                <a:lnTo>
                  <a:pt x="47750" y="191001"/>
                </a:lnTo>
                <a:lnTo>
                  <a:pt x="95500" y="191001"/>
                </a:lnTo>
                <a:lnTo>
                  <a:pt x="477503" y="191001"/>
                </a:lnTo>
                <a:lnTo>
                  <a:pt x="525253" y="191001"/>
                </a:lnTo>
                <a:lnTo>
                  <a:pt x="525253" y="95500"/>
                </a:lnTo>
                <a:close/>
              </a:path>
            </a:pathLst>
          </a:custGeom>
          <a:noFill/>
          <a:ln w="11937">
            <a:solidFill>
              <a:srgbClr val="F8F6F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996239" y="2288932"/>
            <a:ext cx="573004" cy="2005517"/>
          </a:xfrm>
          <a:custGeom>
            <a:avLst/>
            <a:gdLst/>
            <a:ahLst/>
            <a:cxnLst/>
            <a:rect l="0" t="0" r="0" b="0"/>
            <a:pathLst>
              <a:path w="573004" h="2005517">
                <a:moveTo>
                  <a:pt x="573004" y="1910010"/>
                </a:moveTo>
                <a:lnTo>
                  <a:pt x="573004" y="2005517"/>
                </a:lnTo>
                <a:lnTo>
                  <a:pt x="0" y="2005517"/>
                </a:lnTo>
                <a:lnTo>
                  <a:pt x="0" y="1910010"/>
                </a:lnTo>
                <a:lnTo>
                  <a:pt x="47748" y="1910010"/>
                </a:lnTo>
                <a:lnTo>
                  <a:pt x="47748" y="1814512"/>
                </a:lnTo>
                <a:lnTo>
                  <a:pt x="95497" y="1814512"/>
                </a:lnTo>
                <a:lnTo>
                  <a:pt x="95497" y="191004"/>
                </a:lnTo>
                <a:lnTo>
                  <a:pt x="47748" y="191004"/>
                </a:lnTo>
                <a:lnTo>
                  <a:pt x="47748" y="95497"/>
                </a:lnTo>
                <a:lnTo>
                  <a:pt x="0" y="95497"/>
                </a:lnTo>
                <a:lnTo>
                  <a:pt x="0" y="0"/>
                </a:lnTo>
                <a:lnTo>
                  <a:pt x="573004" y="0"/>
                </a:lnTo>
                <a:lnTo>
                  <a:pt x="573004" y="95497"/>
                </a:lnTo>
                <a:lnTo>
                  <a:pt x="525256" y="95497"/>
                </a:lnTo>
                <a:lnTo>
                  <a:pt x="525256" y="191004"/>
                </a:lnTo>
                <a:lnTo>
                  <a:pt x="477507" y="191004"/>
                </a:lnTo>
                <a:lnTo>
                  <a:pt x="477507" y="1814512"/>
                </a:lnTo>
                <a:lnTo>
                  <a:pt x="525256" y="1814512"/>
                </a:lnTo>
                <a:lnTo>
                  <a:pt x="525256" y="1910010"/>
                </a:lnTo>
                <a:lnTo>
                  <a:pt x="573004" y="1910010"/>
                </a:lnTo>
              </a:path>
            </a:pathLst>
          </a:custGeom>
          <a:solidFill>
            <a:srgbClr val="4C87C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996239" y="2288932"/>
            <a:ext cx="573003" cy="2005513"/>
          </a:xfrm>
          <a:custGeom>
            <a:avLst/>
            <a:gdLst/>
            <a:ahLst/>
            <a:cxnLst/>
            <a:rect l="0" t="0" r="0" b="0"/>
            <a:pathLst>
              <a:path w="573003" h="2005513">
                <a:moveTo>
                  <a:pt x="95500" y="191001"/>
                </a:moveTo>
                <a:lnTo>
                  <a:pt x="477503" y="191001"/>
                </a:lnTo>
                <a:lnTo>
                  <a:pt x="477503" y="1814512"/>
                </a:lnTo>
                <a:lnTo>
                  <a:pt x="95500" y="1814512"/>
                </a:lnTo>
                <a:lnTo>
                  <a:pt x="95500" y="191001"/>
                </a:lnTo>
                <a:close/>
                <a:moveTo>
                  <a:pt x="47750" y="95500"/>
                </a:moveTo>
                <a:lnTo>
                  <a:pt x="525253" y="95500"/>
                </a:lnTo>
                <a:lnTo>
                  <a:pt x="573003" y="95500"/>
                </a:lnTo>
                <a:lnTo>
                  <a:pt x="573003" y="0"/>
                </a:lnTo>
                <a:lnTo>
                  <a:pt x="0" y="0"/>
                </a:lnTo>
                <a:lnTo>
                  <a:pt x="0" y="95500"/>
                </a:lnTo>
                <a:lnTo>
                  <a:pt x="47750" y="95500"/>
                </a:lnTo>
                <a:close/>
                <a:moveTo>
                  <a:pt x="525253" y="1910013"/>
                </a:moveTo>
                <a:lnTo>
                  <a:pt x="47750" y="1910013"/>
                </a:lnTo>
                <a:lnTo>
                  <a:pt x="0" y="1910013"/>
                </a:lnTo>
                <a:lnTo>
                  <a:pt x="0" y="2005513"/>
                </a:lnTo>
                <a:lnTo>
                  <a:pt x="573003" y="2005513"/>
                </a:lnTo>
                <a:lnTo>
                  <a:pt x="573003" y="1910013"/>
                </a:lnTo>
                <a:lnTo>
                  <a:pt x="525253" y="1910013"/>
                </a:lnTo>
                <a:close/>
                <a:moveTo>
                  <a:pt x="525253" y="1910013"/>
                </a:moveTo>
                <a:lnTo>
                  <a:pt x="525253" y="1814512"/>
                </a:lnTo>
                <a:lnTo>
                  <a:pt x="477503" y="1814512"/>
                </a:lnTo>
                <a:lnTo>
                  <a:pt x="95500" y="1814512"/>
                </a:lnTo>
                <a:lnTo>
                  <a:pt x="47750" y="1814512"/>
                </a:lnTo>
                <a:lnTo>
                  <a:pt x="47750" y="1910013"/>
                </a:lnTo>
                <a:lnTo>
                  <a:pt x="525253" y="1910013"/>
                </a:lnTo>
                <a:close/>
                <a:moveTo>
                  <a:pt x="525253" y="95500"/>
                </a:moveTo>
                <a:lnTo>
                  <a:pt x="47750" y="95500"/>
                </a:lnTo>
                <a:lnTo>
                  <a:pt x="47750" y="191001"/>
                </a:lnTo>
                <a:lnTo>
                  <a:pt x="95500" y="191001"/>
                </a:lnTo>
                <a:lnTo>
                  <a:pt x="477503" y="191001"/>
                </a:lnTo>
                <a:lnTo>
                  <a:pt x="525253" y="191001"/>
                </a:lnTo>
                <a:lnTo>
                  <a:pt x="525253" y="95500"/>
                </a:lnTo>
                <a:close/>
              </a:path>
            </a:pathLst>
          </a:custGeom>
          <a:noFill/>
          <a:ln w="11937">
            <a:solidFill>
              <a:srgbClr val="F8F6F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327734" y="2288932"/>
            <a:ext cx="573004" cy="2005517"/>
          </a:xfrm>
          <a:custGeom>
            <a:avLst/>
            <a:gdLst/>
            <a:ahLst/>
            <a:cxnLst/>
            <a:rect l="0" t="0" r="0" b="0"/>
            <a:pathLst>
              <a:path w="573004" h="2005517">
                <a:moveTo>
                  <a:pt x="573004" y="1910010"/>
                </a:moveTo>
                <a:lnTo>
                  <a:pt x="573004" y="2005517"/>
                </a:lnTo>
                <a:lnTo>
                  <a:pt x="0" y="2005517"/>
                </a:lnTo>
                <a:lnTo>
                  <a:pt x="0" y="1910010"/>
                </a:lnTo>
                <a:lnTo>
                  <a:pt x="47748" y="1910010"/>
                </a:lnTo>
                <a:lnTo>
                  <a:pt x="47748" y="1814512"/>
                </a:lnTo>
                <a:lnTo>
                  <a:pt x="95497" y="1814512"/>
                </a:lnTo>
                <a:lnTo>
                  <a:pt x="95497" y="191004"/>
                </a:lnTo>
                <a:lnTo>
                  <a:pt x="47748" y="191004"/>
                </a:lnTo>
                <a:lnTo>
                  <a:pt x="47748" y="95497"/>
                </a:lnTo>
                <a:lnTo>
                  <a:pt x="0" y="95497"/>
                </a:lnTo>
                <a:lnTo>
                  <a:pt x="0" y="0"/>
                </a:lnTo>
                <a:lnTo>
                  <a:pt x="573004" y="0"/>
                </a:lnTo>
                <a:lnTo>
                  <a:pt x="573004" y="95497"/>
                </a:lnTo>
                <a:lnTo>
                  <a:pt x="525256" y="95497"/>
                </a:lnTo>
                <a:lnTo>
                  <a:pt x="525256" y="191004"/>
                </a:lnTo>
                <a:lnTo>
                  <a:pt x="477507" y="191004"/>
                </a:lnTo>
                <a:lnTo>
                  <a:pt x="477507" y="1814512"/>
                </a:lnTo>
                <a:lnTo>
                  <a:pt x="525256" y="1814512"/>
                </a:lnTo>
                <a:lnTo>
                  <a:pt x="525256" y="1910010"/>
                </a:lnTo>
                <a:lnTo>
                  <a:pt x="573004" y="1910010"/>
                </a:lnTo>
              </a:path>
            </a:pathLst>
          </a:custGeom>
          <a:solidFill>
            <a:srgbClr val="4C87C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327734" y="2288932"/>
            <a:ext cx="573003" cy="2005513"/>
          </a:xfrm>
          <a:custGeom>
            <a:avLst/>
            <a:gdLst/>
            <a:ahLst/>
            <a:cxnLst/>
            <a:rect l="0" t="0" r="0" b="0"/>
            <a:pathLst>
              <a:path w="573003" h="2005513">
                <a:moveTo>
                  <a:pt x="95500" y="191001"/>
                </a:moveTo>
                <a:lnTo>
                  <a:pt x="477503" y="191001"/>
                </a:lnTo>
                <a:lnTo>
                  <a:pt x="477503" y="1814512"/>
                </a:lnTo>
                <a:lnTo>
                  <a:pt x="95500" y="1814512"/>
                </a:lnTo>
                <a:lnTo>
                  <a:pt x="95500" y="191001"/>
                </a:lnTo>
                <a:close/>
                <a:moveTo>
                  <a:pt x="47750" y="95500"/>
                </a:moveTo>
                <a:lnTo>
                  <a:pt x="525253" y="95500"/>
                </a:lnTo>
                <a:lnTo>
                  <a:pt x="573003" y="95500"/>
                </a:lnTo>
                <a:lnTo>
                  <a:pt x="573003" y="0"/>
                </a:lnTo>
                <a:lnTo>
                  <a:pt x="0" y="0"/>
                </a:lnTo>
                <a:lnTo>
                  <a:pt x="0" y="95500"/>
                </a:lnTo>
                <a:lnTo>
                  <a:pt x="47750" y="95500"/>
                </a:lnTo>
                <a:close/>
                <a:moveTo>
                  <a:pt x="525253" y="1910013"/>
                </a:moveTo>
                <a:lnTo>
                  <a:pt x="47750" y="1910013"/>
                </a:lnTo>
                <a:lnTo>
                  <a:pt x="0" y="1910013"/>
                </a:lnTo>
                <a:lnTo>
                  <a:pt x="0" y="2005513"/>
                </a:lnTo>
                <a:lnTo>
                  <a:pt x="573003" y="2005513"/>
                </a:lnTo>
                <a:lnTo>
                  <a:pt x="573003" y="1910013"/>
                </a:lnTo>
                <a:lnTo>
                  <a:pt x="525253" y="1910013"/>
                </a:lnTo>
                <a:close/>
                <a:moveTo>
                  <a:pt x="525253" y="1910013"/>
                </a:moveTo>
                <a:lnTo>
                  <a:pt x="525253" y="1814512"/>
                </a:lnTo>
                <a:lnTo>
                  <a:pt x="477503" y="1814512"/>
                </a:lnTo>
                <a:lnTo>
                  <a:pt x="95500" y="1814512"/>
                </a:lnTo>
                <a:lnTo>
                  <a:pt x="47750" y="1814512"/>
                </a:lnTo>
                <a:lnTo>
                  <a:pt x="47750" y="1910013"/>
                </a:lnTo>
                <a:lnTo>
                  <a:pt x="525253" y="1910013"/>
                </a:lnTo>
                <a:close/>
                <a:moveTo>
                  <a:pt x="525253" y="95500"/>
                </a:moveTo>
                <a:lnTo>
                  <a:pt x="47750" y="95500"/>
                </a:lnTo>
                <a:lnTo>
                  <a:pt x="47750" y="191001"/>
                </a:lnTo>
                <a:lnTo>
                  <a:pt x="95500" y="191001"/>
                </a:lnTo>
                <a:lnTo>
                  <a:pt x="477503" y="191001"/>
                </a:lnTo>
                <a:lnTo>
                  <a:pt x="525253" y="191001"/>
                </a:lnTo>
                <a:lnTo>
                  <a:pt x="525253" y="95500"/>
                </a:lnTo>
                <a:close/>
              </a:path>
            </a:pathLst>
          </a:custGeom>
          <a:noFill/>
          <a:ln w="11937">
            <a:solidFill>
              <a:srgbClr val="F8F6F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659229" y="2288932"/>
            <a:ext cx="573004" cy="2005517"/>
          </a:xfrm>
          <a:custGeom>
            <a:avLst/>
            <a:gdLst/>
            <a:ahLst/>
            <a:cxnLst/>
            <a:rect l="0" t="0" r="0" b="0"/>
            <a:pathLst>
              <a:path w="573004" h="2005517">
                <a:moveTo>
                  <a:pt x="573004" y="1910010"/>
                </a:moveTo>
                <a:lnTo>
                  <a:pt x="573004" y="2005517"/>
                </a:lnTo>
                <a:lnTo>
                  <a:pt x="0" y="2005517"/>
                </a:lnTo>
                <a:lnTo>
                  <a:pt x="0" y="1910010"/>
                </a:lnTo>
                <a:lnTo>
                  <a:pt x="47748" y="1910010"/>
                </a:lnTo>
                <a:lnTo>
                  <a:pt x="47748" y="1814512"/>
                </a:lnTo>
                <a:lnTo>
                  <a:pt x="95497" y="1814512"/>
                </a:lnTo>
                <a:lnTo>
                  <a:pt x="95497" y="191004"/>
                </a:lnTo>
                <a:lnTo>
                  <a:pt x="47748" y="191004"/>
                </a:lnTo>
                <a:lnTo>
                  <a:pt x="47748" y="95497"/>
                </a:lnTo>
                <a:lnTo>
                  <a:pt x="0" y="95497"/>
                </a:lnTo>
                <a:lnTo>
                  <a:pt x="0" y="0"/>
                </a:lnTo>
                <a:lnTo>
                  <a:pt x="573004" y="0"/>
                </a:lnTo>
                <a:lnTo>
                  <a:pt x="573004" y="95497"/>
                </a:lnTo>
                <a:lnTo>
                  <a:pt x="525256" y="95497"/>
                </a:lnTo>
                <a:lnTo>
                  <a:pt x="525256" y="191004"/>
                </a:lnTo>
                <a:lnTo>
                  <a:pt x="477507" y="191004"/>
                </a:lnTo>
                <a:lnTo>
                  <a:pt x="477507" y="1814512"/>
                </a:lnTo>
                <a:lnTo>
                  <a:pt x="525256" y="1814512"/>
                </a:lnTo>
                <a:lnTo>
                  <a:pt x="525256" y="1910010"/>
                </a:lnTo>
                <a:lnTo>
                  <a:pt x="573004" y="1910010"/>
                </a:lnTo>
              </a:path>
            </a:pathLst>
          </a:custGeom>
          <a:solidFill>
            <a:srgbClr val="4C87C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659229" y="2288932"/>
            <a:ext cx="573003" cy="2005513"/>
          </a:xfrm>
          <a:custGeom>
            <a:avLst/>
            <a:gdLst/>
            <a:ahLst/>
            <a:cxnLst/>
            <a:rect l="0" t="0" r="0" b="0"/>
            <a:pathLst>
              <a:path w="573003" h="2005513">
                <a:moveTo>
                  <a:pt x="95500" y="191001"/>
                </a:moveTo>
                <a:lnTo>
                  <a:pt x="477503" y="191001"/>
                </a:lnTo>
                <a:lnTo>
                  <a:pt x="477503" y="1814512"/>
                </a:lnTo>
                <a:lnTo>
                  <a:pt x="95500" y="1814512"/>
                </a:lnTo>
                <a:lnTo>
                  <a:pt x="95500" y="191001"/>
                </a:lnTo>
                <a:close/>
                <a:moveTo>
                  <a:pt x="47750" y="95500"/>
                </a:moveTo>
                <a:lnTo>
                  <a:pt x="525253" y="95500"/>
                </a:lnTo>
                <a:lnTo>
                  <a:pt x="573003" y="95500"/>
                </a:lnTo>
                <a:lnTo>
                  <a:pt x="573003" y="0"/>
                </a:lnTo>
                <a:lnTo>
                  <a:pt x="0" y="0"/>
                </a:lnTo>
                <a:lnTo>
                  <a:pt x="0" y="95500"/>
                </a:lnTo>
                <a:lnTo>
                  <a:pt x="47750" y="95500"/>
                </a:lnTo>
                <a:close/>
                <a:moveTo>
                  <a:pt x="525253" y="1910013"/>
                </a:moveTo>
                <a:lnTo>
                  <a:pt x="47750" y="1910013"/>
                </a:lnTo>
                <a:lnTo>
                  <a:pt x="0" y="1910013"/>
                </a:lnTo>
                <a:lnTo>
                  <a:pt x="0" y="2005513"/>
                </a:lnTo>
                <a:lnTo>
                  <a:pt x="573003" y="2005513"/>
                </a:lnTo>
                <a:lnTo>
                  <a:pt x="573003" y="1910013"/>
                </a:lnTo>
                <a:lnTo>
                  <a:pt x="525253" y="1910013"/>
                </a:lnTo>
                <a:close/>
                <a:moveTo>
                  <a:pt x="525253" y="1910013"/>
                </a:moveTo>
                <a:lnTo>
                  <a:pt x="525253" y="1814512"/>
                </a:lnTo>
                <a:lnTo>
                  <a:pt x="477503" y="1814512"/>
                </a:lnTo>
                <a:lnTo>
                  <a:pt x="95500" y="1814512"/>
                </a:lnTo>
                <a:lnTo>
                  <a:pt x="47750" y="1814512"/>
                </a:lnTo>
                <a:lnTo>
                  <a:pt x="47750" y="1910013"/>
                </a:lnTo>
                <a:lnTo>
                  <a:pt x="525253" y="1910013"/>
                </a:lnTo>
                <a:close/>
                <a:moveTo>
                  <a:pt x="525253" y="95500"/>
                </a:moveTo>
                <a:lnTo>
                  <a:pt x="47750" y="95500"/>
                </a:lnTo>
                <a:lnTo>
                  <a:pt x="47750" y="191001"/>
                </a:lnTo>
                <a:lnTo>
                  <a:pt x="95500" y="191001"/>
                </a:lnTo>
                <a:lnTo>
                  <a:pt x="477503" y="191001"/>
                </a:lnTo>
                <a:lnTo>
                  <a:pt x="525253" y="191001"/>
                </a:lnTo>
                <a:lnTo>
                  <a:pt x="525253" y="95500"/>
                </a:lnTo>
                <a:close/>
              </a:path>
            </a:pathLst>
          </a:custGeom>
          <a:noFill/>
          <a:ln w="11937">
            <a:solidFill>
              <a:srgbClr val="F8F6F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9802" y="371475"/>
            <a:ext cx="7564384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3100" b="1">
                <a:solidFill>
                  <a:srgbClr val="1C1C1C"/>
                </a:solidFill>
                <a:latin typeface="Shantell Sans"/>
              </a:rPr>
              <a:t>Ethics and the Code of Conduct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26668" y="1342310"/>
            <a:ext cx="350169" cy="365385"/>
          </a:xfrm>
          <a:custGeom>
            <a:avLst/>
            <a:gdLst/>
            <a:ahLst/>
            <a:cxnLst/>
            <a:rect l="0" t="0" r="0" b="0"/>
            <a:pathLst>
              <a:path w="350169" h="365385">
                <a:moveTo>
                  <a:pt x="175084" y="142550"/>
                </a:moveTo>
                <a:lnTo>
                  <a:pt x="175084" y="190300"/>
                </a:lnTo>
                <a:moveTo>
                  <a:pt x="175084" y="0"/>
                </a:moveTo>
                <a:lnTo>
                  <a:pt x="175084" y="15216"/>
                </a:lnTo>
                <a:moveTo>
                  <a:pt x="175084" y="62966"/>
                </a:moveTo>
                <a:lnTo>
                  <a:pt x="175084" y="94800"/>
                </a:lnTo>
                <a:moveTo>
                  <a:pt x="125917" y="141006"/>
                </a:moveTo>
                <a:cubicBezTo>
                  <a:pt x="127295" y="142039"/>
                  <a:pt x="128970" y="142598"/>
                  <a:pt x="130692" y="142598"/>
                </a:cubicBezTo>
                <a:lnTo>
                  <a:pt x="238751" y="142598"/>
                </a:lnTo>
                <a:lnTo>
                  <a:pt x="238751" y="94847"/>
                </a:lnTo>
                <a:lnTo>
                  <a:pt x="130628" y="94847"/>
                </a:lnTo>
                <a:cubicBezTo>
                  <a:pt x="128907" y="94847"/>
                  <a:pt x="127231" y="95406"/>
                  <a:pt x="125853" y="96439"/>
                </a:cubicBezTo>
                <a:lnTo>
                  <a:pt x="104175" y="112356"/>
                </a:lnTo>
                <a:cubicBezTo>
                  <a:pt x="102133" y="113855"/>
                  <a:pt x="100927" y="116237"/>
                  <a:pt x="100927" y="118770"/>
                </a:cubicBezTo>
                <a:cubicBezTo>
                  <a:pt x="100927" y="121304"/>
                  <a:pt x="102133" y="123685"/>
                  <a:pt x="104175" y="125185"/>
                </a:cubicBezTo>
                <a:close/>
                <a:moveTo>
                  <a:pt x="232209" y="61422"/>
                </a:moveTo>
                <a:cubicBezTo>
                  <a:pt x="230832" y="62455"/>
                  <a:pt x="229156" y="63014"/>
                  <a:pt x="227434" y="63014"/>
                </a:cubicBezTo>
                <a:lnTo>
                  <a:pt x="119375" y="63014"/>
                </a:lnTo>
                <a:lnTo>
                  <a:pt x="119375" y="15264"/>
                </a:lnTo>
                <a:lnTo>
                  <a:pt x="227498" y="15264"/>
                </a:lnTo>
                <a:cubicBezTo>
                  <a:pt x="229220" y="15264"/>
                  <a:pt x="230895" y="15822"/>
                  <a:pt x="232273" y="16855"/>
                </a:cubicBezTo>
                <a:lnTo>
                  <a:pt x="253952" y="32772"/>
                </a:lnTo>
                <a:cubicBezTo>
                  <a:pt x="255993" y="34272"/>
                  <a:pt x="257199" y="36653"/>
                  <a:pt x="257199" y="39187"/>
                </a:cubicBezTo>
                <a:cubicBezTo>
                  <a:pt x="257199" y="41720"/>
                  <a:pt x="255993" y="44102"/>
                  <a:pt x="253952" y="45601"/>
                </a:cubicBezTo>
                <a:close/>
                <a:moveTo>
                  <a:pt x="350169" y="365385"/>
                </a:moveTo>
                <a:cubicBezTo>
                  <a:pt x="349878" y="275099"/>
                  <a:pt x="280982" y="199839"/>
                  <a:pt x="191073" y="191595"/>
                </a:cubicBezTo>
                <a:cubicBezTo>
                  <a:pt x="101165" y="183350"/>
                  <a:pt x="19729" y="244824"/>
                  <a:pt x="3024" y="333551"/>
                </a:cubicBezTo>
                <a:lnTo>
                  <a:pt x="95341" y="333551"/>
                </a:lnTo>
                <a:cubicBezTo>
                  <a:pt x="107455" y="333554"/>
                  <a:pt x="119072" y="338369"/>
                  <a:pt x="127636" y="346937"/>
                </a:cubicBezTo>
                <a:lnTo>
                  <a:pt x="144715" y="364000"/>
                </a:lnTo>
                <a:cubicBezTo>
                  <a:pt x="145145" y="364430"/>
                  <a:pt x="145447" y="364939"/>
                  <a:pt x="145861" y="365385"/>
                </a:cubicBezTo>
                <a:moveTo>
                  <a:pt x="272176" y="365385"/>
                </a:moveTo>
                <a:lnTo>
                  <a:pt x="257135" y="342815"/>
                </a:lnTo>
                <a:cubicBezTo>
                  <a:pt x="248664" y="330115"/>
                  <a:pt x="234407" y="322488"/>
                  <a:pt x="219142" y="322489"/>
                </a:cubicBezTo>
                <a:lnTo>
                  <a:pt x="212552" y="322489"/>
                </a:lnTo>
                <a:cubicBezTo>
                  <a:pt x="199895" y="323158"/>
                  <a:pt x="187902" y="316786"/>
                  <a:pt x="181372" y="305922"/>
                </a:cubicBezTo>
                <a:cubicBezTo>
                  <a:pt x="174842" y="295058"/>
                  <a:pt x="174842" y="281478"/>
                  <a:pt x="181372" y="270614"/>
                </a:cubicBezTo>
                <a:cubicBezTo>
                  <a:pt x="187902" y="259750"/>
                  <a:pt x="199895" y="253378"/>
                  <a:pt x="212552" y="254047"/>
                </a:cubicBezTo>
                <a:lnTo>
                  <a:pt x="310138" y="254047"/>
                </a:lnTo>
                <a:moveTo>
                  <a:pt x="2944" y="334092"/>
                </a:moveTo>
                <a:cubicBezTo>
                  <a:pt x="1033" y="344415"/>
                  <a:pt x="47" y="354887"/>
                  <a:pt x="0" y="365385"/>
                </a:cubicBezTo>
              </a:path>
            </a:pathLst>
          </a:custGeom>
          <a:noFill/>
          <a:ln w="11937">
            <a:solidFill>
              <a:srgbClr val="1C1C1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07305" y="1334003"/>
            <a:ext cx="1903476" cy="1910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200" b="1">
                <a:solidFill>
                  <a:srgbClr val="1C1C1C"/>
                </a:solidFill>
                <a:latin typeface="Shantell Sans"/>
              </a:rPr>
              <a:t>Ethical Deliberation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5307305" y="1620504"/>
            <a:ext cx="1868805" cy="429709"/>
            <a:chOff x="5307305" y="1620504"/>
            <a:chExt cx="1868805" cy="429709"/>
          </a:xfrm>
        </p:grpSpPr>
        <p:sp>
          <p:nvSpPr>
            <p:cNvPr id="17" name="TextBox 16"/>
            <p:cNvSpPr txBox="1"/>
            <p:nvPr/>
          </p:nvSpPr>
          <p:spPr>
            <a:xfrm>
              <a:off x="5307305" y="1620504"/>
              <a:ext cx="2149125" cy="1432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1C1C1C"/>
                  </a:solidFill>
                  <a:latin typeface="Roboto"/>
                </a:rPr>
                <a:t>A robust code of conduct is a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307305" y="1763760"/>
              <a:ext cx="2149125" cy="1432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1C1C1C"/>
                  </a:solidFill>
                  <a:latin typeface="Roboto"/>
                </a:rPr>
                <a:t>prerequisite for ethical deliberation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307305" y="1907016"/>
              <a:ext cx="2149125" cy="1431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1C1C1C"/>
                  </a:solidFill>
                  <a:latin typeface="Roboto"/>
                </a:rPr>
                <a:t>and decision-making.</a:t>
              </a:r>
            </a:p>
          </p:txBody>
        </p:sp>
      </p:grpSp>
      <p:sp>
        <p:nvSpPr>
          <p:cNvPr id="21" name="Rounded Rectangle 20"/>
          <p:cNvSpPr/>
          <p:nvPr/>
        </p:nvSpPr>
        <p:spPr>
          <a:xfrm>
            <a:off x="4828844" y="2262482"/>
            <a:ext cx="345813" cy="340168"/>
          </a:xfrm>
          <a:custGeom>
            <a:avLst/>
            <a:gdLst/>
            <a:ahLst/>
            <a:cxnLst/>
            <a:rect l="0" t="0" r="0" b="0"/>
            <a:pathLst>
              <a:path w="345813" h="340168">
                <a:moveTo>
                  <a:pt x="166815" y="161366"/>
                </a:moveTo>
                <a:lnTo>
                  <a:pt x="166815" y="231412"/>
                </a:lnTo>
                <a:cubicBezTo>
                  <a:pt x="166815" y="276573"/>
                  <a:pt x="194494" y="317126"/>
                  <a:pt x="236938" y="333716"/>
                </a:cubicBezTo>
                <a:lnTo>
                  <a:pt x="246165" y="337403"/>
                </a:lnTo>
                <a:cubicBezTo>
                  <a:pt x="252624" y="340168"/>
                  <a:pt x="260004" y="340168"/>
                  <a:pt x="266463" y="337403"/>
                </a:cubicBezTo>
                <a:lnTo>
                  <a:pt x="275690" y="333716"/>
                </a:lnTo>
                <a:cubicBezTo>
                  <a:pt x="318134" y="317126"/>
                  <a:pt x="345813" y="276573"/>
                  <a:pt x="345813" y="231412"/>
                </a:cubicBezTo>
                <a:lnTo>
                  <a:pt x="345813" y="161366"/>
                </a:lnTo>
                <a:cubicBezTo>
                  <a:pt x="345813" y="155836"/>
                  <a:pt x="343045" y="151228"/>
                  <a:pt x="337510" y="148463"/>
                </a:cubicBezTo>
                <a:cubicBezTo>
                  <a:pt x="324592" y="142011"/>
                  <a:pt x="295066" y="131873"/>
                  <a:pt x="255392" y="131873"/>
                </a:cubicBezTo>
                <a:cubicBezTo>
                  <a:pt x="215716" y="131873"/>
                  <a:pt x="188037" y="142932"/>
                  <a:pt x="175119" y="149385"/>
                </a:cubicBezTo>
                <a:cubicBezTo>
                  <a:pt x="170506" y="151228"/>
                  <a:pt x="166815" y="155836"/>
                  <a:pt x="166815" y="161366"/>
                </a:cubicBezTo>
                <a:close/>
                <a:moveTo>
                  <a:pt x="256310" y="275423"/>
                </a:moveTo>
                <a:cubicBezTo>
                  <a:pt x="253127" y="275423"/>
                  <a:pt x="249942" y="272241"/>
                  <a:pt x="249942" y="269057"/>
                </a:cubicBezTo>
                <a:cubicBezTo>
                  <a:pt x="249942" y="265874"/>
                  <a:pt x="253127" y="262689"/>
                  <a:pt x="256310" y="262689"/>
                </a:cubicBezTo>
                <a:moveTo>
                  <a:pt x="256321" y="262689"/>
                </a:moveTo>
                <a:cubicBezTo>
                  <a:pt x="259505" y="262689"/>
                  <a:pt x="262688" y="265874"/>
                  <a:pt x="262688" y="269057"/>
                </a:cubicBezTo>
                <a:cubicBezTo>
                  <a:pt x="262688" y="272241"/>
                  <a:pt x="259505" y="275423"/>
                  <a:pt x="256321" y="275423"/>
                </a:cubicBezTo>
                <a:moveTo>
                  <a:pt x="256347" y="179872"/>
                </a:moveTo>
                <a:lnTo>
                  <a:pt x="256347" y="227623"/>
                </a:lnTo>
                <a:moveTo>
                  <a:pt x="333589" y="106792"/>
                </a:moveTo>
                <a:lnTo>
                  <a:pt x="333589" y="15916"/>
                </a:lnTo>
                <a:cubicBezTo>
                  <a:pt x="333589" y="7126"/>
                  <a:pt x="326463" y="0"/>
                  <a:pt x="317673" y="0"/>
                </a:cubicBezTo>
                <a:lnTo>
                  <a:pt x="15916" y="0"/>
                </a:lnTo>
                <a:cubicBezTo>
                  <a:pt x="7126" y="0"/>
                  <a:pt x="0" y="7126"/>
                  <a:pt x="0" y="15916"/>
                </a:cubicBezTo>
                <a:lnTo>
                  <a:pt x="0" y="115965"/>
                </a:lnTo>
                <a:cubicBezTo>
                  <a:pt x="0" y="124755"/>
                  <a:pt x="7126" y="131881"/>
                  <a:pt x="15916" y="131881"/>
                </a:cubicBezTo>
                <a:lnTo>
                  <a:pt x="136982" y="131881"/>
                </a:lnTo>
                <a:moveTo>
                  <a:pt x="63984" y="81836"/>
                </a:moveTo>
                <a:cubicBezTo>
                  <a:pt x="72779" y="81836"/>
                  <a:pt x="79908" y="74707"/>
                  <a:pt x="79908" y="65912"/>
                </a:cubicBezTo>
                <a:cubicBezTo>
                  <a:pt x="79908" y="57118"/>
                  <a:pt x="72779" y="49988"/>
                  <a:pt x="63984" y="49988"/>
                </a:cubicBezTo>
                <a:cubicBezTo>
                  <a:pt x="55190" y="49988"/>
                  <a:pt x="48061" y="57118"/>
                  <a:pt x="48061" y="65912"/>
                </a:cubicBezTo>
                <a:cubicBezTo>
                  <a:pt x="48061" y="74707"/>
                  <a:pt x="55190" y="81836"/>
                  <a:pt x="63984" y="81836"/>
                </a:cubicBezTo>
                <a:close/>
                <a:moveTo>
                  <a:pt x="127652" y="81836"/>
                </a:moveTo>
                <a:cubicBezTo>
                  <a:pt x="136446" y="81836"/>
                  <a:pt x="143575" y="74707"/>
                  <a:pt x="143575" y="65912"/>
                </a:cubicBezTo>
                <a:cubicBezTo>
                  <a:pt x="143575" y="57118"/>
                  <a:pt x="136446" y="49988"/>
                  <a:pt x="127652" y="49988"/>
                </a:cubicBezTo>
                <a:cubicBezTo>
                  <a:pt x="118857" y="49988"/>
                  <a:pt x="111728" y="57118"/>
                  <a:pt x="111728" y="65912"/>
                </a:cubicBezTo>
                <a:cubicBezTo>
                  <a:pt x="111728" y="74707"/>
                  <a:pt x="118857" y="81836"/>
                  <a:pt x="127652" y="81836"/>
                </a:cubicBezTo>
                <a:close/>
                <a:moveTo>
                  <a:pt x="191319" y="81836"/>
                </a:moveTo>
                <a:cubicBezTo>
                  <a:pt x="200113" y="81836"/>
                  <a:pt x="207242" y="74707"/>
                  <a:pt x="207242" y="65912"/>
                </a:cubicBezTo>
                <a:cubicBezTo>
                  <a:pt x="207242" y="57118"/>
                  <a:pt x="200113" y="49988"/>
                  <a:pt x="191319" y="49988"/>
                </a:cubicBezTo>
                <a:cubicBezTo>
                  <a:pt x="182525" y="49988"/>
                  <a:pt x="175394" y="57118"/>
                  <a:pt x="175394" y="65912"/>
                </a:cubicBezTo>
                <a:cubicBezTo>
                  <a:pt x="175394" y="74707"/>
                  <a:pt x="182525" y="81836"/>
                  <a:pt x="191319" y="81836"/>
                </a:cubicBezTo>
                <a:close/>
              </a:path>
            </a:pathLst>
          </a:custGeom>
          <a:noFill/>
          <a:ln w="11937">
            <a:solidFill>
              <a:srgbClr val="1C1C1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307305" y="2241222"/>
            <a:ext cx="1670851" cy="1910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200" b="1">
                <a:solidFill>
                  <a:srgbClr val="1C1C1C"/>
                </a:solidFill>
                <a:latin typeface="Shantell Sans"/>
              </a:rPr>
              <a:t>Fraud Deterrence</a:t>
            </a:r>
          </a:p>
        </p:txBody>
      </p:sp>
      <p:grpSp>
        <p:nvGrpSpPr>
          <p:cNvPr id="26" name="Group 25"/>
          <p:cNvGrpSpPr/>
          <p:nvPr/>
        </p:nvGrpSpPr>
        <p:grpSpPr>
          <a:xfrm>
            <a:off x="5307305" y="2527723"/>
            <a:ext cx="1844154" cy="429709"/>
            <a:chOff x="5307305" y="2527723"/>
            <a:chExt cx="1844154" cy="429709"/>
          </a:xfrm>
        </p:grpSpPr>
        <p:sp>
          <p:nvSpPr>
            <p:cNvPr id="23" name="TextBox 22"/>
            <p:cNvSpPr txBox="1"/>
            <p:nvPr/>
          </p:nvSpPr>
          <p:spPr>
            <a:xfrm>
              <a:off x="5307305" y="2527723"/>
              <a:ext cx="2120777" cy="1432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1C1C1C"/>
                  </a:solidFill>
                  <a:latin typeface="Roboto"/>
                </a:rPr>
                <a:t>Functions as a structural deterrent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5307305" y="2670979"/>
              <a:ext cx="2120777" cy="1432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1C1C1C"/>
                  </a:solidFill>
                  <a:latin typeface="Roboto"/>
                </a:rPr>
                <a:t>against fraudulent activities and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307305" y="2814235"/>
              <a:ext cx="2120777" cy="1431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1C1C1C"/>
                  </a:solidFill>
                  <a:latin typeface="Roboto"/>
                </a:rPr>
                <a:t>internal malfeasance.</a:t>
              </a:r>
            </a:p>
          </p:txBody>
        </p:sp>
      </p:grpSp>
      <p:sp>
        <p:nvSpPr>
          <p:cNvPr id="27" name="Rounded Rectangle 26"/>
          <p:cNvSpPr/>
          <p:nvPr/>
        </p:nvSpPr>
        <p:spPr>
          <a:xfrm>
            <a:off x="4818709" y="3147801"/>
            <a:ext cx="366085" cy="373088"/>
          </a:xfrm>
          <a:custGeom>
            <a:avLst/>
            <a:gdLst/>
            <a:ahLst/>
            <a:cxnLst/>
            <a:rect l="0" t="0" r="0" b="0"/>
            <a:pathLst>
              <a:path w="366085" h="373088">
                <a:moveTo>
                  <a:pt x="159167" y="365130"/>
                </a:moveTo>
                <a:cubicBezTo>
                  <a:pt x="159167" y="369525"/>
                  <a:pt x="155604" y="373088"/>
                  <a:pt x="151209" y="373088"/>
                </a:cubicBezTo>
                <a:lnTo>
                  <a:pt x="7958" y="373088"/>
                </a:lnTo>
                <a:cubicBezTo>
                  <a:pt x="3563" y="373088"/>
                  <a:pt x="0" y="369525"/>
                  <a:pt x="0" y="365130"/>
                </a:cubicBezTo>
                <a:lnTo>
                  <a:pt x="0" y="341255"/>
                </a:lnTo>
                <a:cubicBezTo>
                  <a:pt x="0" y="332464"/>
                  <a:pt x="7126" y="325338"/>
                  <a:pt x="15916" y="325338"/>
                </a:cubicBezTo>
                <a:lnTo>
                  <a:pt x="143250" y="325338"/>
                </a:lnTo>
                <a:cubicBezTo>
                  <a:pt x="152041" y="325338"/>
                  <a:pt x="159167" y="332464"/>
                  <a:pt x="159167" y="341255"/>
                </a:cubicBezTo>
                <a:close/>
                <a:moveTo>
                  <a:pt x="143250" y="325338"/>
                </a:moveTo>
                <a:lnTo>
                  <a:pt x="15916" y="325338"/>
                </a:lnTo>
                <a:lnTo>
                  <a:pt x="15916" y="309421"/>
                </a:lnTo>
                <a:cubicBezTo>
                  <a:pt x="15916" y="300631"/>
                  <a:pt x="23042" y="293505"/>
                  <a:pt x="31833" y="293505"/>
                </a:cubicBezTo>
                <a:lnTo>
                  <a:pt x="127334" y="293505"/>
                </a:lnTo>
                <a:cubicBezTo>
                  <a:pt x="136124" y="293505"/>
                  <a:pt x="143250" y="300631"/>
                  <a:pt x="143250" y="309421"/>
                </a:cubicBezTo>
                <a:close/>
                <a:moveTo>
                  <a:pt x="103463" y="134332"/>
                </a:moveTo>
                <a:lnTo>
                  <a:pt x="191003" y="46792"/>
                </a:lnTo>
                <a:lnTo>
                  <a:pt x="246715" y="102504"/>
                </a:lnTo>
                <a:lnTo>
                  <a:pt x="159175" y="190044"/>
                </a:lnTo>
                <a:close/>
                <a:moveTo>
                  <a:pt x="103459" y="134337"/>
                </a:moveTo>
                <a:lnTo>
                  <a:pt x="95500" y="126379"/>
                </a:lnTo>
                <a:cubicBezTo>
                  <a:pt x="80507" y="111417"/>
                  <a:pt x="56584" y="135212"/>
                  <a:pt x="71625" y="150254"/>
                </a:cubicBezTo>
                <a:lnTo>
                  <a:pt x="143250" y="221879"/>
                </a:lnTo>
                <a:cubicBezTo>
                  <a:pt x="158260" y="236889"/>
                  <a:pt x="182183" y="213061"/>
                  <a:pt x="167126" y="198004"/>
                </a:cubicBezTo>
                <a:lnTo>
                  <a:pt x="159167" y="190046"/>
                </a:lnTo>
                <a:moveTo>
                  <a:pt x="246710" y="102503"/>
                </a:moveTo>
                <a:lnTo>
                  <a:pt x="254668" y="110462"/>
                </a:lnTo>
                <a:cubicBezTo>
                  <a:pt x="269677" y="125471"/>
                  <a:pt x="293600" y="101644"/>
                  <a:pt x="278543" y="86587"/>
                </a:cubicBezTo>
                <a:lnTo>
                  <a:pt x="206918" y="14961"/>
                </a:lnTo>
                <a:cubicBezTo>
                  <a:pt x="191924" y="0"/>
                  <a:pt x="168001" y="23795"/>
                  <a:pt x="183042" y="38836"/>
                </a:cubicBezTo>
                <a:lnTo>
                  <a:pt x="191001" y="46795"/>
                </a:lnTo>
                <a:moveTo>
                  <a:pt x="202938" y="146259"/>
                </a:moveTo>
                <a:lnTo>
                  <a:pt x="366085" y="309405"/>
                </a:lnTo>
              </a:path>
            </a:pathLst>
          </a:custGeom>
          <a:noFill/>
          <a:ln w="11937">
            <a:solidFill>
              <a:srgbClr val="1C1C1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307305" y="3148441"/>
            <a:ext cx="2015631" cy="1910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200" b="1">
                <a:solidFill>
                  <a:srgbClr val="1C1C1C"/>
                </a:solidFill>
                <a:latin typeface="Shantell Sans"/>
              </a:rPr>
              <a:t>Statutory Adherence</a:t>
            </a:r>
          </a:p>
        </p:txBody>
      </p:sp>
      <p:grpSp>
        <p:nvGrpSpPr>
          <p:cNvPr id="32" name="Group 31"/>
          <p:cNvGrpSpPr/>
          <p:nvPr/>
        </p:nvGrpSpPr>
        <p:grpSpPr>
          <a:xfrm>
            <a:off x="5307305" y="3434942"/>
            <a:ext cx="2021090" cy="429709"/>
            <a:chOff x="5307305" y="3434942"/>
            <a:chExt cx="2021090" cy="429709"/>
          </a:xfrm>
        </p:grpSpPr>
        <p:sp>
          <p:nvSpPr>
            <p:cNvPr id="29" name="TextBox 28"/>
            <p:cNvSpPr txBox="1"/>
            <p:nvPr/>
          </p:nvSpPr>
          <p:spPr>
            <a:xfrm>
              <a:off x="5307305" y="3434942"/>
              <a:ext cx="2324253" cy="1432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1C1C1C"/>
                  </a:solidFill>
                  <a:latin typeface="Roboto"/>
                </a:rPr>
                <a:t>Ensures institutional adherence to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5307305" y="3578198"/>
              <a:ext cx="2324253" cy="1432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1C1C1C"/>
                  </a:solidFill>
                  <a:latin typeface="Roboto"/>
                </a:rPr>
                <a:t>statutory and regulatory requirements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307305" y="3721454"/>
              <a:ext cx="2324253" cy="1431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1C1C1C"/>
                  </a:solidFill>
                  <a:latin typeface="Roboto"/>
                </a:rPr>
                <a:t>across all jurisdictions.</a:t>
              </a:r>
            </a:p>
          </p:txBody>
        </p:sp>
      </p:grpSp>
      <p:sp>
        <p:nvSpPr>
          <p:cNvPr id="33" name="Rounded Rectangle 32"/>
          <p:cNvSpPr/>
          <p:nvPr/>
        </p:nvSpPr>
        <p:spPr>
          <a:xfrm>
            <a:off x="4818709" y="4063615"/>
            <a:ext cx="366085" cy="366087"/>
          </a:xfrm>
          <a:custGeom>
            <a:avLst/>
            <a:gdLst/>
            <a:ahLst/>
            <a:cxnLst/>
            <a:rect l="0" t="0" r="0" b="0"/>
            <a:pathLst>
              <a:path w="366085" h="366087">
                <a:moveTo>
                  <a:pt x="262626" y="305603"/>
                </a:moveTo>
                <a:cubicBezTo>
                  <a:pt x="323874" y="310776"/>
                  <a:pt x="366085" y="321679"/>
                  <a:pt x="366085" y="334253"/>
                </a:cubicBezTo>
                <a:cubicBezTo>
                  <a:pt x="366085" y="351762"/>
                  <a:pt x="284146" y="366087"/>
                  <a:pt x="183042" y="366087"/>
                </a:cubicBezTo>
                <a:cubicBezTo>
                  <a:pt x="81939" y="366087"/>
                  <a:pt x="0" y="351762"/>
                  <a:pt x="0" y="334253"/>
                </a:cubicBezTo>
                <a:cubicBezTo>
                  <a:pt x="0" y="321679"/>
                  <a:pt x="41940" y="310808"/>
                  <a:pt x="102790" y="305603"/>
                </a:cubicBezTo>
                <a:moveTo>
                  <a:pt x="282522" y="67646"/>
                </a:moveTo>
                <a:cubicBezTo>
                  <a:pt x="282522" y="87425"/>
                  <a:pt x="298556" y="103459"/>
                  <a:pt x="318335" y="103459"/>
                </a:cubicBezTo>
                <a:cubicBezTo>
                  <a:pt x="338114" y="103459"/>
                  <a:pt x="354148" y="87425"/>
                  <a:pt x="354148" y="67646"/>
                </a:cubicBezTo>
                <a:cubicBezTo>
                  <a:pt x="354148" y="47867"/>
                  <a:pt x="338114" y="31833"/>
                  <a:pt x="318335" y="31833"/>
                </a:cubicBezTo>
                <a:cubicBezTo>
                  <a:pt x="298556" y="31833"/>
                  <a:pt x="282522" y="47867"/>
                  <a:pt x="282522" y="67646"/>
                </a:cubicBezTo>
                <a:close/>
                <a:moveTo>
                  <a:pt x="318335" y="119376"/>
                </a:moveTo>
                <a:cubicBezTo>
                  <a:pt x="291963" y="119376"/>
                  <a:pt x="270585" y="140755"/>
                  <a:pt x="270585" y="167126"/>
                </a:cubicBezTo>
                <a:lnTo>
                  <a:pt x="270585" y="206919"/>
                </a:lnTo>
                <a:lnTo>
                  <a:pt x="294460" y="206919"/>
                </a:lnTo>
                <a:lnTo>
                  <a:pt x="302418" y="278545"/>
                </a:lnTo>
                <a:lnTo>
                  <a:pt x="334252" y="278545"/>
                </a:lnTo>
                <a:lnTo>
                  <a:pt x="342210" y="206919"/>
                </a:lnTo>
                <a:lnTo>
                  <a:pt x="366085" y="206919"/>
                </a:lnTo>
                <a:lnTo>
                  <a:pt x="366085" y="167126"/>
                </a:lnTo>
                <a:cubicBezTo>
                  <a:pt x="366085" y="140755"/>
                  <a:pt x="344707" y="119376"/>
                  <a:pt x="318335" y="119376"/>
                </a:cubicBezTo>
                <a:close/>
                <a:moveTo>
                  <a:pt x="11937" y="67646"/>
                </a:moveTo>
                <a:cubicBezTo>
                  <a:pt x="11937" y="87425"/>
                  <a:pt x="27971" y="103459"/>
                  <a:pt x="47750" y="103459"/>
                </a:cubicBezTo>
                <a:cubicBezTo>
                  <a:pt x="67529" y="103459"/>
                  <a:pt x="83563" y="87425"/>
                  <a:pt x="83563" y="67646"/>
                </a:cubicBezTo>
                <a:cubicBezTo>
                  <a:pt x="83563" y="47867"/>
                  <a:pt x="67529" y="31833"/>
                  <a:pt x="47750" y="31833"/>
                </a:cubicBezTo>
                <a:cubicBezTo>
                  <a:pt x="27971" y="31833"/>
                  <a:pt x="11937" y="47867"/>
                  <a:pt x="11937" y="67646"/>
                </a:cubicBezTo>
                <a:close/>
                <a:moveTo>
                  <a:pt x="47750" y="119376"/>
                </a:moveTo>
                <a:cubicBezTo>
                  <a:pt x="21378" y="119376"/>
                  <a:pt x="0" y="140755"/>
                  <a:pt x="0" y="167126"/>
                </a:cubicBezTo>
                <a:lnTo>
                  <a:pt x="0" y="206919"/>
                </a:lnTo>
                <a:lnTo>
                  <a:pt x="23875" y="206919"/>
                </a:lnTo>
                <a:lnTo>
                  <a:pt x="31833" y="278545"/>
                </a:lnTo>
                <a:lnTo>
                  <a:pt x="63667" y="278545"/>
                </a:lnTo>
                <a:lnTo>
                  <a:pt x="71625" y="206919"/>
                </a:lnTo>
                <a:lnTo>
                  <a:pt x="95500" y="206919"/>
                </a:lnTo>
                <a:lnTo>
                  <a:pt x="95500" y="167126"/>
                </a:lnTo>
                <a:cubicBezTo>
                  <a:pt x="95500" y="140755"/>
                  <a:pt x="74122" y="119376"/>
                  <a:pt x="47750" y="119376"/>
                </a:cubicBezTo>
                <a:close/>
                <a:moveTo>
                  <a:pt x="139271" y="43771"/>
                </a:moveTo>
                <a:cubicBezTo>
                  <a:pt x="139271" y="67945"/>
                  <a:pt x="158868" y="87542"/>
                  <a:pt x="183042" y="87542"/>
                </a:cubicBezTo>
                <a:cubicBezTo>
                  <a:pt x="207217" y="87542"/>
                  <a:pt x="226814" y="67945"/>
                  <a:pt x="226814" y="43771"/>
                </a:cubicBezTo>
                <a:cubicBezTo>
                  <a:pt x="226814" y="19597"/>
                  <a:pt x="207217" y="0"/>
                  <a:pt x="183042" y="0"/>
                </a:cubicBezTo>
                <a:cubicBezTo>
                  <a:pt x="158868" y="0"/>
                  <a:pt x="139271" y="19597"/>
                  <a:pt x="139271" y="43771"/>
                </a:cubicBezTo>
                <a:close/>
                <a:moveTo>
                  <a:pt x="238751" y="159168"/>
                </a:moveTo>
                <a:cubicBezTo>
                  <a:pt x="238751" y="128401"/>
                  <a:pt x="213809" y="103459"/>
                  <a:pt x="183042" y="103459"/>
                </a:cubicBezTo>
                <a:cubicBezTo>
                  <a:pt x="152275" y="103459"/>
                  <a:pt x="127334" y="128401"/>
                  <a:pt x="127334" y="159168"/>
                </a:cubicBezTo>
                <a:lnTo>
                  <a:pt x="127334" y="206919"/>
                </a:lnTo>
                <a:lnTo>
                  <a:pt x="152530" y="206919"/>
                </a:lnTo>
                <a:lnTo>
                  <a:pt x="159167" y="286503"/>
                </a:lnTo>
                <a:lnTo>
                  <a:pt x="206918" y="286503"/>
                </a:lnTo>
                <a:lnTo>
                  <a:pt x="213555" y="206919"/>
                </a:lnTo>
                <a:lnTo>
                  <a:pt x="238751" y="206919"/>
                </a:lnTo>
                <a:close/>
              </a:path>
            </a:pathLst>
          </a:custGeom>
          <a:noFill/>
          <a:ln w="11937">
            <a:solidFill>
              <a:srgbClr val="1C1C1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307305" y="4055660"/>
            <a:ext cx="2122551" cy="1910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200" b="1">
                <a:solidFill>
                  <a:srgbClr val="1C1C1C"/>
                </a:solidFill>
                <a:latin typeface="Shantell Sans"/>
              </a:rPr>
              <a:t>Shared Accountability</a:t>
            </a:r>
          </a:p>
        </p:txBody>
      </p:sp>
      <p:grpSp>
        <p:nvGrpSpPr>
          <p:cNvPr id="38" name="Group 37"/>
          <p:cNvGrpSpPr/>
          <p:nvPr/>
        </p:nvGrpSpPr>
        <p:grpSpPr>
          <a:xfrm>
            <a:off x="5307305" y="4342161"/>
            <a:ext cx="1901190" cy="429709"/>
            <a:chOff x="5307305" y="4342161"/>
            <a:chExt cx="1901190" cy="429709"/>
          </a:xfrm>
        </p:grpSpPr>
        <p:sp>
          <p:nvSpPr>
            <p:cNvPr id="35" name="TextBox 34"/>
            <p:cNvSpPr txBox="1"/>
            <p:nvPr/>
          </p:nvSpPr>
          <p:spPr>
            <a:xfrm>
              <a:off x="5307305" y="4342161"/>
              <a:ext cx="2186368" cy="1432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1C1C1C"/>
                  </a:solidFill>
                  <a:latin typeface="Roboto"/>
                </a:rPr>
                <a:t>Fosters an organizational culture of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5307305" y="4485417"/>
              <a:ext cx="2186368" cy="1432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1C1C1C"/>
                  </a:solidFill>
                  <a:latin typeface="Roboto"/>
                </a:rPr>
                <a:t>shared accountability and risk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5307305" y="4628673"/>
              <a:ext cx="2186368" cy="1431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1C1C1C"/>
                  </a:solidFill>
                  <a:latin typeface="Roboto"/>
                </a:rPr>
                <a:t>awareness.</a:t>
              </a:r>
            </a:p>
          </p:txBody>
        </p:sp>
      </p:grpSp>
      <p:sp>
        <p:nvSpPr>
          <p:cNvPr id="39" name="Rounded Rectangle 38"/>
          <p:cNvSpPr/>
          <p:nvPr/>
        </p:nvSpPr>
        <p:spPr>
          <a:xfrm>
            <a:off x="7899954" y="4842391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9F8A4A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160279" y="2495759"/>
            <a:ext cx="764628" cy="1529229"/>
          </a:xfrm>
          <a:custGeom>
            <a:avLst/>
            <a:gdLst/>
            <a:ahLst/>
            <a:cxnLst/>
            <a:rect l="0" t="0" r="0" b="0"/>
            <a:pathLst>
              <a:path w="764628" h="1529229">
                <a:moveTo>
                  <a:pt x="11420" y="1053798"/>
                </a:moveTo>
                <a:cubicBezTo>
                  <a:pt x="52997" y="887653"/>
                  <a:pt x="203282" y="764609"/>
                  <a:pt x="382314" y="764600"/>
                </a:cubicBezTo>
                <a:cubicBezTo>
                  <a:pt x="561336" y="764600"/>
                  <a:pt x="711622" y="887663"/>
                  <a:pt x="753208" y="1053798"/>
                </a:cubicBezTo>
                <a:lnTo>
                  <a:pt x="382314" y="0"/>
                </a:lnTo>
                <a:lnTo>
                  <a:pt x="11420" y="1053798"/>
                </a:lnTo>
                <a:moveTo>
                  <a:pt x="0" y="1146914"/>
                </a:moveTo>
                <a:cubicBezTo>
                  <a:pt x="0" y="1358064"/>
                  <a:pt x="171164" y="1529229"/>
                  <a:pt x="382314" y="1529229"/>
                </a:cubicBezTo>
                <a:cubicBezTo>
                  <a:pt x="593455" y="1529229"/>
                  <a:pt x="764628" y="1358064"/>
                  <a:pt x="764628" y="1146914"/>
                </a:cubicBezTo>
                <a:cubicBezTo>
                  <a:pt x="764628" y="1114796"/>
                  <a:pt x="760666" y="1083611"/>
                  <a:pt x="753208" y="1053798"/>
                </a:cubicBezTo>
                <a:cubicBezTo>
                  <a:pt x="711622" y="887663"/>
                  <a:pt x="561336" y="764600"/>
                  <a:pt x="382314" y="764600"/>
                </a:cubicBezTo>
                <a:cubicBezTo>
                  <a:pt x="203282" y="764609"/>
                  <a:pt x="52997" y="887653"/>
                  <a:pt x="11420" y="1053798"/>
                </a:cubicBezTo>
                <a:cubicBezTo>
                  <a:pt x="3962" y="1083602"/>
                  <a:pt x="0" y="1114796"/>
                  <a:pt x="0" y="1146914"/>
                </a:cubicBezTo>
              </a:path>
            </a:pathLst>
          </a:custGeom>
          <a:solidFill>
            <a:srgbClr val="4C87C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60279" y="2495759"/>
            <a:ext cx="764624" cy="1529229"/>
          </a:xfrm>
          <a:custGeom>
            <a:avLst/>
            <a:gdLst/>
            <a:ahLst/>
            <a:cxnLst/>
            <a:rect l="0" t="0" r="0" b="0"/>
            <a:pathLst>
              <a:path w="764624" h="1529229">
                <a:moveTo>
                  <a:pt x="11421" y="1053796"/>
                </a:moveTo>
                <a:cubicBezTo>
                  <a:pt x="53001" y="887657"/>
                  <a:pt x="203286" y="764605"/>
                  <a:pt x="382312" y="764604"/>
                </a:cubicBezTo>
                <a:cubicBezTo>
                  <a:pt x="561340" y="764604"/>
                  <a:pt x="711626" y="887659"/>
                  <a:pt x="753204" y="1053800"/>
                </a:cubicBezTo>
                <a:lnTo>
                  <a:pt x="382312" y="0"/>
                </a:lnTo>
                <a:lnTo>
                  <a:pt x="11421" y="1053796"/>
                </a:lnTo>
                <a:close/>
                <a:moveTo>
                  <a:pt x="0" y="1146916"/>
                </a:moveTo>
                <a:cubicBezTo>
                  <a:pt x="0" y="1358063"/>
                  <a:pt x="171167" y="1529229"/>
                  <a:pt x="382312" y="1529229"/>
                </a:cubicBezTo>
                <a:cubicBezTo>
                  <a:pt x="593457" y="1529229"/>
                  <a:pt x="764624" y="1358063"/>
                  <a:pt x="764624" y="1146916"/>
                </a:cubicBezTo>
                <a:cubicBezTo>
                  <a:pt x="764624" y="1114799"/>
                  <a:pt x="760664" y="1083607"/>
                  <a:pt x="753204" y="1053800"/>
                </a:cubicBezTo>
                <a:cubicBezTo>
                  <a:pt x="711626" y="887659"/>
                  <a:pt x="561340" y="764604"/>
                  <a:pt x="382312" y="764604"/>
                </a:cubicBezTo>
                <a:cubicBezTo>
                  <a:pt x="203286" y="764605"/>
                  <a:pt x="53001" y="887657"/>
                  <a:pt x="11421" y="1053796"/>
                </a:cubicBezTo>
                <a:cubicBezTo>
                  <a:pt x="3961" y="1083603"/>
                  <a:pt x="0" y="1114797"/>
                  <a:pt x="0" y="1146916"/>
                </a:cubicBezTo>
                <a:close/>
              </a:path>
            </a:pathLst>
          </a:custGeom>
          <a:noFill/>
          <a:ln w="14701">
            <a:solidFill>
              <a:srgbClr val="F8F6F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42591" y="1485646"/>
            <a:ext cx="1429921" cy="1010126"/>
          </a:xfrm>
          <a:custGeom>
            <a:avLst/>
            <a:gdLst/>
            <a:ahLst/>
            <a:cxnLst/>
            <a:rect l="0" t="0" r="0" b="0"/>
            <a:pathLst>
              <a:path w="1429921" h="1010126">
                <a:moveTo>
                  <a:pt x="727167" y="162029"/>
                </a:moveTo>
                <a:cubicBezTo>
                  <a:pt x="604075" y="281111"/>
                  <a:pt x="572652" y="472782"/>
                  <a:pt x="662168" y="627821"/>
                </a:cubicBezTo>
                <a:cubicBezTo>
                  <a:pt x="751684" y="782869"/>
                  <a:pt x="933392" y="851487"/>
                  <a:pt x="1098061" y="804433"/>
                </a:cubicBezTo>
                <a:lnTo>
                  <a:pt x="0" y="1010126"/>
                </a:lnTo>
                <a:lnTo>
                  <a:pt x="727167" y="162029"/>
                </a:lnTo>
                <a:moveTo>
                  <a:pt x="802100" y="105575"/>
                </a:moveTo>
                <a:cubicBezTo>
                  <a:pt x="984961" y="0"/>
                  <a:pt x="1218780" y="62655"/>
                  <a:pt x="1324355" y="245516"/>
                </a:cubicBezTo>
                <a:cubicBezTo>
                  <a:pt x="1429921" y="428367"/>
                  <a:pt x="1367275" y="662187"/>
                  <a:pt x="1184414" y="767762"/>
                </a:cubicBezTo>
                <a:cubicBezTo>
                  <a:pt x="1156601" y="783821"/>
                  <a:pt x="1127607" y="795985"/>
                  <a:pt x="1098061" y="804433"/>
                </a:cubicBezTo>
                <a:cubicBezTo>
                  <a:pt x="933392" y="851487"/>
                  <a:pt x="751684" y="782869"/>
                  <a:pt x="662168" y="627821"/>
                </a:cubicBezTo>
                <a:cubicBezTo>
                  <a:pt x="572652" y="472782"/>
                  <a:pt x="604075" y="281111"/>
                  <a:pt x="727167" y="162029"/>
                </a:cubicBezTo>
                <a:cubicBezTo>
                  <a:pt x="749255" y="140665"/>
                  <a:pt x="774287" y="121634"/>
                  <a:pt x="802100" y="105575"/>
                </a:cubicBezTo>
              </a:path>
            </a:pathLst>
          </a:custGeom>
          <a:solidFill>
            <a:srgbClr val="2F6FD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42591" y="1485650"/>
            <a:ext cx="1429924" cy="1010122"/>
          </a:xfrm>
          <a:custGeom>
            <a:avLst/>
            <a:gdLst/>
            <a:ahLst/>
            <a:cxnLst/>
            <a:rect l="0" t="0" r="0" b="0"/>
            <a:pathLst>
              <a:path w="1429924" h="1010122">
                <a:moveTo>
                  <a:pt x="727168" y="162023"/>
                </a:moveTo>
                <a:cubicBezTo>
                  <a:pt x="604077" y="281102"/>
                  <a:pt x="572654" y="472779"/>
                  <a:pt x="662167" y="627820"/>
                </a:cubicBezTo>
                <a:cubicBezTo>
                  <a:pt x="751681" y="782862"/>
                  <a:pt x="933392" y="851487"/>
                  <a:pt x="1098064" y="804425"/>
                </a:cubicBezTo>
                <a:lnTo>
                  <a:pt x="0" y="1010122"/>
                </a:lnTo>
                <a:lnTo>
                  <a:pt x="727168" y="162023"/>
                </a:lnTo>
                <a:close/>
                <a:moveTo>
                  <a:pt x="802103" y="105572"/>
                </a:moveTo>
                <a:cubicBezTo>
                  <a:pt x="984960" y="0"/>
                  <a:pt x="1218778" y="62651"/>
                  <a:pt x="1324351" y="245508"/>
                </a:cubicBezTo>
                <a:cubicBezTo>
                  <a:pt x="1429924" y="428365"/>
                  <a:pt x="1367272" y="662184"/>
                  <a:pt x="1184415" y="767756"/>
                </a:cubicBezTo>
                <a:cubicBezTo>
                  <a:pt x="1156601" y="783815"/>
                  <a:pt x="1127607" y="795981"/>
                  <a:pt x="1098064" y="804425"/>
                </a:cubicBezTo>
                <a:cubicBezTo>
                  <a:pt x="933392" y="851487"/>
                  <a:pt x="751681" y="782862"/>
                  <a:pt x="662167" y="627820"/>
                </a:cubicBezTo>
                <a:cubicBezTo>
                  <a:pt x="572654" y="472779"/>
                  <a:pt x="604077" y="281102"/>
                  <a:pt x="727168" y="162023"/>
                </a:cubicBezTo>
                <a:cubicBezTo>
                  <a:pt x="749252" y="140659"/>
                  <a:pt x="774287" y="121632"/>
                  <a:pt x="802103" y="105572"/>
                </a:cubicBezTo>
                <a:close/>
              </a:path>
            </a:pathLst>
          </a:custGeom>
          <a:noFill/>
          <a:ln w="14701">
            <a:solidFill>
              <a:srgbClr val="F8F6F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112681" y="1485646"/>
            <a:ext cx="1429931" cy="1010126"/>
          </a:xfrm>
          <a:custGeom>
            <a:avLst/>
            <a:gdLst/>
            <a:ahLst/>
            <a:cxnLst/>
            <a:rect l="0" t="0" r="0" b="0"/>
            <a:pathLst>
              <a:path w="1429931" h="1010126">
                <a:moveTo>
                  <a:pt x="702764" y="162029"/>
                </a:moveTo>
                <a:cubicBezTo>
                  <a:pt x="825846" y="281111"/>
                  <a:pt x="857269" y="472782"/>
                  <a:pt x="767762" y="627821"/>
                </a:cubicBezTo>
                <a:cubicBezTo>
                  <a:pt x="678246" y="782869"/>
                  <a:pt x="496538" y="851487"/>
                  <a:pt x="331860" y="804433"/>
                </a:cubicBezTo>
                <a:lnTo>
                  <a:pt x="1429931" y="1010126"/>
                </a:lnTo>
                <a:lnTo>
                  <a:pt x="702764" y="162029"/>
                </a:lnTo>
                <a:moveTo>
                  <a:pt x="627821" y="105575"/>
                </a:moveTo>
                <a:cubicBezTo>
                  <a:pt x="444969" y="0"/>
                  <a:pt x="211150" y="62655"/>
                  <a:pt x="105575" y="245516"/>
                </a:cubicBezTo>
                <a:cubicBezTo>
                  <a:pt x="0" y="428367"/>
                  <a:pt x="62655" y="662187"/>
                  <a:pt x="245516" y="767762"/>
                </a:cubicBezTo>
                <a:cubicBezTo>
                  <a:pt x="273329" y="783821"/>
                  <a:pt x="302323" y="795985"/>
                  <a:pt x="331860" y="804433"/>
                </a:cubicBezTo>
                <a:cubicBezTo>
                  <a:pt x="496538" y="851487"/>
                  <a:pt x="678246" y="782869"/>
                  <a:pt x="767762" y="627821"/>
                </a:cubicBezTo>
                <a:cubicBezTo>
                  <a:pt x="857269" y="472782"/>
                  <a:pt x="825846" y="281111"/>
                  <a:pt x="702764" y="162029"/>
                </a:cubicBezTo>
                <a:cubicBezTo>
                  <a:pt x="680675" y="140665"/>
                  <a:pt x="655643" y="121634"/>
                  <a:pt x="627821" y="105575"/>
                </a:cubicBezTo>
              </a:path>
            </a:pathLst>
          </a:custGeom>
          <a:solidFill>
            <a:srgbClr val="88A48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112685" y="1485650"/>
            <a:ext cx="1429923" cy="1010122"/>
          </a:xfrm>
          <a:custGeom>
            <a:avLst/>
            <a:gdLst/>
            <a:ahLst/>
            <a:cxnLst/>
            <a:rect l="0" t="0" r="0" b="0"/>
            <a:pathLst>
              <a:path w="1429923" h="1010122">
                <a:moveTo>
                  <a:pt x="702755" y="162023"/>
                </a:moveTo>
                <a:cubicBezTo>
                  <a:pt x="825846" y="281102"/>
                  <a:pt x="857269" y="472779"/>
                  <a:pt x="767756" y="627820"/>
                </a:cubicBezTo>
                <a:cubicBezTo>
                  <a:pt x="678242" y="782862"/>
                  <a:pt x="496531" y="851487"/>
                  <a:pt x="331859" y="804425"/>
                </a:cubicBezTo>
                <a:lnTo>
                  <a:pt x="1429923" y="1010122"/>
                </a:lnTo>
                <a:lnTo>
                  <a:pt x="702755" y="162023"/>
                </a:lnTo>
                <a:close/>
                <a:moveTo>
                  <a:pt x="627820" y="105572"/>
                </a:moveTo>
                <a:cubicBezTo>
                  <a:pt x="444963" y="0"/>
                  <a:pt x="211145" y="62651"/>
                  <a:pt x="105572" y="245508"/>
                </a:cubicBezTo>
                <a:cubicBezTo>
                  <a:pt x="0" y="428365"/>
                  <a:pt x="62651" y="662184"/>
                  <a:pt x="245508" y="767756"/>
                </a:cubicBezTo>
                <a:cubicBezTo>
                  <a:pt x="273322" y="783815"/>
                  <a:pt x="302316" y="795981"/>
                  <a:pt x="331859" y="804425"/>
                </a:cubicBezTo>
                <a:cubicBezTo>
                  <a:pt x="496531" y="851487"/>
                  <a:pt x="678242" y="782862"/>
                  <a:pt x="767756" y="627820"/>
                </a:cubicBezTo>
                <a:cubicBezTo>
                  <a:pt x="857269" y="472779"/>
                  <a:pt x="825846" y="281102"/>
                  <a:pt x="702755" y="162023"/>
                </a:cubicBezTo>
                <a:cubicBezTo>
                  <a:pt x="680671" y="140659"/>
                  <a:pt x="655636" y="121632"/>
                  <a:pt x="627820" y="105572"/>
                </a:cubicBezTo>
                <a:close/>
              </a:path>
            </a:pathLst>
          </a:custGeom>
          <a:noFill/>
          <a:ln w="14701">
            <a:solidFill>
              <a:srgbClr val="F8F6F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-169878" y="371475"/>
            <a:ext cx="9483756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3100" b="1">
                <a:solidFill>
                  <a:srgbClr val="1C1C1C"/>
                </a:solidFill>
                <a:latin typeface="Shantell Sans"/>
              </a:rPr>
              <a:t>Data Aggregation in Risk Management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2097270" y="1519477"/>
            <a:ext cx="808796" cy="282367"/>
            <a:chOff x="2097270" y="1519477"/>
            <a:chExt cx="808796" cy="282367"/>
          </a:xfrm>
        </p:grpSpPr>
        <p:sp>
          <p:nvSpPr>
            <p:cNvPr id="9" name="TextBox 8"/>
            <p:cNvSpPr txBox="1"/>
            <p:nvPr/>
          </p:nvSpPr>
          <p:spPr>
            <a:xfrm>
              <a:off x="1975951" y="1519477"/>
              <a:ext cx="930115" cy="141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900" b="1">
                  <a:solidFill>
                    <a:srgbClr val="1C1C1C"/>
                  </a:solidFill>
                  <a:latin typeface="Shantell Sans"/>
                </a:rPr>
                <a:t>High-Velocity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975951" y="1660637"/>
              <a:ext cx="930115" cy="1412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900" b="1">
                  <a:solidFill>
                    <a:srgbClr val="1C1C1C"/>
                  </a:solidFill>
                  <a:latin typeface="Shantell Sans"/>
                </a:rPr>
                <a:t>Processing</a:t>
              </a:r>
            </a:p>
          </p:txBody>
        </p:sp>
      </p:grpSp>
      <p:sp>
        <p:nvSpPr>
          <p:cNvPr id="12" name="Rounded Rectangle 11"/>
          <p:cNvSpPr/>
          <p:nvPr/>
        </p:nvSpPr>
        <p:spPr>
          <a:xfrm>
            <a:off x="3369689" y="1732309"/>
            <a:ext cx="343758" cy="344409"/>
          </a:xfrm>
          <a:custGeom>
            <a:avLst/>
            <a:gdLst/>
            <a:ahLst/>
            <a:cxnLst/>
            <a:rect l="0" t="0" r="0" b="0"/>
            <a:pathLst>
              <a:path w="343758" h="344409">
                <a:moveTo>
                  <a:pt x="230620" y="244073"/>
                </a:moveTo>
                <a:cubicBezTo>
                  <a:pt x="230618" y="256386"/>
                  <a:pt x="240599" y="266368"/>
                  <a:pt x="252912" y="266368"/>
                </a:cubicBezTo>
                <a:cubicBezTo>
                  <a:pt x="265225" y="266368"/>
                  <a:pt x="275206" y="256386"/>
                  <a:pt x="275203" y="244073"/>
                </a:cubicBezTo>
                <a:cubicBezTo>
                  <a:pt x="275206" y="231760"/>
                  <a:pt x="265225" y="221777"/>
                  <a:pt x="252912" y="221777"/>
                </a:cubicBezTo>
                <a:cubicBezTo>
                  <a:pt x="240599" y="221777"/>
                  <a:pt x="230618" y="231760"/>
                  <a:pt x="230620" y="244073"/>
                </a:cubicBezTo>
                <a:moveTo>
                  <a:pt x="271851" y="157802"/>
                </a:moveTo>
                <a:lnTo>
                  <a:pt x="278424" y="179403"/>
                </a:lnTo>
                <a:cubicBezTo>
                  <a:pt x="280646" y="186864"/>
                  <a:pt x="288299" y="191299"/>
                  <a:pt x="295878" y="189520"/>
                </a:cubicBezTo>
                <a:lnTo>
                  <a:pt x="317758" y="184447"/>
                </a:lnTo>
                <a:cubicBezTo>
                  <a:pt x="326273" y="182529"/>
                  <a:pt x="335045" y="186381"/>
                  <a:pt x="339394" y="193950"/>
                </a:cubicBezTo>
                <a:cubicBezTo>
                  <a:pt x="343744" y="201518"/>
                  <a:pt x="342656" y="211036"/>
                  <a:pt x="336711" y="217428"/>
                </a:cubicBezTo>
                <a:lnTo>
                  <a:pt x="321390" y="233941"/>
                </a:lnTo>
                <a:cubicBezTo>
                  <a:pt x="316097" y="239653"/>
                  <a:pt x="316097" y="248477"/>
                  <a:pt x="321390" y="254189"/>
                </a:cubicBezTo>
                <a:lnTo>
                  <a:pt x="336711" y="270717"/>
                </a:lnTo>
                <a:cubicBezTo>
                  <a:pt x="342665" y="277105"/>
                  <a:pt x="343758" y="286628"/>
                  <a:pt x="339406" y="294198"/>
                </a:cubicBezTo>
                <a:cubicBezTo>
                  <a:pt x="335053" y="301768"/>
                  <a:pt x="326273" y="305615"/>
                  <a:pt x="317758" y="303684"/>
                </a:cubicBezTo>
                <a:lnTo>
                  <a:pt x="295878" y="298611"/>
                </a:lnTo>
                <a:cubicBezTo>
                  <a:pt x="288295" y="296832"/>
                  <a:pt x="280640" y="301276"/>
                  <a:pt x="278424" y="308742"/>
                </a:cubicBezTo>
                <a:lnTo>
                  <a:pt x="271851" y="330328"/>
                </a:lnTo>
                <a:cubicBezTo>
                  <a:pt x="269337" y="338687"/>
                  <a:pt x="261640" y="344409"/>
                  <a:pt x="252912" y="344409"/>
                </a:cubicBezTo>
                <a:cubicBezTo>
                  <a:pt x="244183" y="344409"/>
                  <a:pt x="236487" y="338687"/>
                  <a:pt x="233973" y="330328"/>
                </a:cubicBezTo>
                <a:lnTo>
                  <a:pt x="227414" y="308742"/>
                </a:lnTo>
                <a:cubicBezTo>
                  <a:pt x="225198" y="301276"/>
                  <a:pt x="217543" y="296832"/>
                  <a:pt x="209960" y="298611"/>
                </a:cubicBezTo>
                <a:lnTo>
                  <a:pt x="188080" y="303684"/>
                </a:lnTo>
                <a:cubicBezTo>
                  <a:pt x="179567" y="305606"/>
                  <a:pt x="170795" y="301756"/>
                  <a:pt x="166448" y="294188"/>
                </a:cubicBezTo>
                <a:cubicBezTo>
                  <a:pt x="162100" y="286620"/>
                  <a:pt x="163192" y="277103"/>
                  <a:pt x="169141" y="270717"/>
                </a:cubicBezTo>
                <a:lnTo>
                  <a:pt x="184448" y="254189"/>
                </a:lnTo>
                <a:cubicBezTo>
                  <a:pt x="189741" y="248477"/>
                  <a:pt x="189741" y="239653"/>
                  <a:pt x="184448" y="233941"/>
                </a:cubicBezTo>
                <a:lnTo>
                  <a:pt x="169141" y="217428"/>
                </a:lnTo>
                <a:cubicBezTo>
                  <a:pt x="163179" y="211044"/>
                  <a:pt x="162078" y="201517"/>
                  <a:pt x="166428" y="193942"/>
                </a:cubicBezTo>
                <a:cubicBezTo>
                  <a:pt x="170778" y="186367"/>
                  <a:pt x="179561" y="182515"/>
                  <a:pt x="188080" y="184447"/>
                </a:cubicBezTo>
                <a:lnTo>
                  <a:pt x="209960" y="189520"/>
                </a:lnTo>
                <a:cubicBezTo>
                  <a:pt x="217539" y="191299"/>
                  <a:pt x="225192" y="186864"/>
                  <a:pt x="227414" y="179403"/>
                </a:cubicBezTo>
                <a:lnTo>
                  <a:pt x="233987" y="157802"/>
                </a:lnTo>
                <a:cubicBezTo>
                  <a:pt x="236509" y="149456"/>
                  <a:pt x="244200" y="143746"/>
                  <a:pt x="252919" y="143746"/>
                </a:cubicBezTo>
                <a:cubicBezTo>
                  <a:pt x="261638" y="143746"/>
                  <a:pt x="269329" y="149456"/>
                  <a:pt x="271851" y="157802"/>
                </a:cubicBezTo>
                <a:close/>
                <a:moveTo>
                  <a:pt x="122087" y="300405"/>
                </a:moveTo>
                <a:cubicBezTo>
                  <a:pt x="50126" y="285319"/>
                  <a:pt x="0" y="219897"/>
                  <a:pt x="4156" y="146489"/>
                </a:cubicBezTo>
                <a:cubicBezTo>
                  <a:pt x="8312" y="73081"/>
                  <a:pt x="65502" y="13735"/>
                  <a:pt x="138706" y="6867"/>
                </a:cubicBezTo>
                <a:cubicBezTo>
                  <a:pt x="211910" y="0"/>
                  <a:pt x="279141" y="47673"/>
                  <a:pt x="296878" y="119027"/>
                </a:cubicBezTo>
                <a:moveTo>
                  <a:pt x="146732" y="73105"/>
                </a:moveTo>
                <a:lnTo>
                  <a:pt x="146732" y="153553"/>
                </a:lnTo>
                <a:lnTo>
                  <a:pt x="93105" y="193769"/>
                </a:lnTo>
              </a:path>
            </a:pathLst>
          </a:custGeom>
          <a:noFill/>
          <a:ln w="14701">
            <a:solidFill>
              <a:srgbClr val="1C1C1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373385" y="1764258"/>
            <a:ext cx="338199" cy="279382"/>
          </a:xfrm>
          <a:custGeom>
            <a:avLst/>
            <a:gdLst/>
            <a:ahLst/>
            <a:cxnLst/>
            <a:rect l="0" t="0" r="0" b="0"/>
            <a:pathLst>
              <a:path w="338199" h="279382">
                <a:moveTo>
                  <a:pt x="169099" y="264678"/>
                </a:moveTo>
                <a:lnTo>
                  <a:pt x="14704" y="264678"/>
                </a:lnTo>
                <a:cubicBezTo>
                  <a:pt x="6583" y="264678"/>
                  <a:pt x="0" y="258094"/>
                  <a:pt x="0" y="249973"/>
                </a:cubicBezTo>
                <a:lnTo>
                  <a:pt x="0" y="14704"/>
                </a:lnTo>
                <a:cubicBezTo>
                  <a:pt x="0" y="6583"/>
                  <a:pt x="6583" y="0"/>
                  <a:pt x="14704" y="0"/>
                </a:cubicBezTo>
                <a:lnTo>
                  <a:pt x="294086" y="0"/>
                </a:lnTo>
                <a:cubicBezTo>
                  <a:pt x="302207" y="0"/>
                  <a:pt x="308790" y="6583"/>
                  <a:pt x="308790" y="14704"/>
                </a:cubicBezTo>
                <a:lnTo>
                  <a:pt x="308790" y="116164"/>
                </a:lnTo>
                <a:moveTo>
                  <a:pt x="29408" y="124986"/>
                </a:moveTo>
                <a:lnTo>
                  <a:pt x="44112" y="139691"/>
                </a:lnTo>
                <a:lnTo>
                  <a:pt x="88225" y="95578"/>
                </a:lnTo>
                <a:moveTo>
                  <a:pt x="110282" y="132339"/>
                </a:moveTo>
                <a:lnTo>
                  <a:pt x="161747" y="132339"/>
                </a:lnTo>
                <a:moveTo>
                  <a:pt x="132338" y="102930"/>
                </a:moveTo>
                <a:lnTo>
                  <a:pt x="176451" y="102930"/>
                </a:lnTo>
                <a:moveTo>
                  <a:pt x="0" y="58817"/>
                </a:moveTo>
                <a:lnTo>
                  <a:pt x="308790" y="58817"/>
                </a:lnTo>
                <a:moveTo>
                  <a:pt x="176451" y="184230"/>
                </a:moveTo>
                <a:cubicBezTo>
                  <a:pt x="176451" y="221010"/>
                  <a:pt x="206267" y="250826"/>
                  <a:pt x="243047" y="250826"/>
                </a:cubicBezTo>
                <a:cubicBezTo>
                  <a:pt x="279827" y="250826"/>
                  <a:pt x="309643" y="221010"/>
                  <a:pt x="309643" y="184230"/>
                </a:cubicBezTo>
                <a:cubicBezTo>
                  <a:pt x="309643" y="147450"/>
                  <a:pt x="279827" y="117634"/>
                  <a:pt x="243047" y="117634"/>
                </a:cubicBezTo>
                <a:cubicBezTo>
                  <a:pt x="206267" y="117634"/>
                  <a:pt x="176451" y="147450"/>
                  <a:pt x="176451" y="184230"/>
                </a:cubicBezTo>
                <a:close/>
                <a:moveTo>
                  <a:pt x="338199" y="279382"/>
                </a:moveTo>
                <a:lnTo>
                  <a:pt x="290439" y="231622"/>
                </a:lnTo>
              </a:path>
            </a:pathLst>
          </a:custGeom>
          <a:noFill/>
          <a:ln w="14701">
            <a:solidFill>
              <a:srgbClr val="1C1C1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79115" y="1590085"/>
            <a:ext cx="1043749" cy="141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>
                <a:solidFill>
                  <a:srgbClr val="1C1C1C"/>
                </a:solidFill>
                <a:latin typeface="Shantell Sans"/>
              </a:rPr>
              <a:t>Data Integrity</a:t>
            </a:r>
          </a:p>
        </p:txBody>
      </p:sp>
      <p:grpSp>
        <p:nvGrpSpPr>
          <p:cNvPr id="19" name="Group 18"/>
          <p:cNvGrpSpPr/>
          <p:nvPr/>
        </p:nvGrpSpPr>
        <p:grpSpPr>
          <a:xfrm>
            <a:off x="1576967" y="1801845"/>
            <a:ext cx="1329099" cy="493917"/>
            <a:chOff x="1576967" y="1801845"/>
            <a:chExt cx="1329099" cy="493917"/>
          </a:xfrm>
        </p:grpSpPr>
        <p:sp>
          <p:nvSpPr>
            <p:cNvPr id="15" name="TextBox 14"/>
            <p:cNvSpPr txBox="1"/>
            <p:nvPr/>
          </p:nvSpPr>
          <p:spPr>
            <a:xfrm>
              <a:off x="1377603" y="1801845"/>
              <a:ext cx="1528463" cy="123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700" b="0">
                  <a:solidFill>
                    <a:srgbClr val="1C1C1C"/>
                  </a:solidFill>
                  <a:latin typeface="Roboto"/>
                </a:rPr>
                <a:t>The requirement for high-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377603" y="1925289"/>
              <a:ext cx="1528463" cy="1235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700" b="0">
                  <a:solidFill>
                    <a:srgbClr val="1C1C1C"/>
                  </a:solidFill>
                  <a:latin typeface="Roboto"/>
                </a:rPr>
                <a:t>velocity data processing to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377603" y="2048828"/>
              <a:ext cx="1528463" cy="1234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700" b="0">
                  <a:solidFill>
                    <a:srgbClr val="1C1C1C"/>
                  </a:solidFill>
                  <a:latin typeface="Roboto"/>
                </a:rPr>
                <a:t>facilitate rapid responses to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377603" y="2172272"/>
              <a:ext cx="1528463" cy="1234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700" b="0">
                  <a:solidFill>
                    <a:srgbClr val="1C1C1C"/>
                  </a:solidFill>
                  <a:latin typeface="Roboto"/>
                </a:rPr>
                <a:t>dynamic market phenomena.</a:t>
              </a: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6179115" y="1731239"/>
            <a:ext cx="1210865" cy="493918"/>
            <a:chOff x="6179115" y="1731239"/>
            <a:chExt cx="1210865" cy="493918"/>
          </a:xfrm>
        </p:grpSpPr>
        <p:sp>
          <p:nvSpPr>
            <p:cNvPr id="20" name="TextBox 19"/>
            <p:cNvSpPr txBox="1"/>
            <p:nvPr/>
          </p:nvSpPr>
          <p:spPr>
            <a:xfrm>
              <a:off x="6179115" y="1731239"/>
              <a:ext cx="1392494" cy="123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1C1C1C"/>
                  </a:solidFill>
                  <a:latin typeface="Roboto"/>
                </a:rPr>
                <a:t>Ensuring the precision,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179115" y="1854684"/>
              <a:ext cx="1392494" cy="1235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1C1C1C"/>
                  </a:solidFill>
                  <a:latin typeface="Roboto"/>
                </a:rPr>
                <a:t>comprehensiveness, and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179115" y="1978223"/>
              <a:ext cx="1392494" cy="1234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1C1C1C"/>
                  </a:solidFill>
                  <a:latin typeface="Roboto"/>
                </a:rPr>
                <a:t>temporal relevance of risk-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179115" y="2101667"/>
              <a:ext cx="1392494" cy="1234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1C1C1C"/>
                  </a:solidFill>
                  <a:latin typeface="Roboto"/>
                </a:rPr>
                <a:t>related datasets.</a:t>
              </a:r>
            </a:p>
          </p:txBody>
        </p:sp>
      </p:grpSp>
      <p:sp>
        <p:nvSpPr>
          <p:cNvPr id="25" name="Rounded Rectangle 24"/>
          <p:cNvSpPr/>
          <p:nvPr/>
        </p:nvSpPr>
        <p:spPr>
          <a:xfrm>
            <a:off x="4373491" y="3517747"/>
            <a:ext cx="338199" cy="308791"/>
          </a:xfrm>
          <a:custGeom>
            <a:avLst/>
            <a:gdLst/>
            <a:ahLst/>
            <a:cxnLst/>
            <a:rect l="0" t="0" r="0" b="0"/>
            <a:pathLst>
              <a:path w="338199" h="308791">
                <a:moveTo>
                  <a:pt x="293939" y="154395"/>
                </a:moveTo>
                <a:cubicBezTo>
                  <a:pt x="293939" y="153219"/>
                  <a:pt x="293939" y="151895"/>
                  <a:pt x="293939" y="150719"/>
                </a:cubicBezTo>
                <a:cubicBezTo>
                  <a:pt x="293939" y="132447"/>
                  <a:pt x="279126" y="117634"/>
                  <a:pt x="260854" y="117634"/>
                </a:cubicBezTo>
                <a:cubicBezTo>
                  <a:pt x="242582" y="117634"/>
                  <a:pt x="227769" y="132447"/>
                  <a:pt x="227769" y="150719"/>
                </a:cubicBezTo>
                <a:cubicBezTo>
                  <a:pt x="227769" y="151895"/>
                  <a:pt x="227769" y="153219"/>
                  <a:pt x="227769" y="154395"/>
                </a:cubicBezTo>
                <a:lnTo>
                  <a:pt x="187479" y="154395"/>
                </a:lnTo>
                <a:lnTo>
                  <a:pt x="187479" y="198508"/>
                </a:lnTo>
                <a:lnTo>
                  <a:pt x="191156" y="198508"/>
                </a:lnTo>
                <a:cubicBezTo>
                  <a:pt x="209428" y="198508"/>
                  <a:pt x="224240" y="213321"/>
                  <a:pt x="224240" y="231593"/>
                </a:cubicBezTo>
                <a:cubicBezTo>
                  <a:pt x="224240" y="249865"/>
                  <a:pt x="209428" y="264678"/>
                  <a:pt x="191156" y="264678"/>
                </a:cubicBezTo>
                <a:lnTo>
                  <a:pt x="187479" y="264678"/>
                </a:lnTo>
                <a:lnTo>
                  <a:pt x="187479" y="308791"/>
                </a:lnTo>
                <a:lnTo>
                  <a:pt x="323494" y="308791"/>
                </a:lnTo>
                <a:cubicBezTo>
                  <a:pt x="331615" y="308791"/>
                  <a:pt x="338199" y="302207"/>
                  <a:pt x="338199" y="294086"/>
                </a:cubicBezTo>
                <a:lnTo>
                  <a:pt x="338199" y="154395"/>
                </a:lnTo>
                <a:close/>
                <a:moveTo>
                  <a:pt x="191156" y="198508"/>
                </a:moveTo>
                <a:lnTo>
                  <a:pt x="187479" y="198508"/>
                </a:lnTo>
                <a:lnTo>
                  <a:pt x="187479" y="154395"/>
                </a:lnTo>
                <a:lnTo>
                  <a:pt x="150572" y="154395"/>
                </a:lnTo>
                <a:cubicBezTo>
                  <a:pt x="150572" y="155571"/>
                  <a:pt x="150572" y="156895"/>
                  <a:pt x="150572" y="158071"/>
                </a:cubicBezTo>
                <a:cubicBezTo>
                  <a:pt x="150572" y="176343"/>
                  <a:pt x="135759" y="191156"/>
                  <a:pt x="117487" y="191156"/>
                </a:cubicBezTo>
                <a:cubicBezTo>
                  <a:pt x="99215" y="191156"/>
                  <a:pt x="84402" y="176343"/>
                  <a:pt x="84402" y="158071"/>
                </a:cubicBezTo>
                <a:cubicBezTo>
                  <a:pt x="84402" y="156895"/>
                  <a:pt x="84402" y="155571"/>
                  <a:pt x="84402" y="154395"/>
                </a:cubicBezTo>
                <a:lnTo>
                  <a:pt x="36760" y="154395"/>
                </a:lnTo>
                <a:lnTo>
                  <a:pt x="36760" y="198508"/>
                </a:lnTo>
                <a:lnTo>
                  <a:pt x="33084" y="198508"/>
                </a:lnTo>
                <a:cubicBezTo>
                  <a:pt x="14812" y="198508"/>
                  <a:pt x="0" y="213321"/>
                  <a:pt x="0" y="231593"/>
                </a:cubicBezTo>
                <a:cubicBezTo>
                  <a:pt x="0" y="249865"/>
                  <a:pt x="14812" y="264678"/>
                  <a:pt x="33084" y="264678"/>
                </a:cubicBezTo>
                <a:lnTo>
                  <a:pt x="36760" y="264678"/>
                </a:lnTo>
                <a:lnTo>
                  <a:pt x="36760" y="294086"/>
                </a:lnTo>
                <a:cubicBezTo>
                  <a:pt x="36760" y="302207"/>
                  <a:pt x="43344" y="308791"/>
                  <a:pt x="51465" y="308791"/>
                </a:cubicBezTo>
                <a:lnTo>
                  <a:pt x="187479" y="308791"/>
                </a:lnTo>
                <a:lnTo>
                  <a:pt x="187479" y="264678"/>
                </a:lnTo>
                <a:lnTo>
                  <a:pt x="191156" y="264678"/>
                </a:lnTo>
                <a:cubicBezTo>
                  <a:pt x="209428" y="264678"/>
                  <a:pt x="224240" y="249865"/>
                  <a:pt x="224240" y="231593"/>
                </a:cubicBezTo>
                <a:cubicBezTo>
                  <a:pt x="224240" y="213321"/>
                  <a:pt x="209428" y="198508"/>
                  <a:pt x="191156" y="198508"/>
                </a:cubicBezTo>
                <a:close/>
                <a:moveTo>
                  <a:pt x="187479" y="110282"/>
                </a:moveTo>
                <a:lnTo>
                  <a:pt x="183803" y="110282"/>
                </a:lnTo>
                <a:cubicBezTo>
                  <a:pt x="165531" y="110282"/>
                  <a:pt x="150719" y="95469"/>
                  <a:pt x="150719" y="77197"/>
                </a:cubicBezTo>
                <a:cubicBezTo>
                  <a:pt x="150719" y="58925"/>
                  <a:pt x="165531" y="44113"/>
                  <a:pt x="183803" y="44113"/>
                </a:cubicBezTo>
                <a:lnTo>
                  <a:pt x="187479" y="44113"/>
                </a:lnTo>
                <a:lnTo>
                  <a:pt x="187479" y="0"/>
                </a:lnTo>
                <a:lnTo>
                  <a:pt x="51465" y="0"/>
                </a:lnTo>
                <a:cubicBezTo>
                  <a:pt x="43344" y="0"/>
                  <a:pt x="36760" y="6583"/>
                  <a:pt x="36760" y="14704"/>
                </a:cubicBezTo>
                <a:lnTo>
                  <a:pt x="36760" y="44113"/>
                </a:lnTo>
                <a:lnTo>
                  <a:pt x="40436" y="44113"/>
                </a:lnTo>
                <a:cubicBezTo>
                  <a:pt x="58709" y="44113"/>
                  <a:pt x="73521" y="58925"/>
                  <a:pt x="73521" y="77197"/>
                </a:cubicBezTo>
                <a:cubicBezTo>
                  <a:pt x="73521" y="95469"/>
                  <a:pt x="58709" y="110282"/>
                  <a:pt x="40436" y="110282"/>
                </a:cubicBezTo>
                <a:lnTo>
                  <a:pt x="36760" y="110282"/>
                </a:lnTo>
                <a:lnTo>
                  <a:pt x="36760" y="154395"/>
                </a:lnTo>
                <a:lnTo>
                  <a:pt x="84696" y="154395"/>
                </a:lnTo>
                <a:cubicBezTo>
                  <a:pt x="84696" y="155571"/>
                  <a:pt x="84696" y="156895"/>
                  <a:pt x="84696" y="158071"/>
                </a:cubicBezTo>
                <a:cubicBezTo>
                  <a:pt x="84696" y="176343"/>
                  <a:pt x="99509" y="191156"/>
                  <a:pt x="117781" y="191156"/>
                </a:cubicBezTo>
                <a:cubicBezTo>
                  <a:pt x="136053" y="191156"/>
                  <a:pt x="150866" y="176343"/>
                  <a:pt x="150866" y="158071"/>
                </a:cubicBezTo>
                <a:cubicBezTo>
                  <a:pt x="150866" y="156895"/>
                  <a:pt x="150866" y="155571"/>
                  <a:pt x="150866" y="154395"/>
                </a:cubicBezTo>
                <a:lnTo>
                  <a:pt x="187774" y="154395"/>
                </a:lnTo>
                <a:close/>
                <a:moveTo>
                  <a:pt x="293939" y="0"/>
                </a:moveTo>
                <a:cubicBezTo>
                  <a:pt x="293939" y="1176"/>
                  <a:pt x="293939" y="2499"/>
                  <a:pt x="293939" y="3676"/>
                </a:cubicBezTo>
                <a:cubicBezTo>
                  <a:pt x="293939" y="21948"/>
                  <a:pt x="279126" y="36760"/>
                  <a:pt x="260854" y="36760"/>
                </a:cubicBezTo>
                <a:cubicBezTo>
                  <a:pt x="242582" y="36760"/>
                  <a:pt x="227769" y="21948"/>
                  <a:pt x="227769" y="3676"/>
                </a:cubicBezTo>
                <a:cubicBezTo>
                  <a:pt x="227769" y="2499"/>
                  <a:pt x="227769" y="1176"/>
                  <a:pt x="227769" y="0"/>
                </a:cubicBezTo>
                <a:lnTo>
                  <a:pt x="187479" y="0"/>
                </a:lnTo>
                <a:lnTo>
                  <a:pt x="187479" y="44113"/>
                </a:lnTo>
                <a:lnTo>
                  <a:pt x="183803" y="44113"/>
                </a:lnTo>
                <a:cubicBezTo>
                  <a:pt x="165531" y="44113"/>
                  <a:pt x="150719" y="58925"/>
                  <a:pt x="150719" y="77197"/>
                </a:cubicBezTo>
                <a:cubicBezTo>
                  <a:pt x="150719" y="95469"/>
                  <a:pt x="165531" y="110282"/>
                  <a:pt x="183803" y="110282"/>
                </a:cubicBezTo>
                <a:lnTo>
                  <a:pt x="187479" y="110282"/>
                </a:lnTo>
                <a:lnTo>
                  <a:pt x="187479" y="154395"/>
                </a:lnTo>
                <a:lnTo>
                  <a:pt x="227916" y="154395"/>
                </a:lnTo>
                <a:cubicBezTo>
                  <a:pt x="227916" y="153219"/>
                  <a:pt x="227916" y="151895"/>
                  <a:pt x="227916" y="150719"/>
                </a:cubicBezTo>
                <a:cubicBezTo>
                  <a:pt x="227916" y="132447"/>
                  <a:pt x="242729" y="117634"/>
                  <a:pt x="261001" y="117634"/>
                </a:cubicBezTo>
                <a:cubicBezTo>
                  <a:pt x="279273" y="117634"/>
                  <a:pt x="294086" y="132447"/>
                  <a:pt x="294086" y="150719"/>
                </a:cubicBezTo>
                <a:cubicBezTo>
                  <a:pt x="294086" y="151895"/>
                  <a:pt x="294086" y="153219"/>
                  <a:pt x="294086" y="154395"/>
                </a:cubicBezTo>
                <a:lnTo>
                  <a:pt x="338199" y="154395"/>
                </a:lnTo>
                <a:lnTo>
                  <a:pt x="338199" y="14704"/>
                </a:lnTo>
                <a:cubicBezTo>
                  <a:pt x="338199" y="6583"/>
                  <a:pt x="331615" y="0"/>
                  <a:pt x="323494" y="0"/>
                </a:cubicBezTo>
                <a:close/>
              </a:path>
            </a:pathLst>
          </a:custGeom>
          <a:noFill/>
          <a:ln w="14701">
            <a:solidFill>
              <a:srgbClr val="1C1C1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794044" y="4260315"/>
            <a:ext cx="1497103" cy="141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900" b="1">
                <a:solidFill>
                  <a:srgbClr val="1C1C1C"/>
                </a:solidFill>
                <a:latin typeface="Shantell Sans"/>
              </a:rPr>
              <a:t>Systemic Integration</a:t>
            </a:r>
          </a:p>
        </p:txBody>
      </p:sp>
      <p:grpSp>
        <p:nvGrpSpPr>
          <p:cNvPr id="31" name="Group 30"/>
          <p:cNvGrpSpPr/>
          <p:nvPr/>
        </p:nvGrpSpPr>
        <p:grpSpPr>
          <a:xfrm>
            <a:off x="3901082" y="4401472"/>
            <a:ext cx="1283017" cy="493917"/>
            <a:chOff x="3901082" y="4401472"/>
            <a:chExt cx="1283017" cy="493917"/>
          </a:xfrm>
        </p:grpSpPr>
        <p:sp>
          <p:nvSpPr>
            <p:cNvPr id="27" name="TextBox 26"/>
            <p:cNvSpPr txBox="1"/>
            <p:nvPr/>
          </p:nvSpPr>
          <p:spPr>
            <a:xfrm>
              <a:off x="3804856" y="4401472"/>
              <a:ext cx="1475469" cy="1234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1C1C1C"/>
                  </a:solidFill>
                  <a:latin typeface="Roboto"/>
                </a:rPr>
                <a:t>Eliminating informational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3804856" y="4524916"/>
              <a:ext cx="1475469" cy="1235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1C1C1C"/>
                  </a:solidFill>
                  <a:latin typeface="Roboto"/>
                </a:rPr>
                <a:t>silos to facilitate a holistic,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804856" y="4648455"/>
              <a:ext cx="1475469" cy="1234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1C1C1C"/>
                  </a:solidFill>
                  <a:latin typeface="Roboto"/>
                </a:rPr>
                <a:t>enterprise-wide perspective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3804856" y="4771899"/>
              <a:ext cx="1475469" cy="1234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1C1C1C"/>
                  </a:solidFill>
                  <a:latin typeface="Roboto"/>
                </a:rPr>
                <a:t>on risk exposure.</a:t>
              </a:r>
            </a:p>
          </p:txBody>
        </p:sp>
      </p:grpSp>
      <p:sp>
        <p:nvSpPr>
          <p:cNvPr id="32" name="Rounded Rectangle 31"/>
          <p:cNvSpPr/>
          <p:nvPr/>
        </p:nvSpPr>
        <p:spPr>
          <a:xfrm>
            <a:off x="7886700" y="4829136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9F8A4A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614236" y="3813841"/>
            <a:ext cx="1050502" cy="1050502"/>
          </a:xfrm>
          <a:custGeom>
            <a:avLst/>
            <a:gdLst/>
            <a:ahLst/>
            <a:cxnLst/>
            <a:rect l="0" t="0" r="0" b="0"/>
            <a:pathLst>
              <a:path w="1050502" h="1050502">
                <a:moveTo>
                  <a:pt x="525256" y="1050502"/>
                </a:moveTo>
                <a:cubicBezTo>
                  <a:pt x="815340" y="1050502"/>
                  <a:pt x="1050502" y="815340"/>
                  <a:pt x="1050502" y="525256"/>
                </a:cubicBezTo>
                <a:cubicBezTo>
                  <a:pt x="1050502" y="235162"/>
                  <a:pt x="815340" y="0"/>
                  <a:pt x="525256" y="0"/>
                </a:cubicBezTo>
                <a:cubicBezTo>
                  <a:pt x="235162" y="0"/>
                  <a:pt x="0" y="235162"/>
                  <a:pt x="0" y="525256"/>
                </a:cubicBezTo>
                <a:cubicBezTo>
                  <a:pt x="0" y="815340"/>
                  <a:pt x="235162" y="1050502"/>
                  <a:pt x="525256" y="1050502"/>
                </a:cubicBezTo>
                <a:moveTo>
                  <a:pt x="572843" y="222351"/>
                </a:moveTo>
                <a:cubicBezTo>
                  <a:pt x="569052" y="228266"/>
                  <a:pt x="572938" y="239001"/>
                  <a:pt x="579939" y="239001"/>
                </a:cubicBezTo>
                <a:lnTo>
                  <a:pt x="801014" y="239001"/>
                </a:lnTo>
                <a:cubicBezTo>
                  <a:pt x="804919" y="239001"/>
                  <a:pt x="808081" y="242182"/>
                  <a:pt x="808081" y="246116"/>
                </a:cubicBezTo>
                <a:lnTo>
                  <a:pt x="808081" y="486013"/>
                </a:lnTo>
                <a:cubicBezTo>
                  <a:pt x="808081" y="493052"/>
                  <a:pt x="797413" y="496957"/>
                  <a:pt x="791527" y="493147"/>
                </a:cubicBezTo>
                <a:cubicBezTo>
                  <a:pt x="782707" y="487432"/>
                  <a:pt x="772210" y="484117"/>
                  <a:pt x="760942" y="484117"/>
                </a:cubicBezTo>
                <a:cubicBezTo>
                  <a:pt x="729700" y="484117"/>
                  <a:pt x="704383" y="509597"/>
                  <a:pt x="704383" y="541020"/>
                </a:cubicBezTo>
                <a:cubicBezTo>
                  <a:pt x="704383" y="572452"/>
                  <a:pt x="729700" y="597922"/>
                  <a:pt x="760942" y="597922"/>
                </a:cubicBezTo>
                <a:cubicBezTo>
                  <a:pt x="772210" y="597922"/>
                  <a:pt x="782707" y="594607"/>
                  <a:pt x="791527" y="588892"/>
                </a:cubicBezTo>
                <a:cubicBezTo>
                  <a:pt x="797413" y="585082"/>
                  <a:pt x="808081" y="588987"/>
                  <a:pt x="808081" y="596026"/>
                </a:cubicBezTo>
                <a:lnTo>
                  <a:pt x="808081" y="827903"/>
                </a:lnTo>
                <a:cubicBezTo>
                  <a:pt x="808081" y="831837"/>
                  <a:pt x="804919" y="835018"/>
                  <a:pt x="801014" y="835018"/>
                </a:cubicBezTo>
                <a:lnTo>
                  <a:pt x="579939" y="835018"/>
                </a:lnTo>
                <a:cubicBezTo>
                  <a:pt x="572938" y="835018"/>
                  <a:pt x="569052" y="824283"/>
                  <a:pt x="572843" y="818368"/>
                </a:cubicBezTo>
                <a:cubicBezTo>
                  <a:pt x="578529" y="809491"/>
                  <a:pt x="581815" y="798937"/>
                  <a:pt x="581815" y="787603"/>
                </a:cubicBezTo>
                <a:cubicBezTo>
                  <a:pt x="581815" y="756170"/>
                  <a:pt x="556498" y="730691"/>
                  <a:pt x="525256" y="730691"/>
                </a:cubicBezTo>
                <a:cubicBezTo>
                  <a:pt x="494014" y="730691"/>
                  <a:pt x="468687" y="756170"/>
                  <a:pt x="468687" y="787603"/>
                </a:cubicBezTo>
                <a:cubicBezTo>
                  <a:pt x="468687" y="798937"/>
                  <a:pt x="471982" y="809491"/>
                  <a:pt x="477659" y="818368"/>
                </a:cubicBezTo>
                <a:cubicBezTo>
                  <a:pt x="481450" y="824283"/>
                  <a:pt x="477573" y="835018"/>
                  <a:pt x="470573" y="835018"/>
                </a:cubicBezTo>
                <a:lnTo>
                  <a:pt x="249497" y="835018"/>
                </a:lnTo>
                <a:cubicBezTo>
                  <a:pt x="245592" y="835018"/>
                  <a:pt x="242420" y="831837"/>
                  <a:pt x="242420" y="827903"/>
                </a:cubicBezTo>
                <a:lnTo>
                  <a:pt x="242420" y="596026"/>
                </a:lnTo>
                <a:cubicBezTo>
                  <a:pt x="242420" y="588987"/>
                  <a:pt x="253088" y="585082"/>
                  <a:pt x="258975" y="588892"/>
                </a:cubicBezTo>
                <a:cubicBezTo>
                  <a:pt x="267795" y="594607"/>
                  <a:pt x="278291" y="597922"/>
                  <a:pt x="289559" y="597922"/>
                </a:cubicBezTo>
                <a:cubicBezTo>
                  <a:pt x="320802" y="597922"/>
                  <a:pt x="346128" y="572452"/>
                  <a:pt x="346128" y="541020"/>
                </a:cubicBezTo>
                <a:cubicBezTo>
                  <a:pt x="346128" y="509597"/>
                  <a:pt x="320802" y="484117"/>
                  <a:pt x="289559" y="484117"/>
                </a:cubicBezTo>
                <a:cubicBezTo>
                  <a:pt x="278291" y="484117"/>
                  <a:pt x="267795" y="487432"/>
                  <a:pt x="258975" y="493147"/>
                </a:cubicBezTo>
                <a:cubicBezTo>
                  <a:pt x="253088" y="496957"/>
                  <a:pt x="242420" y="493052"/>
                  <a:pt x="242420" y="486013"/>
                </a:cubicBezTo>
                <a:lnTo>
                  <a:pt x="242420" y="246116"/>
                </a:lnTo>
                <a:cubicBezTo>
                  <a:pt x="242420" y="242182"/>
                  <a:pt x="245592" y="239001"/>
                  <a:pt x="249497" y="239001"/>
                </a:cubicBezTo>
                <a:lnTo>
                  <a:pt x="470573" y="239001"/>
                </a:lnTo>
                <a:cubicBezTo>
                  <a:pt x="477573" y="239001"/>
                  <a:pt x="481450" y="228266"/>
                  <a:pt x="477659" y="222351"/>
                </a:cubicBezTo>
                <a:cubicBezTo>
                  <a:pt x="471982" y="213474"/>
                  <a:pt x="468687" y="202920"/>
                  <a:pt x="468687" y="191585"/>
                </a:cubicBezTo>
                <a:cubicBezTo>
                  <a:pt x="468687" y="160153"/>
                  <a:pt x="494014" y="134683"/>
                  <a:pt x="525256" y="134683"/>
                </a:cubicBezTo>
                <a:cubicBezTo>
                  <a:pt x="556498" y="134683"/>
                  <a:pt x="581815" y="160153"/>
                  <a:pt x="581815" y="191585"/>
                </a:cubicBezTo>
                <a:cubicBezTo>
                  <a:pt x="581815" y="202920"/>
                  <a:pt x="578529" y="213474"/>
                  <a:pt x="572843" y="222351"/>
                </a:cubicBezTo>
              </a:path>
            </a:pathLst>
          </a:custGeom>
          <a:solidFill>
            <a:srgbClr val="2F6FD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614236" y="3813840"/>
            <a:ext cx="1050507" cy="1050507"/>
          </a:xfrm>
          <a:custGeom>
            <a:avLst/>
            <a:gdLst/>
            <a:ahLst/>
            <a:cxnLst/>
            <a:rect l="0" t="0" r="0" b="0"/>
            <a:pathLst>
              <a:path w="1050507" h="1050507">
                <a:moveTo>
                  <a:pt x="525253" y="1050507"/>
                </a:moveTo>
                <a:cubicBezTo>
                  <a:pt x="815343" y="1050507"/>
                  <a:pt x="1050507" y="815343"/>
                  <a:pt x="1050507" y="525253"/>
                </a:cubicBezTo>
                <a:cubicBezTo>
                  <a:pt x="1050507" y="235163"/>
                  <a:pt x="815343" y="0"/>
                  <a:pt x="525253" y="0"/>
                </a:cubicBezTo>
                <a:cubicBezTo>
                  <a:pt x="235163" y="0"/>
                  <a:pt x="0" y="235163"/>
                  <a:pt x="0" y="525253"/>
                </a:cubicBezTo>
                <a:cubicBezTo>
                  <a:pt x="0" y="815343"/>
                  <a:pt x="235163" y="1050507"/>
                  <a:pt x="525253" y="1050507"/>
                </a:cubicBezTo>
                <a:close/>
                <a:moveTo>
                  <a:pt x="572846" y="222350"/>
                </a:moveTo>
                <a:cubicBezTo>
                  <a:pt x="569055" y="228270"/>
                  <a:pt x="572937" y="239001"/>
                  <a:pt x="579937" y="239001"/>
                </a:cubicBezTo>
                <a:lnTo>
                  <a:pt x="801011" y="239001"/>
                </a:lnTo>
                <a:cubicBezTo>
                  <a:pt x="804916" y="239001"/>
                  <a:pt x="808082" y="242186"/>
                  <a:pt x="808082" y="246114"/>
                </a:cubicBezTo>
                <a:lnTo>
                  <a:pt x="808082" y="486012"/>
                </a:lnTo>
                <a:cubicBezTo>
                  <a:pt x="808082" y="493053"/>
                  <a:pt x="797414" y="496959"/>
                  <a:pt x="791528" y="493146"/>
                </a:cubicBezTo>
                <a:cubicBezTo>
                  <a:pt x="782710" y="487433"/>
                  <a:pt x="772211" y="484119"/>
                  <a:pt x="760944" y="484119"/>
                </a:cubicBezTo>
                <a:cubicBezTo>
                  <a:pt x="729703" y="484119"/>
                  <a:pt x="704378" y="509596"/>
                  <a:pt x="704378" y="541022"/>
                </a:cubicBezTo>
                <a:cubicBezTo>
                  <a:pt x="704378" y="572449"/>
                  <a:pt x="729703" y="597924"/>
                  <a:pt x="760944" y="597924"/>
                </a:cubicBezTo>
                <a:cubicBezTo>
                  <a:pt x="772211" y="597924"/>
                  <a:pt x="782710" y="594610"/>
                  <a:pt x="791528" y="588898"/>
                </a:cubicBezTo>
                <a:cubicBezTo>
                  <a:pt x="797414" y="585085"/>
                  <a:pt x="808082" y="588990"/>
                  <a:pt x="808082" y="596032"/>
                </a:cubicBezTo>
                <a:lnTo>
                  <a:pt x="808082" y="827905"/>
                </a:lnTo>
                <a:cubicBezTo>
                  <a:pt x="808082" y="831833"/>
                  <a:pt x="804916" y="835018"/>
                  <a:pt x="801011" y="835018"/>
                </a:cubicBezTo>
                <a:lnTo>
                  <a:pt x="579937" y="835018"/>
                </a:lnTo>
                <a:cubicBezTo>
                  <a:pt x="572937" y="835018"/>
                  <a:pt x="569055" y="824287"/>
                  <a:pt x="572846" y="818366"/>
                </a:cubicBezTo>
                <a:cubicBezTo>
                  <a:pt x="578524" y="809496"/>
                  <a:pt x="581819" y="798934"/>
                  <a:pt x="581819" y="787599"/>
                </a:cubicBezTo>
                <a:cubicBezTo>
                  <a:pt x="581819" y="756173"/>
                  <a:pt x="556494" y="730696"/>
                  <a:pt x="525253" y="730696"/>
                </a:cubicBezTo>
                <a:cubicBezTo>
                  <a:pt x="494012" y="730696"/>
                  <a:pt x="468687" y="756173"/>
                  <a:pt x="468687" y="787599"/>
                </a:cubicBezTo>
                <a:cubicBezTo>
                  <a:pt x="468687" y="798934"/>
                  <a:pt x="471982" y="809496"/>
                  <a:pt x="477660" y="818366"/>
                </a:cubicBezTo>
                <a:cubicBezTo>
                  <a:pt x="481451" y="824287"/>
                  <a:pt x="477570" y="835018"/>
                  <a:pt x="470569" y="835018"/>
                </a:cubicBezTo>
                <a:lnTo>
                  <a:pt x="249495" y="835018"/>
                </a:lnTo>
                <a:cubicBezTo>
                  <a:pt x="245590" y="835018"/>
                  <a:pt x="242424" y="831833"/>
                  <a:pt x="242424" y="827905"/>
                </a:cubicBezTo>
                <a:lnTo>
                  <a:pt x="242424" y="596032"/>
                </a:lnTo>
                <a:cubicBezTo>
                  <a:pt x="242424" y="588989"/>
                  <a:pt x="253092" y="585085"/>
                  <a:pt x="258977" y="588898"/>
                </a:cubicBezTo>
                <a:cubicBezTo>
                  <a:pt x="267796" y="594610"/>
                  <a:pt x="278294" y="597924"/>
                  <a:pt x="289562" y="597924"/>
                </a:cubicBezTo>
                <a:cubicBezTo>
                  <a:pt x="320803" y="597924"/>
                  <a:pt x="346128" y="572449"/>
                  <a:pt x="346128" y="541022"/>
                </a:cubicBezTo>
                <a:cubicBezTo>
                  <a:pt x="346128" y="509596"/>
                  <a:pt x="320803" y="484119"/>
                  <a:pt x="289562" y="484119"/>
                </a:cubicBezTo>
                <a:cubicBezTo>
                  <a:pt x="278294" y="484119"/>
                  <a:pt x="267796" y="487434"/>
                  <a:pt x="258977" y="493146"/>
                </a:cubicBezTo>
                <a:cubicBezTo>
                  <a:pt x="253092" y="496959"/>
                  <a:pt x="242424" y="493054"/>
                  <a:pt x="242424" y="486013"/>
                </a:cubicBezTo>
                <a:lnTo>
                  <a:pt x="242424" y="246114"/>
                </a:lnTo>
                <a:cubicBezTo>
                  <a:pt x="242424" y="242186"/>
                  <a:pt x="245590" y="239001"/>
                  <a:pt x="249495" y="239001"/>
                </a:cubicBezTo>
                <a:lnTo>
                  <a:pt x="470569" y="239001"/>
                </a:lnTo>
                <a:cubicBezTo>
                  <a:pt x="477570" y="239001"/>
                  <a:pt x="481451" y="228270"/>
                  <a:pt x="477660" y="222350"/>
                </a:cubicBezTo>
                <a:cubicBezTo>
                  <a:pt x="471982" y="213478"/>
                  <a:pt x="468687" y="202918"/>
                  <a:pt x="468687" y="191582"/>
                </a:cubicBezTo>
                <a:cubicBezTo>
                  <a:pt x="468687" y="160156"/>
                  <a:pt x="494012" y="134680"/>
                  <a:pt x="525253" y="134680"/>
                </a:cubicBezTo>
                <a:cubicBezTo>
                  <a:pt x="556494" y="134680"/>
                  <a:pt x="581819" y="160156"/>
                  <a:pt x="581819" y="191582"/>
                </a:cubicBezTo>
                <a:cubicBezTo>
                  <a:pt x="581819" y="202918"/>
                  <a:pt x="578524" y="213478"/>
                  <a:pt x="572846" y="222350"/>
                </a:cubicBezTo>
                <a:close/>
              </a:path>
            </a:pathLst>
          </a:custGeom>
          <a:noFill/>
          <a:ln w="11937">
            <a:solidFill>
              <a:srgbClr val="F8F6F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140952" y="2810735"/>
            <a:ext cx="9525" cy="1002189"/>
          </a:xfrm>
          <a:custGeom>
            <a:avLst/>
            <a:gdLst/>
            <a:ahLst/>
            <a:cxnLst/>
            <a:rect l="0" t="0" r="0" b="0"/>
            <a:pathLst>
              <a:path w="9525" h="1002189">
                <a:moveTo>
                  <a:pt x="0" y="0"/>
                </a:moveTo>
                <a:lnTo>
                  <a:pt x="0" y="1002189"/>
                </a:lnTo>
              </a:path>
            </a:pathLst>
          </a:custGeom>
          <a:noFill/>
          <a:ln w="11937">
            <a:solidFill>
              <a:srgbClr val="2F6FD6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046746" y="1334004"/>
            <a:ext cx="1050502" cy="1050502"/>
          </a:xfrm>
          <a:custGeom>
            <a:avLst/>
            <a:gdLst/>
            <a:ahLst/>
            <a:cxnLst/>
            <a:rect l="0" t="0" r="0" b="0"/>
            <a:pathLst>
              <a:path w="1050502" h="1050502">
                <a:moveTo>
                  <a:pt x="525256" y="1050502"/>
                </a:moveTo>
                <a:cubicBezTo>
                  <a:pt x="815340" y="1050502"/>
                  <a:pt x="1050502" y="815340"/>
                  <a:pt x="1050502" y="525256"/>
                </a:cubicBezTo>
                <a:cubicBezTo>
                  <a:pt x="1050502" y="235162"/>
                  <a:pt x="815340" y="0"/>
                  <a:pt x="525256" y="0"/>
                </a:cubicBezTo>
                <a:cubicBezTo>
                  <a:pt x="235162" y="0"/>
                  <a:pt x="0" y="235162"/>
                  <a:pt x="0" y="525256"/>
                </a:cubicBezTo>
                <a:cubicBezTo>
                  <a:pt x="0" y="815340"/>
                  <a:pt x="235162" y="1050502"/>
                  <a:pt x="525256" y="1050502"/>
                </a:cubicBezTo>
                <a:moveTo>
                  <a:pt x="572843" y="222351"/>
                </a:moveTo>
                <a:cubicBezTo>
                  <a:pt x="569052" y="228266"/>
                  <a:pt x="572938" y="239001"/>
                  <a:pt x="579939" y="239001"/>
                </a:cubicBezTo>
                <a:lnTo>
                  <a:pt x="801014" y="239001"/>
                </a:lnTo>
                <a:cubicBezTo>
                  <a:pt x="804919" y="239001"/>
                  <a:pt x="808081" y="242182"/>
                  <a:pt x="808081" y="246116"/>
                </a:cubicBezTo>
                <a:lnTo>
                  <a:pt x="808081" y="486013"/>
                </a:lnTo>
                <a:cubicBezTo>
                  <a:pt x="808081" y="493052"/>
                  <a:pt x="797413" y="496957"/>
                  <a:pt x="791527" y="493147"/>
                </a:cubicBezTo>
                <a:cubicBezTo>
                  <a:pt x="782707" y="487432"/>
                  <a:pt x="772210" y="484117"/>
                  <a:pt x="760942" y="484117"/>
                </a:cubicBezTo>
                <a:cubicBezTo>
                  <a:pt x="729700" y="484117"/>
                  <a:pt x="704373" y="509597"/>
                  <a:pt x="704373" y="541020"/>
                </a:cubicBezTo>
                <a:cubicBezTo>
                  <a:pt x="704373" y="572452"/>
                  <a:pt x="729700" y="597922"/>
                  <a:pt x="760942" y="597922"/>
                </a:cubicBezTo>
                <a:cubicBezTo>
                  <a:pt x="772210" y="597922"/>
                  <a:pt x="782707" y="594607"/>
                  <a:pt x="791527" y="588902"/>
                </a:cubicBezTo>
                <a:cubicBezTo>
                  <a:pt x="797413" y="585082"/>
                  <a:pt x="808081" y="588987"/>
                  <a:pt x="808081" y="596036"/>
                </a:cubicBezTo>
                <a:lnTo>
                  <a:pt x="808081" y="827903"/>
                </a:lnTo>
                <a:cubicBezTo>
                  <a:pt x="808081" y="831837"/>
                  <a:pt x="804919" y="835018"/>
                  <a:pt x="801014" y="835018"/>
                </a:cubicBezTo>
                <a:lnTo>
                  <a:pt x="579939" y="835018"/>
                </a:lnTo>
                <a:cubicBezTo>
                  <a:pt x="572938" y="835018"/>
                  <a:pt x="569052" y="824283"/>
                  <a:pt x="572843" y="818368"/>
                </a:cubicBezTo>
                <a:cubicBezTo>
                  <a:pt x="578519" y="809491"/>
                  <a:pt x="581815" y="798937"/>
                  <a:pt x="581815" y="787603"/>
                </a:cubicBezTo>
                <a:cubicBezTo>
                  <a:pt x="581815" y="756170"/>
                  <a:pt x="556498" y="730700"/>
                  <a:pt x="525256" y="730700"/>
                </a:cubicBezTo>
                <a:cubicBezTo>
                  <a:pt x="494014" y="730700"/>
                  <a:pt x="468687" y="756170"/>
                  <a:pt x="468687" y="787603"/>
                </a:cubicBezTo>
                <a:cubicBezTo>
                  <a:pt x="468687" y="798937"/>
                  <a:pt x="471982" y="809491"/>
                  <a:pt x="477659" y="818368"/>
                </a:cubicBezTo>
                <a:cubicBezTo>
                  <a:pt x="481450" y="824283"/>
                  <a:pt x="477573" y="835018"/>
                  <a:pt x="470573" y="835018"/>
                </a:cubicBezTo>
                <a:lnTo>
                  <a:pt x="249497" y="835018"/>
                </a:lnTo>
                <a:cubicBezTo>
                  <a:pt x="245592" y="835018"/>
                  <a:pt x="242420" y="831837"/>
                  <a:pt x="242420" y="827903"/>
                </a:cubicBezTo>
                <a:lnTo>
                  <a:pt x="242420" y="596026"/>
                </a:lnTo>
                <a:cubicBezTo>
                  <a:pt x="242420" y="588987"/>
                  <a:pt x="253088" y="585082"/>
                  <a:pt x="258975" y="588902"/>
                </a:cubicBezTo>
                <a:cubicBezTo>
                  <a:pt x="267795" y="594607"/>
                  <a:pt x="278291" y="597922"/>
                  <a:pt x="289559" y="597922"/>
                </a:cubicBezTo>
                <a:cubicBezTo>
                  <a:pt x="320802" y="597922"/>
                  <a:pt x="346128" y="572452"/>
                  <a:pt x="346128" y="541020"/>
                </a:cubicBezTo>
                <a:cubicBezTo>
                  <a:pt x="346128" y="509597"/>
                  <a:pt x="320802" y="484117"/>
                  <a:pt x="289559" y="484117"/>
                </a:cubicBezTo>
                <a:cubicBezTo>
                  <a:pt x="278291" y="484117"/>
                  <a:pt x="267795" y="487432"/>
                  <a:pt x="258975" y="493147"/>
                </a:cubicBezTo>
                <a:cubicBezTo>
                  <a:pt x="253088" y="496957"/>
                  <a:pt x="242420" y="493052"/>
                  <a:pt x="242420" y="486013"/>
                </a:cubicBezTo>
                <a:lnTo>
                  <a:pt x="242420" y="246116"/>
                </a:lnTo>
                <a:cubicBezTo>
                  <a:pt x="242420" y="242182"/>
                  <a:pt x="245592" y="239001"/>
                  <a:pt x="249497" y="239001"/>
                </a:cubicBezTo>
                <a:lnTo>
                  <a:pt x="470573" y="239001"/>
                </a:lnTo>
                <a:cubicBezTo>
                  <a:pt x="477573" y="239001"/>
                  <a:pt x="481450" y="228266"/>
                  <a:pt x="477659" y="222351"/>
                </a:cubicBezTo>
                <a:cubicBezTo>
                  <a:pt x="471982" y="213474"/>
                  <a:pt x="468687" y="202920"/>
                  <a:pt x="468687" y="191585"/>
                </a:cubicBezTo>
                <a:cubicBezTo>
                  <a:pt x="468687" y="160153"/>
                  <a:pt x="494014" y="134683"/>
                  <a:pt x="525256" y="134683"/>
                </a:cubicBezTo>
                <a:cubicBezTo>
                  <a:pt x="556498" y="134683"/>
                  <a:pt x="581815" y="160153"/>
                  <a:pt x="581815" y="191585"/>
                </a:cubicBezTo>
                <a:cubicBezTo>
                  <a:pt x="581815" y="202920"/>
                  <a:pt x="578519" y="213474"/>
                  <a:pt x="572843" y="222351"/>
                </a:cubicBezTo>
              </a:path>
            </a:pathLst>
          </a:custGeom>
          <a:solidFill>
            <a:srgbClr val="4C87C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046746" y="1334004"/>
            <a:ext cx="1050506" cy="1050506"/>
          </a:xfrm>
          <a:custGeom>
            <a:avLst/>
            <a:gdLst/>
            <a:ahLst/>
            <a:cxnLst/>
            <a:rect l="0" t="0" r="0" b="0"/>
            <a:pathLst>
              <a:path w="1050506" h="1050506">
                <a:moveTo>
                  <a:pt x="525252" y="1050506"/>
                </a:moveTo>
                <a:cubicBezTo>
                  <a:pt x="815342" y="1050506"/>
                  <a:pt x="1050506" y="815342"/>
                  <a:pt x="1050506" y="525252"/>
                </a:cubicBezTo>
                <a:cubicBezTo>
                  <a:pt x="1050506" y="235163"/>
                  <a:pt x="815342" y="0"/>
                  <a:pt x="525252" y="0"/>
                </a:cubicBezTo>
                <a:cubicBezTo>
                  <a:pt x="235163" y="0"/>
                  <a:pt x="0" y="235163"/>
                  <a:pt x="0" y="525252"/>
                </a:cubicBezTo>
                <a:cubicBezTo>
                  <a:pt x="0" y="815342"/>
                  <a:pt x="235163" y="1050506"/>
                  <a:pt x="525252" y="1050506"/>
                </a:cubicBezTo>
                <a:close/>
                <a:moveTo>
                  <a:pt x="572845" y="222349"/>
                </a:moveTo>
                <a:cubicBezTo>
                  <a:pt x="569054" y="228270"/>
                  <a:pt x="572937" y="239001"/>
                  <a:pt x="579937" y="239001"/>
                </a:cubicBezTo>
                <a:lnTo>
                  <a:pt x="801010" y="239001"/>
                </a:lnTo>
                <a:cubicBezTo>
                  <a:pt x="804916" y="239001"/>
                  <a:pt x="808081" y="242185"/>
                  <a:pt x="808081" y="246113"/>
                </a:cubicBezTo>
                <a:lnTo>
                  <a:pt x="808081" y="486011"/>
                </a:lnTo>
                <a:cubicBezTo>
                  <a:pt x="808081" y="493053"/>
                  <a:pt x="797413" y="496958"/>
                  <a:pt x="791527" y="493145"/>
                </a:cubicBezTo>
                <a:cubicBezTo>
                  <a:pt x="782709" y="487433"/>
                  <a:pt x="772211" y="484119"/>
                  <a:pt x="760943" y="484119"/>
                </a:cubicBezTo>
                <a:cubicBezTo>
                  <a:pt x="729702" y="484119"/>
                  <a:pt x="704377" y="509595"/>
                  <a:pt x="704377" y="541021"/>
                </a:cubicBezTo>
                <a:cubicBezTo>
                  <a:pt x="704377" y="572448"/>
                  <a:pt x="729702" y="597924"/>
                  <a:pt x="760943" y="597924"/>
                </a:cubicBezTo>
                <a:cubicBezTo>
                  <a:pt x="772211" y="597924"/>
                  <a:pt x="782709" y="594610"/>
                  <a:pt x="791527" y="588897"/>
                </a:cubicBezTo>
                <a:cubicBezTo>
                  <a:pt x="797413" y="585085"/>
                  <a:pt x="808081" y="588989"/>
                  <a:pt x="808081" y="596032"/>
                </a:cubicBezTo>
                <a:lnTo>
                  <a:pt x="808081" y="827904"/>
                </a:lnTo>
                <a:cubicBezTo>
                  <a:pt x="808081" y="831832"/>
                  <a:pt x="804916" y="835017"/>
                  <a:pt x="801010" y="835017"/>
                </a:cubicBezTo>
                <a:lnTo>
                  <a:pt x="579937" y="835017"/>
                </a:lnTo>
                <a:cubicBezTo>
                  <a:pt x="572937" y="835017"/>
                  <a:pt x="569054" y="824286"/>
                  <a:pt x="572845" y="818365"/>
                </a:cubicBezTo>
                <a:cubicBezTo>
                  <a:pt x="578523" y="809495"/>
                  <a:pt x="581818" y="798933"/>
                  <a:pt x="581818" y="787598"/>
                </a:cubicBezTo>
                <a:cubicBezTo>
                  <a:pt x="581818" y="756172"/>
                  <a:pt x="556493" y="730696"/>
                  <a:pt x="525252" y="730696"/>
                </a:cubicBezTo>
                <a:cubicBezTo>
                  <a:pt x="494012" y="730696"/>
                  <a:pt x="468686" y="756172"/>
                  <a:pt x="468686" y="787598"/>
                </a:cubicBezTo>
                <a:cubicBezTo>
                  <a:pt x="468686" y="798933"/>
                  <a:pt x="471981" y="809495"/>
                  <a:pt x="477660" y="818365"/>
                </a:cubicBezTo>
                <a:cubicBezTo>
                  <a:pt x="481450" y="824286"/>
                  <a:pt x="477569" y="835017"/>
                  <a:pt x="470569" y="835017"/>
                </a:cubicBezTo>
                <a:lnTo>
                  <a:pt x="249495" y="835017"/>
                </a:lnTo>
                <a:cubicBezTo>
                  <a:pt x="245590" y="835017"/>
                  <a:pt x="242424" y="831832"/>
                  <a:pt x="242424" y="827904"/>
                </a:cubicBezTo>
                <a:lnTo>
                  <a:pt x="242424" y="596031"/>
                </a:lnTo>
                <a:cubicBezTo>
                  <a:pt x="242424" y="588989"/>
                  <a:pt x="253091" y="585084"/>
                  <a:pt x="258977" y="588897"/>
                </a:cubicBezTo>
                <a:cubicBezTo>
                  <a:pt x="267795" y="594610"/>
                  <a:pt x="278294" y="597924"/>
                  <a:pt x="289562" y="597924"/>
                </a:cubicBezTo>
                <a:cubicBezTo>
                  <a:pt x="320803" y="597924"/>
                  <a:pt x="346128" y="572448"/>
                  <a:pt x="346128" y="541021"/>
                </a:cubicBezTo>
                <a:cubicBezTo>
                  <a:pt x="346128" y="509595"/>
                  <a:pt x="320803" y="484119"/>
                  <a:pt x="289562" y="484119"/>
                </a:cubicBezTo>
                <a:cubicBezTo>
                  <a:pt x="278294" y="484119"/>
                  <a:pt x="267795" y="487433"/>
                  <a:pt x="258977" y="493146"/>
                </a:cubicBezTo>
                <a:cubicBezTo>
                  <a:pt x="253091" y="496959"/>
                  <a:pt x="242424" y="493053"/>
                  <a:pt x="242424" y="486012"/>
                </a:cubicBezTo>
                <a:lnTo>
                  <a:pt x="242424" y="246113"/>
                </a:lnTo>
                <a:cubicBezTo>
                  <a:pt x="242424" y="242185"/>
                  <a:pt x="245590" y="239001"/>
                  <a:pt x="249495" y="239001"/>
                </a:cubicBezTo>
                <a:lnTo>
                  <a:pt x="470569" y="239001"/>
                </a:lnTo>
                <a:cubicBezTo>
                  <a:pt x="477569" y="239001"/>
                  <a:pt x="481450" y="228270"/>
                  <a:pt x="477660" y="222349"/>
                </a:cubicBezTo>
                <a:cubicBezTo>
                  <a:pt x="471981" y="213478"/>
                  <a:pt x="468686" y="202918"/>
                  <a:pt x="468686" y="191583"/>
                </a:cubicBezTo>
                <a:cubicBezTo>
                  <a:pt x="468686" y="160156"/>
                  <a:pt x="494012" y="134680"/>
                  <a:pt x="525252" y="134680"/>
                </a:cubicBezTo>
                <a:cubicBezTo>
                  <a:pt x="556493" y="134680"/>
                  <a:pt x="581818" y="160156"/>
                  <a:pt x="581818" y="191583"/>
                </a:cubicBezTo>
                <a:cubicBezTo>
                  <a:pt x="581818" y="202918"/>
                  <a:pt x="578523" y="213478"/>
                  <a:pt x="572845" y="222349"/>
                </a:cubicBezTo>
                <a:close/>
              </a:path>
            </a:pathLst>
          </a:custGeom>
          <a:noFill/>
          <a:ln w="11937">
            <a:solidFill>
              <a:srgbClr val="F8F6F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3493" y="2382901"/>
            <a:ext cx="9525" cy="1012327"/>
          </a:xfrm>
          <a:custGeom>
            <a:avLst/>
            <a:gdLst/>
            <a:ahLst/>
            <a:cxnLst/>
            <a:rect l="0" t="0" r="0" b="0"/>
            <a:pathLst>
              <a:path w="9525" h="1012327">
                <a:moveTo>
                  <a:pt x="0" y="1012327"/>
                </a:moveTo>
                <a:lnTo>
                  <a:pt x="0" y="0"/>
                </a:lnTo>
              </a:path>
            </a:pathLst>
          </a:custGeom>
          <a:noFill/>
          <a:ln w="11937">
            <a:solidFill>
              <a:srgbClr val="4C87C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479256" y="3813841"/>
            <a:ext cx="1050502" cy="1050502"/>
          </a:xfrm>
          <a:custGeom>
            <a:avLst/>
            <a:gdLst/>
            <a:ahLst/>
            <a:cxnLst/>
            <a:rect l="0" t="0" r="0" b="0"/>
            <a:pathLst>
              <a:path w="1050502" h="1050502">
                <a:moveTo>
                  <a:pt x="525256" y="1050502"/>
                </a:moveTo>
                <a:cubicBezTo>
                  <a:pt x="815340" y="1050502"/>
                  <a:pt x="1050502" y="815340"/>
                  <a:pt x="1050502" y="525256"/>
                </a:cubicBezTo>
                <a:cubicBezTo>
                  <a:pt x="1050502" y="235162"/>
                  <a:pt x="815340" y="0"/>
                  <a:pt x="525256" y="0"/>
                </a:cubicBezTo>
                <a:cubicBezTo>
                  <a:pt x="235162" y="0"/>
                  <a:pt x="0" y="235162"/>
                  <a:pt x="0" y="525256"/>
                </a:cubicBezTo>
                <a:cubicBezTo>
                  <a:pt x="0" y="815340"/>
                  <a:pt x="235162" y="1050502"/>
                  <a:pt x="525256" y="1050502"/>
                </a:cubicBezTo>
                <a:moveTo>
                  <a:pt x="572843" y="222351"/>
                </a:moveTo>
                <a:cubicBezTo>
                  <a:pt x="569052" y="228266"/>
                  <a:pt x="572938" y="239001"/>
                  <a:pt x="579939" y="239001"/>
                </a:cubicBezTo>
                <a:lnTo>
                  <a:pt x="801014" y="239001"/>
                </a:lnTo>
                <a:cubicBezTo>
                  <a:pt x="804919" y="239001"/>
                  <a:pt x="808081" y="242182"/>
                  <a:pt x="808081" y="246116"/>
                </a:cubicBezTo>
                <a:lnTo>
                  <a:pt x="808081" y="486013"/>
                </a:lnTo>
                <a:cubicBezTo>
                  <a:pt x="808081" y="493052"/>
                  <a:pt x="797413" y="496957"/>
                  <a:pt x="791527" y="493147"/>
                </a:cubicBezTo>
                <a:cubicBezTo>
                  <a:pt x="782707" y="487432"/>
                  <a:pt x="772210" y="484117"/>
                  <a:pt x="760942" y="484117"/>
                </a:cubicBezTo>
                <a:cubicBezTo>
                  <a:pt x="729700" y="484117"/>
                  <a:pt x="704383" y="509597"/>
                  <a:pt x="704383" y="541020"/>
                </a:cubicBezTo>
                <a:cubicBezTo>
                  <a:pt x="704383" y="572452"/>
                  <a:pt x="729700" y="597922"/>
                  <a:pt x="760942" y="597922"/>
                </a:cubicBezTo>
                <a:cubicBezTo>
                  <a:pt x="772210" y="597922"/>
                  <a:pt x="782707" y="594607"/>
                  <a:pt x="791527" y="588892"/>
                </a:cubicBezTo>
                <a:cubicBezTo>
                  <a:pt x="797413" y="585082"/>
                  <a:pt x="808081" y="588987"/>
                  <a:pt x="808081" y="596026"/>
                </a:cubicBezTo>
                <a:lnTo>
                  <a:pt x="808081" y="827903"/>
                </a:lnTo>
                <a:cubicBezTo>
                  <a:pt x="808081" y="831837"/>
                  <a:pt x="804919" y="835018"/>
                  <a:pt x="801014" y="835018"/>
                </a:cubicBezTo>
                <a:lnTo>
                  <a:pt x="579939" y="835018"/>
                </a:lnTo>
                <a:cubicBezTo>
                  <a:pt x="572938" y="835018"/>
                  <a:pt x="569052" y="824283"/>
                  <a:pt x="572843" y="818368"/>
                </a:cubicBezTo>
                <a:cubicBezTo>
                  <a:pt x="578529" y="809491"/>
                  <a:pt x="581815" y="798937"/>
                  <a:pt x="581815" y="787603"/>
                </a:cubicBezTo>
                <a:cubicBezTo>
                  <a:pt x="581815" y="756170"/>
                  <a:pt x="556498" y="730691"/>
                  <a:pt x="525256" y="730691"/>
                </a:cubicBezTo>
                <a:cubicBezTo>
                  <a:pt x="494014" y="730691"/>
                  <a:pt x="468687" y="756170"/>
                  <a:pt x="468687" y="787603"/>
                </a:cubicBezTo>
                <a:cubicBezTo>
                  <a:pt x="468687" y="798937"/>
                  <a:pt x="471982" y="809491"/>
                  <a:pt x="477659" y="818368"/>
                </a:cubicBezTo>
                <a:cubicBezTo>
                  <a:pt x="481450" y="824283"/>
                  <a:pt x="477573" y="835018"/>
                  <a:pt x="470573" y="835018"/>
                </a:cubicBezTo>
                <a:lnTo>
                  <a:pt x="249497" y="835018"/>
                </a:lnTo>
                <a:cubicBezTo>
                  <a:pt x="245592" y="835018"/>
                  <a:pt x="242420" y="831837"/>
                  <a:pt x="242420" y="827903"/>
                </a:cubicBezTo>
                <a:lnTo>
                  <a:pt x="242420" y="596026"/>
                </a:lnTo>
                <a:cubicBezTo>
                  <a:pt x="242420" y="588987"/>
                  <a:pt x="253088" y="585082"/>
                  <a:pt x="258975" y="588892"/>
                </a:cubicBezTo>
                <a:cubicBezTo>
                  <a:pt x="267795" y="594607"/>
                  <a:pt x="278291" y="597922"/>
                  <a:pt x="289559" y="597922"/>
                </a:cubicBezTo>
                <a:cubicBezTo>
                  <a:pt x="320801" y="597922"/>
                  <a:pt x="346128" y="572452"/>
                  <a:pt x="346128" y="541020"/>
                </a:cubicBezTo>
                <a:cubicBezTo>
                  <a:pt x="346128" y="509597"/>
                  <a:pt x="320801" y="484117"/>
                  <a:pt x="289559" y="484117"/>
                </a:cubicBezTo>
                <a:cubicBezTo>
                  <a:pt x="278291" y="484117"/>
                  <a:pt x="267795" y="487432"/>
                  <a:pt x="258975" y="493147"/>
                </a:cubicBezTo>
                <a:cubicBezTo>
                  <a:pt x="253088" y="496957"/>
                  <a:pt x="242420" y="493052"/>
                  <a:pt x="242420" y="486013"/>
                </a:cubicBezTo>
                <a:lnTo>
                  <a:pt x="242420" y="246116"/>
                </a:lnTo>
                <a:cubicBezTo>
                  <a:pt x="242420" y="242182"/>
                  <a:pt x="245592" y="239001"/>
                  <a:pt x="249497" y="239001"/>
                </a:cubicBezTo>
                <a:lnTo>
                  <a:pt x="470573" y="239001"/>
                </a:lnTo>
                <a:cubicBezTo>
                  <a:pt x="477573" y="239001"/>
                  <a:pt x="481450" y="228266"/>
                  <a:pt x="477659" y="222351"/>
                </a:cubicBezTo>
                <a:cubicBezTo>
                  <a:pt x="471982" y="213474"/>
                  <a:pt x="468687" y="202920"/>
                  <a:pt x="468687" y="191585"/>
                </a:cubicBezTo>
                <a:cubicBezTo>
                  <a:pt x="468687" y="160153"/>
                  <a:pt x="494014" y="134683"/>
                  <a:pt x="525256" y="134683"/>
                </a:cubicBezTo>
                <a:cubicBezTo>
                  <a:pt x="556498" y="134683"/>
                  <a:pt x="581815" y="160153"/>
                  <a:pt x="581815" y="191585"/>
                </a:cubicBezTo>
                <a:cubicBezTo>
                  <a:pt x="581815" y="202920"/>
                  <a:pt x="578529" y="213474"/>
                  <a:pt x="572843" y="222351"/>
                </a:cubicBezTo>
              </a:path>
            </a:pathLst>
          </a:custGeom>
          <a:solidFill>
            <a:srgbClr val="88A48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479256" y="3813840"/>
            <a:ext cx="1050507" cy="1050507"/>
          </a:xfrm>
          <a:custGeom>
            <a:avLst/>
            <a:gdLst/>
            <a:ahLst/>
            <a:cxnLst/>
            <a:rect l="0" t="0" r="0" b="0"/>
            <a:pathLst>
              <a:path w="1050507" h="1050507">
                <a:moveTo>
                  <a:pt x="525253" y="1050507"/>
                </a:moveTo>
                <a:cubicBezTo>
                  <a:pt x="815343" y="1050507"/>
                  <a:pt x="1050507" y="815343"/>
                  <a:pt x="1050507" y="525253"/>
                </a:cubicBezTo>
                <a:cubicBezTo>
                  <a:pt x="1050507" y="235163"/>
                  <a:pt x="815343" y="0"/>
                  <a:pt x="525253" y="0"/>
                </a:cubicBezTo>
                <a:cubicBezTo>
                  <a:pt x="235163" y="0"/>
                  <a:pt x="0" y="235163"/>
                  <a:pt x="0" y="525253"/>
                </a:cubicBezTo>
                <a:cubicBezTo>
                  <a:pt x="0" y="815343"/>
                  <a:pt x="235163" y="1050507"/>
                  <a:pt x="525253" y="1050507"/>
                </a:cubicBezTo>
                <a:close/>
                <a:moveTo>
                  <a:pt x="572846" y="222350"/>
                </a:moveTo>
                <a:cubicBezTo>
                  <a:pt x="569055" y="228270"/>
                  <a:pt x="572937" y="239001"/>
                  <a:pt x="579937" y="239001"/>
                </a:cubicBezTo>
                <a:lnTo>
                  <a:pt x="801011" y="239001"/>
                </a:lnTo>
                <a:cubicBezTo>
                  <a:pt x="804916" y="239001"/>
                  <a:pt x="808082" y="242186"/>
                  <a:pt x="808082" y="246114"/>
                </a:cubicBezTo>
                <a:lnTo>
                  <a:pt x="808082" y="486012"/>
                </a:lnTo>
                <a:cubicBezTo>
                  <a:pt x="808082" y="493053"/>
                  <a:pt x="797414" y="496959"/>
                  <a:pt x="791528" y="493146"/>
                </a:cubicBezTo>
                <a:cubicBezTo>
                  <a:pt x="782710" y="487433"/>
                  <a:pt x="772211" y="484119"/>
                  <a:pt x="760944" y="484119"/>
                </a:cubicBezTo>
                <a:cubicBezTo>
                  <a:pt x="729703" y="484119"/>
                  <a:pt x="704378" y="509596"/>
                  <a:pt x="704378" y="541022"/>
                </a:cubicBezTo>
                <a:cubicBezTo>
                  <a:pt x="704378" y="572449"/>
                  <a:pt x="729703" y="597924"/>
                  <a:pt x="760944" y="597924"/>
                </a:cubicBezTo>
                <a:cubicBezTo>
                  <a:pt x="772211" y="597924"/>
                  <a:pt x="782710" y="594610"/>
                  <a:pt x="791528" y="588898"/>
                </a:cubicBezTo>
                <a:cubicBezTo>
                  <a:pt x="797414" y="585085"/>
                  <a:pt x="808082" y="588990"/>
                  <a:pt x="808082" y="596032"/>
                </a:cubicBezTo>
                <a:lnTo>
                  <a:pt x="808082" y="827905"/>
                </a:lnTo>
                <a:cubicBezTo>
                  <a:pt x="808082" y="831833"/>
                  <a:pt x="804916" y="835018"/>
                  <a:pt x="801011" y="835018"/>
                </a:cubicBezTo>
                <a:lnTo>
                  <a:pt x="579937" y="835018"/>
                </a:lnTo>
                <a:cubicBezTo>
                  <a:pt x="572937" y="835018"/>
                  <a:pt x="569055" y="824287"/>
                  <a:pt x="572846" y="818366"/>
                </a:cubicBezTo>
                <a:cubicBezTo>
                  <a:pt x="578524" y="809496"/>
                  <a:pt x="581819" y="798934"/>
                  <a:pt x="581819" y="787599"/>
                </a:cubicBezTo>
                <a:cubicBezTo>
                  <a:pt x="581819" y="756173"/>
                  <a:pt x="556494" y="730696"/>
                  <a:pt x="525253" y="730696"/>
                </a:cubicBezTo>
                <a:cubicBezTo>
                  <a:pt x="494012" y="730696"/>
                  <a:pt x="468687" y="756173"/>
                  <a:pt x="468687" y="787599"/>
                </a:cubicBezTo>
                <a:cubicBezTo>
                  <a:pt x="468687" y="798934"/>
                  <a:pt x="471982" y="809496"/>
                  <a:pt x="477660" y="818366"/>
                </a:cubicBezTo>
                <a:cubicBezTo>
                  <a:pt x="481451" y="824287"/>
                  <a:pt x="477570" y="835018"/>
                  <a:pt x="470569" y="835018"/>
                </a:cubicBezTo>
                <a:lnTo>
                  <a:pt x="249495" y="835018"/>
                </a:lnTo>
                <a:cubicBezTo>
                  <a:pt x="245590" y="835018"/>
                  <a:pt x="242424" y="831833"/>
                  <a:pt x="242424" y="827905"/>
                </a:cubicBezTo>
                <a:lnTo>
                  <a:pt x="242424" y="596032"/>
                </a:lnTo>
                <a:cubicBezTo>
                  <a:pt x="242424" y="588989"/>
                  <a:pt x="253092" y="585085"/>
                  <a:pt x="258977" y="588898"/>
                </a:cubicBezTo>
                <a:cubicBezTo>
                  <a:pt x="267796" y="594610"/>
                  <a:pt x="278294" y="597924"/>
                  <a:pt x="289562" y="597924"/>
                </a:cubicBezTo>
                <a:cubicBezTo>
                  <a:pt x="320803" y="597924"/>
                  <a:pt x="346128" y="572449"/>
                  <a:pt x="346128" y="541022"/>
                </a:cubicBezTo>
                <a:cubicBezTo>
                  <a:pt x="346128" y="509596"/>
                  <a:pt x="320803" y="484119"/>
                  <a:pt x="289562" y="484119"/>
                </a:cubicBezTo>
                <a:cubicBezTo>
                  <a:pt x="278294" y="484119"/>
                  <a:pt x="267796" y="487434"/>
                  <a:pt x="258977" y="493146"/>
                </a:cubicBezTo>
                <a:cubicBezTo>
                  <a:pt x="253092" y="496959"/>
                  <a:pt x="242424" y="493054"/>
                  <a:pt x="242424" y="486013"/>
                </a:cubicBezTo>
                <a:lnTo>
                  <a:pt x="242424" y="246114"/>
                </a:lnTo>
                <a:cubicBezTo>
                  <a:pt x="242424" y="242186"/>
                  <a:pt x="245590" y="239001"/>
                  <a:pt x="249495" y="239001"/>
                </a:cubicBezTo>
                <a:lnTo>
                  <a:pt x="470569" y="239001"/>
                </a:lnTo>
                <a:cubicBezTo>
                  <a:pt x="477570" y="239001"/>
                  <a:pt x="481451" y="228270"/>
                  <a:pt x="477660" y="222350"/>
                </a:cubicBezTo>
                <a:cubicBezTo>
                  <a:pt x="471982" y="213478"/>
                  <a:pt x="468687" y="202918"/>
                  <a:pt x="468687" y="191582"/>
                </a:cubicBezTo>
                <a:cubicBezTo>
                  <a:pt x="468687" y="160156"/>
                  <a:pt x="494012" y="134680"/>
                  <a:pt x="525253" y="134680"/>
                </a:cubicBezTo>
                <a:cubicBezTo>
                  <a:pt x="556494" y="134680"/>
                  <a:pt x="581819" y="160156"/>
                  <a:pt x="581819" y="191582"/>
                </a:cubicBezTo>
                <a:cubicBezTo>
                  <a:pt x="581819" y="202918"/>
                  <a:pt x="578524" y="213478"/>
                  <a:pt x="572846" y="222350"/>
                </a:cubicBezTo>
                <a:close/>
              </a:path>
            </a:pathLst>
          </a:custGeom>
          <a:noFill/>
          <a:ln w="11937">
            <a:solidFill>
              <a:srgbClr val="F8F6F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005972" y="2810735"/>
            <a:ext cx="9525" cy="1002189"/>
          </a:xfrm>
          <a:custGeom>
            <a:avLst/>
            <a:gdLst/>
            <a:ahLst/>
            <a:cxnLst/>
            <a:rect l="0" t="0" r="0" b="0"/>
            <a:pathLst>
              <a:path w="9525" h="1002189">
                <a:moveTo>
                  <a:pt x="0" y="0"/>
                </a:moveTo>
                <a:lnTo>
                  <a:pt x="0" y="1002189"/>
                </a:lnTo>
              </a:path>
            </a:pathLst>
          </a:custGeom>
          <a:noFill/>
          <a:ln w="11937">
            <a:solidFill>
              <a:srgbClr val="88A48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5298" y="371477"/>
            <a:ext cx="7033402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3100" b="1">
                <a:solidFill>
                  <a:srgbClr val="1C1C1C"/>
                </a:solidFill>
                <a:latin typeface="Shantell Sans"/>
              </a:rPr>
              <a:t>Enterprise Risk Management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2649314" y="1334009"/>
            <a:ext cx="980360" cy="381980"/>
            <a:chOff x="2649314" y="1334009"/>
            <a:chExt cx="980360" cy="381980"/>
          </a:xfrm>
        </p:grpSpPr>
        <p:sp>
          <p:nvSpPr>
            <p:cNvPr id="12" name="TextBox 11"/>
            <p:cNvSpPr txBox="1"/>
            <p:nvPr/>
          </p:nvSpPr>
          <p:spPr>
            <a:xfrm>
              <a:off x="2575787" y="1334009"/>
              <a:ext cx="1127414" cy="1909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200" b="1">
                  <a:solidFill>
                    <a:srgbClr val="1C1C1C"/>
                  </a:solidFill>
                  <a:latin typeface="Shantell Sans"/>
                </a:rPr>
                <a:t>Holistic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575787" y="1524985"/>
              <a:ext cx="1127414" cy="1910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200" b="1">
                  <a:solidFill>
                    <a:srgbClr val="1C1C1C"/>
                  </a:solidFill>
                  <a:latin typeface="Shantell Sans"/>
                </a:rPr>
                <a:t>Integration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5509572" y="1334018"/>
            <a:ext cx="989885" cy="381980"/>
            <a:chOff x="5509572" y="1334018"/>
            <a:chExt cx="989885" cy="381980"/>
          </a:xfrm>
        </p:grpSpPr>
        <p:sp>
          <p:nvSpPr>
            <p:cNvPr id="15" name="TextBox 14"/>
            <p:cNvSpPr txBox="1"/>
            <p:nvPr/>
          </p:nvSpPr>
          <p:spPr>
            <a:xfrm>
              <a:off x="5435331" y="1334018"/>
              <a:ext cx="1138367" cy="1909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200" b="1">
                  <a:solidFill>
                    <a:srgbClr val="1C1C1C"/>
                  </a:solidFill>
                  <a:latin typeface="Shantell Sans"/>
                </a:rPr>
                <a:t>Strategic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435331" y="1524994"/>
              <a:ext cx="1138367" cy="1910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200" b="1">
                  <a:solidFill>
                    <a:srgbClr val="1C1C1C"/>
                  </a:solidFill>
                  <a:latin typeface="Shantell Sans"/>
                </a:rPr>
                <a:t>Competency</a:t>
              </a:r>
            </a:p>
          </p:txBody>
        </p:sp>
      </p:grpSp>
      <p:sp>
        <p:nvSpPr>
          <p:cNvPr id="18" name="Rounded Rectangle 17"/>
          <p:cNvSpPr/>
          <p:nvPr/>
        </p:nvSpPr>
        <p:spPr>
          <a:xfrm>
            <a:off x="4434717" y="1721975"/>
            <a:ext cx="274564" cy="274563"/>
          </a:xfrm>
          <a:custGeom>
            <a:avLst/>
            <a:gdLst/>
            <a:ahLst/>
            <a:cxnLst/>
            <a:rect l="0" t="0" r="0" b="0"/>
            <a:pathLst>
              <a:path w="274564" h="274563">
                <a:moveTo>
                  <a:pt x="179063" y="262626"/>
                </a:moveTo>
                <a:cubicBezTo>
                  <a:pt x="179063" y="269218"/>
                  <a:pt x="173719" y="274563"/>
                  <a:pt x="167126" y="274563"/>
                </a:cubicBezTo>
                <a:lnTo>
                  <a:pt x="47750" y="274563"/>
                </a:lnTo>
                <a:cubicBezTo>
                  <a:pt x="41157" y="274563"/>
                  <a:pt x="35812" y="269218"/>
                  <a:pt x="35812" y="262626"/>
                </a:cubicBezTo>
                <a:lnTo>
                  <a:pt x="35812" y="71625"/>
                </a:lnTo>
                <a:lnTo>
                  <a:pt x="179063" y="71625"/>
                </a:lnTo>
                <a:close/>
                <a:moveTo>
                  <a:pt x="11937" y="191000"/>
                </a:moveTo>
                <a:cubicBezTo>
                  <a:pt x="5344" y="191000"/>
                  <a:pt x="0" y="185656"/>
                  <a:pt x="0" y="179063"/>
                </a:cubicBezTo>
                <a:lnTo>
                  <a:pt x="0" y="35812"/>
                </a:lnTo>
                <a:cubicBezTo>
                  <a:pt x="0" y="16033"/>
                  <a:pt x="16033" y="0"/>
                  <a:pt x="35812" y="0"/>
                </a:cubicBezTo>
                <a:cubicBezTo>
                  <a:pt x="55591" y="0"/>
                  <a:pt x="71625" y="16033"/>
                  <a:pt x="71625" y="35812"/>
                </a:cubicBezTo>
                <a:cubicBezTo>
                  <a:pt x="71625" y="55591"/>
                  <a:pt x="55591" y="71625"/>
                  <a:pt x="35812" y="71625"/>
                </a:cubicBezTo>
                <a:moveTo>
                  <a:pt x="179063" y="71625"/>
                </a:moveTo>
                <a:cubicBezTo>
                  <a:pt x="198842" y="71625"/>
                  <a:pt x="214876" y="55591"/>
                  <a:pt x="214876" y="35812"/>
                </a:cubicBezTo>
                <a:cubicBezTo>
                  <a:pt x="214876" y="16033"/>
                  <a:pt x="198842" y="0"/>
                  <a:pt x="179063" y="0"/>
                </a:cubicBezTo>
                <a:lnTo>
                  <a:pt x="35812" y="0"/>
                </a:lnTo>
                <a:moveTo>
                  <a:pt x="107438" y="119375"/>
                </a:moveTo>
                <a:lnTo>
                  <a:pt x="155188" y="119375"/>
                </a:lnTo>
                <a:moveTo>
                  <a:pt x="107438" y="167125"/>
                </a:moveTo>
                <a:lnTo>
                  <a:pt x="155188" y="167125"/>
                </a:lnTo>
                <a:moveTo>
                  <a:pt x="107438" y="214875"/>
                </a:moveTo>
                <a:lnTo>
                  <a:pt x="155188" y="214875"/>
                </a:lnTo>
                <a:moveTo>
                  <a:pt x="59687" y="113406"/>
                </a:moveTo>
                <a:lnTo>
                  <a:pt x="65656" y="119375"/>
                </a:lnTo>
                <a:lnTo>
                  <a:pt x="89531" y="95500"/>
                </a:lnTo>
                <a:moveTo>
                  <a:pt x="59687" y="161156"/>
                </a:moveTo>
                <a:lnTo>
                  <a:pt x="65656" y="167125"/>
                </a:lnTo>
                <a:lnTo>
                  <a:pt x="89531" y="143250"/>
                </a:lnTo>
                <a:moveTo>
                  <a:pt x="274564" y="256657"/>
                </a:moveTo>
                <a:cubicBezTo>
                  <a:pt x="274564" y="266546"/>
                  <a:pt x="266547" y="274563"/>
                  <a:pt x="256658" y="274563"/>
                </a:cubicBezTo>
                <a:cubicBezTo>
                  <a:pt x="246768" y="274563"/>
                  <a:pt x="238751" y="266546"/>
                  <a:pt x="238751" y="256657"/>
                </a:cubicBezTo>
                <a:lnTo>
                  <a:pt x="238751" y="83562"/>
                </a:lnTo>
                <a:cubicBezTo>
                  <a:pt x="238751" y="73673"/>
                  <a:pt x="246768" y="65656"/>
                  <a:pt x="256658" y="65656"/>
                </a:cubicBezTo>
                <a:cubicBezTo>
                  <a:pt x="266547" y="65656"/>
                  <a:pt x="274564" y="73673"/>
                  <a:pt x="274564" y="83562"/>
                </a:cubicBezTo>
                <a:close/>
                <a:moveTo>
                  <a:pt x="238751" y="250688"/>
                </a:moveTo>
                <a:lnTo>
                  <a:pt x="274564" y="250688"/>
                </a:lnTo>
                <a:moveTo>
                  <a:pt x="238751" y="167125"/>
                </a:moveTo>
                <a:lnTo>
                  <a:pt x="274564" y="167125"/>
                </a:lnTo>
                <a:moveTo>
                  <a:pt x="214876" y="185031"/>
                </a:moveTo>
                <a:lnTo>
                  <a:pt x="214876" y="95500"/>
                </a:lnTo>
                <a:cubicBezTo>
                  <a:pt x="214876" y="85610"/>
                  <a:pt x="222893" y="77594"/>
                  <a:pt x="232782" y="77594"/>
                </a:cubicBezTo>
                <a:lnTo>
                  <a:pt x="239778" y="77594"/>
                </a:lnTo>
              </a:path>
            </a:pathLst>
          </a:custGeom>
          <a:noFill/>
          <a:ln w="11937">
            <a:solidFill>
              <a:srgbClr val="1C1C1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5" name="Group 24"/>
          <p:cNvGrpSpPr/>
          <p:nvPr/>
        </p:nvGrpSpPr>
        <p:grpSpPr>
          <a:xfrm>
            <a:off x="2605851" y="1811487"/>
            <a:ext cx="1067276" cy="859411"/>
            <a:chOff x="2605851" y="1811487"/>
            <a:chExt cx="1067276" cy="859411"/>
          </a:xfrm>
        </p:grpSpPr>
        <p:sp>
          <p:nvSpPr>
            <p:cNvPr id="19" name="TextBox 18"/>
            <p:cNvSpPr txBox="1"/>
            <p:nvPr/>
          </p:nvSpPr>
          <p:spPr>
            <a:xfrm>
              <a:off x="2525806" y="1811487"/>
              <a:ext cx="1227367" cy="143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1C1C1C"/>
                  </a:solidFill>
                  <a:latin typeface="Roboto"/>
                </a:rPr>
                <a:t>The comprehensive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525806" y="1954647"/>
              <a:ext cx="1227367" cy="1432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1C1C1C"/>
                  </a:solidFill>
                  <a:latin typeface="Roboto"/>
                </a:rPr>
                <a:t>management of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525806" y="2097903"/>
              <a:ext cx="1227367" cy="1432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1C1C1C"/>
                  </a:solidFill>
                  <a:latin typeface="Roboto"/>
                </a:rPr>
                <a:t>organizational risk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2525806" y="2241159"/>
              <a:ext cx="1227367" cy="1432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1C1C1C"/>
                  </a:solidFill>
                  <a:latin typeface="Roboto"/>
                </a:rPr>
                <a:t>exposure across all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2525806" y="2384415"/>
              <a:ext cx="1227367" cy="143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1C1C1C"/>
                  </a:solidFill>
                  <a:latin typeface="Roboto"/>
                </a:rPr>
                <a:t>functional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2525806" y="2527576"/>
              <a:ext cx="1227367" cy="1433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1C1C1C"/>
                  </a:solidFill>
                  <a:latin typeface="Roboto"/>
                </a:rPr>
                <a:t>departments.</a:t>
              </a: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5414912" y="1811505"/>
            <a:ext cx="1179204" cy="716174"/>
            <a:chOff x="5414912" y="1811505"/>
            <a:chExt cx="1179204" cy="716174"/>
          </a:xfrm>
        </p:grpSpPr>
        <p:sp>
          <p:nvSpPr>
            <p:cNvPr id="26" name="TextBox 25"/>
            <p:cNvSpPr txBox="1"/>
            <p:nvPr/>
          </p:nvSpPr>
          <p:spPr>
            <a:xfrm>
              <a:off x="5326472" y="1811505"/>
              <a:ext cx="1356084" cy="143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1C1C1C"/>
                  </a:solidFill>
                  <a:latin typeface="Roboto"/>
                </a:rPr>
                <a:t>Transitions risk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5326472" y="1954665"/>
              <a:ext cx="1356084" cy="1432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1C1C1C"/>
                  </a:solidFill>
                  <a:latin typeface="Roboto"/>
                </a:rPr>
                <a:t>management from a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5326472" y="2097921"/>
              <a:ext cx="1356084" cy="1432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1C1C1C"/>
                  </a:solidFill>
                  <a:latin typeface="Roboto"/>
                </a:rPr>
                <a:t>fragmented activity to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5326472" y="2241177"/>
              <a:ext cx="1356084" cy="1432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1C1C1C"/>
                  </a:solidFill>
                  <a:latin typeface="Roboto"/>
                </a:rPr>
                <a:t>a core strategic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5326472" y="2384433"/>
              <a:ext cx="1356084" cy="1432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1C1C1C"/>
                  </a:solidFill>
                  <a:latin typeface="Roboto"/>
                </a:rPr>
                <a:t>competency.</a:t>
              </a: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4093130" y="3673741"/>
            <a:ext cx="957738" cy="381980"/>
            <a:chOff x="4093130" y="3673741"/>
            <a:chExt cx="957738" cy="381980"/>
          </a:xfrm>
        </p:grpSpPr>
        <p:sp>
          <p:nvSpPr>
            <p:cNvPr id="32" name="TextBox 31"/>
            <p:cNvSpPr txBox="1"/>
            <p:nvPr/>
          </p:nvSpPr>
          <p:spPr>
            <a:xfrm>
              <a:off x="4021300" y="3673741"/>
              <a:ext cx="1101398" cy="1909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200" b="1">
                  <a:solidFill>
                    <a:srgbClr val="1C1C1C"/>
                  </a:solidFill>
                  <a:latin typeface="Shantell Sans"/>
                </a:rPr>
                <a:t>Systematic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021300" y="3864717"/>
              <a:ext cx="1101398" cy="1910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200" b="1">
                  <a:solidFill>
                    <a:srgbClr val="1C1C1C"/>
                  </a:solidFill>
                  <a:latin typeface="Shantell Sans"/>
                </a:rPr>
                <a:t>Strategy</a:t>
              </a:r>
            </a:p>
          </p:txBody>
        </p:sp>
      </p:grpSp>
      <p:sp>
        <p:nvSpPr>
          <p:cNvPr id="35" name="Rounded Rectangle 34"/>
          <p:cNvSpPr/>
          <p:nvPr/>
        </p:nvSpPr>
        <p:spPr>
          <a:xfrm>
            <a:off x="3002637" y="4204851"/>
            <a:ext cx="274564" cy="274565"/>
          </a:xfrm>
          <a:custGeom>
            <a:avLst/>
            <a:gdLst/>
            <a:ahLst/>
            <a:cxnLst/>
            <a:rect l="0" t="0" r="0" b="0"/>
            <a:pathLst>
              <a:path w="274564" h="274565">
                <a:moveTo>
                  <a:pt x="0" y="137282"/>
                </a:moveTo>
                <a:cubicBezTo>
                  <a:pt x="0" y="213102"/>
                  <a:pt x="61463" y="274565"/>
                  <a:pt x="137282" y="274565"/>
                </a:cubicBezTo>
                <a:cubicBezTo>
                  <a:pt x="213101" y="274565"/>
                  <a:pt x="274564" y="213102"/>
                  <a:pt x="274564" y="137282"/>
                </a:cubicBezTo>
                <a:cubicBezTo>
                  <a:pt x="274564" y="61463"/>
                  <a:pt x="213101" y="0"/>
                  <a:pt x="137282" y="0"/>
                </a:cubicBezTo>
                <a:cubicBezTo>
                  <a:pt x="61463" y="0"/>
                  <a:pt x="0" y="61463"/>
                  <a:pt x="0" y="137282"/>
                </a:cubicBezTo>
                <a:close/>
                <a:moveTo>
                  <a:pt x="71625" y="86547"/>
                </a:moveTo>
                <a:cubicBezTo>
                  <a:pt x="71625" y="71713"/>
                  <a:pt x="83650" y="59688"/>
                  <a:pt x="98485" y="59688"/>
                </a:cubicBezTo>
                <a:cubicBezTo>
                  <a:pt x="113319" y="59688"/>
                  <a:pt x="125344" y="71713"/>
                  <a:pt x="125344" y="86547"/>
                </a:cubicBezTo>
                <a:cubicBezTo>
                  <a:pt x="125344" y="101382"/>
                  <a:pt x="113319" y="113407"/>
                  <a:pt x="98485" y="113407"/>
                </a:cubicBezTo>
                <a:cubicBezTo>
                  <a:pt x="83650" y="113407"/>
                  <a:pt x="71625" y="101382"/>
                  <a:pt x="71625" y="86547"/>
                </a:cubicBezTo>
                <a:close/>
                <a:moveTo>
                  <a:pt x="149219" y="205924"/>
                </a:moveTo>
                <a:cubicBezTo>
                  <a:pt x="149219" y="197683"/>
                  <a:pt x="155900" y="191002"/>
                  <a:pt x="164141" y="191002"/>
                </a:cubicBezTo>
                <a:cubicBezTo>
                  <a:pt x="172382" y="191002"/>
                  <a:pt x="179063" y="197683"/>
                  <a:pt x="179063" y="205924"/>
                </a:cubicBezTo>
                <a:cubicBezTo>
                  <a:pt x="179063" y="214165"/>
                  <a:pt x="172382" y="220846"/>
                  <a:pt x="164141" y="220846"/>
                </a:cubicBezTo>
                <a:cubicBezTo>
                  <a:pt x="155900" y="220846"/>
                  <a:pt x="149219" y="214165"/>
                  <a:pt x="149219" y="205924"/>
                </a:cubicBezTo>
                <a:close/>
                <a:moveTo>
                  <a:pt x="196970" y="116392"/>
                </a:moveTo>
                <a:lnTo>
                  <a:pt x="196970" y="116392"/>
                </a:lnTo>
                <a:cubicBezTo>
                  <a:pt x="196970" y="104854"/>
                  <a:pt x="206323" y="95501"/>
                  <a:pt x="217860" y="95501"/>
                </a:cubicBezTo>
                <a:cubicBezTo>
                  <a:pt x="229398" y="95501"/>
                  <a:pt x="238751" y="104854"/>
                  <a:pt x="238751" y="116392"/>
                </a:cubicBezTo>
                <a:cubicBezTo>
                  <a:pt x="238751" y="127929"/>
                  <a:pt x="229398" y="137282"/>
                  <a:pt x="217860" y="137282"/>
                </a:cubicBezTo>
                <a:cubicBezTo>
                  <a:pt x="206323" y="137282"/>
                  <a:pt x="196970" y="127929"/>
                  <a:pt x="196970" y="116392"/>
                </a:cubicBezTo>
                <a:close/>
                <a:moveTo>
                  <a:pt x="196970" y="113431"/>
                </a:moveTo>
                <a:cubicBezTo>
                  <a:pt x="177457" y="95198"/>
                  <a:pt x="152030" y="84603"/>
                  <a:pt x="125344" y="83587"/>
                </a:cubicBezTo>
                <a:moveTo>
                  <a:pt x="244708" y="220846"/>
                </a:moveTo>
                <a:cubicBezTo>
                  <a:pt x="244708" y="167127"/>
                  <a:pt x="226802" y="143251"/>
                  <a:pt x="226802" y="143251"/>
                </a:cubicBezTo>
                <a:lnTo>
                  <a:pt x="222027" y="136877"/>
                </a:lnTo>
                <a:moveTo>
                  <a:pt x="208907" y="97458"/>
                </a:moveTo>
                <a:cubicBezTo>
                  <a:pt x="209652" y="70452"/>
                  <a:pt x="205611" y="43527"/>
                  <a:pt x="196970" y="17930"/>
                </a:cubicBezTo>
                <a:lnTo>
                  <a:pt x="194857" y="12618"/>
                </a:lnTo>
                <a:moveTo>
                  <a:pt x="202938" y="131337"/>
                </a:moveTo>
                <a:cubicBezTo>
                  <a:pt x="201443" y="155991"/>
                  <a:pt x="192558" y="179623"/>
                  <a:pt x="177440" y="199155"/>
                </a:cubicBezTo>
                <a:moveTo>
                  <a:pt x="157003" y="219031"/>
                </a:moveTo>
                <a:lnTo>
                  <a:pt x="155188" y="220870"/>
                </a:lnTo>
                <a:cubicBezTo>
                  <a:pt x="155188" y="220870"/>
                  <a:pt x="125344" y="250714"/>
                  <a:pt x="59687" y="250714"/>
                </a:cubicBezTo>
                <a:moveTo>
                  <a:pt x="137282" y="23"/>
                </a:moveTo>
                <a:cubicBezTo>
                  <a:pt x="120950" y="17491"/>
                  <a:pt x="107818" y="37695"/>
                  <a:pt x="98485" y="59712"/>
                </a:cubicBezTo>
                <a:moveTo>
                  <a:pt x="171578" y="270280"/>
                </a:moveTo>
                <a:lnTo>
                  <a:pt x="167126" y="268620"/>
                </a:lnTo>
                <a:cubicBezTo>
                  <a:pt x="167126" y="268620"/>
                  <a:pt x="115794" y="249592"/>
                  <a:pt x="95500" y="208932"/>
                </a:cubicBezTo>
                <a:cubicBezTo>
                  <a:pt x="81249" y="179241"/>
                  <a:pt x="77058" y="145716"/>
                  <a:pt x="83563" y="113431"/>
                </a:cubicBezTo>
                <a:lnTo>
                  <a:pt x="84541" y="109515"/>
                </a:lnTo>
                <a:moveTo>
                  <a:pt x="71625" y="86547"/>
                </a:moveTo>
                <a:cubicBezTo>
                  <a:pt x="71625" y="86547"/>
                  <a:pt x="25832" y="89830"/>
                  <a:pt x="2685" y="110100"/>
                </a:cubicBezTo>
                <a:moveTo>
                  <a:pt x="154878" y="194225"/>
                </a:moveTo>
                <a:cubicBezTo>
                  <a:pt x="88111" y="154496"/>
                  <a:pt x="5968" y="167127"/>
                  <a:pt x="5968" y="167127"/>
                </a:cubicBezTo>
                <a:lnTo>
                  <a:pt x="3342" y="167532"/>
                </a:lnTo>
              </a:path>
            </a:pathLst>
          </a:custGeom>
          <a:noFill/>
          <a:ln w="11937">
            <a:solidFill>
              <a:srgbClr val="1C1C1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5861259" y="4198906"/>
            <a:ext cx="277548" cy="277550"/>
          </a:xfrm>
          <a:custGeom>
            <a:avLst/>
            <a:gdLst/>
            <a:ahLst/>
            <a:cxnLst/>
            <a:rect l="0" t="0" r="0" b="0"/>
            <a:pathLst>
              <a:path w="277548" h="277550">
                <a:moveTo>
                  <a:pt x="241736" y="277550"/>
                </a:moveTo>
                <a:lnTo>
                  <a:pt x="44765" y="277550"/>
                </a:lnTo>
                <a:cubicBezTo>
                  <a:pt x="24472" y="277550"/>
                  <a:pt x="8953" y="262031"/>
                  <a:pt x="8953" y="241737"/>
                </a:cubicBezTo>
                <a:lnTo>
                  <a:pt x="8953" y="44766"/>
                </a:lnTo>
                <a:cubicBezTo>
                  <a:pt x="8953" y="24472"/>
                  <a:pt x="24472" y="8953"/>
                  <a:pt x="44765" y="8953"/>
                </a:cubicBezTo>
                <a:lnTo>
                  <a:pt x="241736" y="8953"/>
                </a:lnTo>
                <a:cubicBezTo>
                  <a:pt x="262029" y="8953"/>
                  <a:pt x="277548" y="24472"/>
                  <a:pt x="277548" y="44766"/>
                </a:cubicBezTo>
                <a:lnTo>
                  <a:pt x="277548" y="242931"/>
                </a:lnTo>
                <a:cubicBezTo>
                  <a:pt x="277548" y="262031"/>
                  <a:pt x="262029" y="277550"/>
                  <a:pt x="241736" y="277550"/>
                </a:cubicBezTo>
                <a:close/>
                <a:moveTo>
                  <a:pt x="8953" y="61478"/>
                </a:moveTo>
                <a:lnTo>
                  <a:pt x="277548" y="61478"/>
                </a:lnTo>
                <a:moveTo>
                  <a:pt x="0" y="0"/>
                </a:moveTo>
                <a:moveTo>
                  <a:pt x="49076" y="196523"/>
                </a:moveTo>
                <a:lnTo>
                  <a:pt x="102839" y="151248"/>
                </a:lnTo>
                <a:lnTo>
                  <a:pt x="145285" y="190863"/>
                </a:lnTo>
                <a:lnTo>
                  <a:pt x="223100" y="120122"/>
                </a:lnTo>
                <a:moveTo>
                  <a:pt x="176411" y="120122"/>
                </a:moveTo>
                <a:lnTo>
                  <a:pt x="223100" y="120122"/>
                </a:lnTo>
                <a:lnTo>
                  <a:pt x="223100" y="165397"/>
                </a:lnTo>
              </a:path>
            </a:pathLst>
          </a:custGeom>
          <a:noFill/>
          <a:ln w="11937">
            <a:solidFill>
              <a:srgbClr val="1C1C1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42" name="Group 41"/>
          <p:cNvGrpSpPr/>
          <p:nvPr/>
        </p:nvGrpSpPr>
        <p:grpSpPr>
          <a:xfrm>
            <a:off x="3984717" y="4151226"/>
            <a:ext cx="1174556" cy="716175"/>
            <a:chOff x="3984717" y="4151226"/>
            <a:chExt cx="1174556" cy="716175"/>
          </a:xfrm>
        </p:grpSpPr>
        <p:sp>
          <p:nvSpPr>
            <p:cNvPr id="37" name="TextBox 36"/>
            <p:cNvSpPr txBox="1"/>
            <p:nvPr/>
          </p:nvSpPr>
          <p:spPr>
            <a:xfrm>
              <a:off x="3896626" y="4151226"/>
              <a:ext cx="1350739" cy="143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1C1C1C"/>
                  </a:solidFill>
                  <a:latin typeface="Roboto"/>
                </a:rPr>
                <a:t>A systematic strategy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3896626" y="4294387"/>
              <a:ext cx="1350739" cy="1432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1C1C1C"/>
                  </a:solidFill>
                  <a:latin typeface="Roboto"/>
                </a:rPr>
                <a:t>to identify, evaluate,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3896626" y="4437643"/>
              <a:ext cx="1350739" cy="1432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1C1C1C"/>
                  </a:solidFill>
                  <a:latin typeface="Roboto"/>
                </a:rPr>
                <a:t>and prepare for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3896626" y="4580899"/>
              <a:ext cx="1350739" cy="1432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1C1C1C"/>
                  </a:solidFill>
                  <a:latin typeface="Roboto"/>
                </a:rPr>
                <a:t>potential hazards and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3896626" y="4724155"/>
              <a:ext cx="1350739" cy="1432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1C1C1C"/>
                  </a:solidFill>
                  <a:latin typeface="Roboto"/>
                </a:rPr>
                <a:t>systemic disruptions.</a:t>
              </a:r>
            </a:p>
          </p:txBody>
        </p:sp>
      </p:grpSp>
      <p:sp>
        <p:nvSpPr>
          <p:cNvPr id="43" name="Rounded Rectangle 42"/>
          <p:cNvSpPr/>
          <p:nvPr/>
        </p:nvSpPr>
        <p:spPr>
          <a:xfrm>
            <a:off x="7886700" y="4829136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9F8A4A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136514" y="1304287"/>
            <a:ext cx="806453" cy="887091"/>
          </a:xfrm>
          <a:custGeom>
            <a:avLst/>
            <a:gdLst/>
            <a:ahLst/>
            <a:cxnLst/>
            <a:rect l="0" t="0" r="0" b="0"/>
            <a:pathLst>
              <a:path w="806453" h="887091">
                <a:moveTo>
                  <a:pt x="0" y="725804"/>
                </a:moveTo>
                <a:lnTo>
                  <a:pt x="241934" y="887091"/>
                </a:lnTo>
                <a:lnTo>
                  <a:pt x="564518" y="887091"/>
                </a:lnTo>
                <a:lnTo>
                  <a:pt x="806453" y="725804"/>
                </a:lnTo>
                <a:lnTo>
                  <a:pt x="403221" y="0"/>
                </a:lnTo>
                <a:lnTo>
                  <a:pt x="0" y="725804"/>
                </a:lnTo>
              </a:path>
            </a:pathLst>
          </a:custGeom>
          <a:solidFill>
            <a:srgbClr val="F2C12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136514" y="1304287"/>
            <a:ext cx="806450" cy="887094"/>
          </a:xfrm>
          <a:custGeom>
            <a:avLst/>
            <a:gdLst/>
            <a:ahLst/>
            <a:cxnLst/>
            <a:rect l="0" t="0" r="0" b="0"/>
            <a:pathLst>
              <a:path w="806450" h="887094">
                <a:moveTo>
                  <a:pt x="806450" y="725804"/>
                </a:moveTo>
                <a:lnTo>
                  <a:pt x="403225" y="0"/>
                </a:lnTo>
                <a:lnTo>
                  <a:pt x="0" y="725804"/>
                </a:lnTo>
                <a:lnTo>
                  <a:pt x="806450" y="725804"/>
                </a:lnTo>
                <a:close/>
                <a:moveTo>
                  <a:pt x="0" y="725804"/>
                </a:moveTo>
                <a:lnTo>
                  <a:pt x="806450" y="725804"/>
                </a:lnTo>
                <a:lnTo>
                  <a:pt x="564514" y="887094"/>
                </a:lnTo>
                <a:lnTo>
                  <a:pt x="241935" y="887094"/>
                </a:lnTo>
                <a:lnTo>
                  <a:pt x="0" y="725804"/>
                </a:lnTo>
                <a:close/>
              </a:path>
            </a:pathLst>
          </a:custGeom>
          <a:noFill/>
          <a:ln w="10079">
            <a:solidFill>
              <a:srgbClr val="F8F6F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628457" y="1626868"/>
            <a:ext cx="3729831" cy="9525"/>
          </a:xfrm>
          <a:custGeom>
            <a:avLst/>
            <a:gdLst/>
            <a:ahLst/>
            <a:cxnLst/>
            <a:rect l="0" t="0" r="0" b="0"/>
            <a:pathLst>
              <a:path w="3729831" h="9525">
                <a:moveTo>
                  <a:pt x="0" y="0"/>
                </a:moveTo>
                <a:lnTo>
                  <a:pt x="3729831" y="0"/>
                </a:lnTo>
              </a:path>
            </a:pathLst>
          </a:custGeom>
          <a:noFill/>
          <a:ln w="10079">
            <a:solidFill>
              <a:srgbClr val="F2C12E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588135" y="1606706"/>
            <a:ext cx="40322" cy="40322"/>
          </a:xfrm>
          <a:custGeom>
            <a:avLst/>
            <a:gdLst/>
            <a:ahLst/>
            <a:cxnLst/>
            <a:rect l="0" t="0" r="0" b="0"/>
            <a:pathLst>
              <a:path w="40322" h="40322">
                <a:moveTo>
                  <a:pt x="20161" y="40322"/>
                </a:moveTo>
                <a:cubicBezTo>
                  <a:pt x="9034" y="40322"/>
                  <a:pt x="0" y="31288"/>
                  <a:pt x="0" y="20161"/>
                </a:cubicBezTo>
                <a:cubicBezTo>
                  <a:pt x="0" y="9034"/>
                  <a:pt x="9034" y="0"/>
                  <a:pt x="20161" y="0"/>
                </a:cubicBezTo>
                <a:cubicBezTo>
                  <a:pt x="31288" y="0"/>
                  <a:pt x="40322" y="9034"/>
                  <a:pt x="40322" y="20161"/>
                </a:cubicBezTo>
                <a:cubicBezTo>
                  <a:pt x="40322" y="31288"/>
                  <a:pt x="31288" y="40322"/>
                  <a:pt x="20161" y="40322"/>
                </a:cubicBezTo>
                <a:close/>
              </a:path>
            </a:pathLst>
          </a:custGeom>
          <a:noFill/>
          <a:ln w="10079">
            <a:solidFill>
              <a:srgbClr val="1C1C1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733290" y="2191387"/>
            <a:ext cx="1612896" cy="806453"/>
          </a:xfrm>
          <a:custGeom>
            <a:avLst/>
            <a:gdLst/>
            <a:ahLst/>
            <a:cxnLst/>
            <a:rect l="0" t="0" r="0" b="0"/>
            <a:pathLst>
              <a:path w="1612896" h="806453">
                <a:moveTo>
                  <a:pt x="0" y="645156"/>
                </a:moveTo>
                <a:lnTo>
                  <a:pt x="322583" y="806453"/>
                </a:lnTo>
                <a:lnTo>
                  <a:pt x="1290323" y="806453"/>
                </a:lnTo>
                <a:lnTo>
                  <a:pt x="1612896" y="645156"/>
                </a:lnTo>
                <a:lnTo>
                  <a:pt x="1290323" y="0"/>
                </a:lnTo>
                <a:lnTo>
                  <a:pt x="322583" y="0"/>
                </a:lnTo>
                <a:lnTo>
                  <a:pt x="0" y="645156"/>
                </a:lnTo>
              </a:path>
            </a:pathLst>
          </a:custGeom>
          <a:solidFill>
            <a:srgbClr val="C8BB5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733290" y="2191387"/>
            <a:ext cx="1612900" cy="806449"/>
          </a:xfrm>
          <a:custGeom>
            <a:avLst/>
            <a:gdLst/>
            <a:ahLst/>
            <a:cxnLst/>
            <a:rect l="0" t="0" r="0" b="0"/>
            <a:pathLst>
              <a:path w="1612900" h="806449">
                <a:moveTo>
                  <a:pt x="322580" y="0"/>
                </a:moveTo>
                <a:lnTo>
                  <a:pt x="0" y="645160"/>
                </a:lnTo>
                <a:lnTo>
                  <a:pt x="1612900" y="645160"/>
                </a:lnTo>
                <a:lnTo>
                  <a:pt x="1290320" y="0"/>
                </a:lnTo>
                <a:lnTo>
                  <a:pt x="322580" y="0"/>
                </a:lnTo>
                <a:close/>
                <a:moveTo>
                  <a:pt x="322580" y="806449"/>
                </a:moveTo>
                <a:lnTo>
                  <a:pt x="0" y="645160"/>
                </a:lnTo>
                <a:lnTo>
                  <a:pt x="1612900" y="645160"/>
                </a:lnTo>
                <a:lnTo>
                  <a:pt x="1290320" y="806449"/>
                </a:lnTo>
                <a:lnTo>
                  <a:pt x="322580" y="806449"/>
                </a:lnTo>
                <a:close/>
              </a:path>
            </a:pathLst>
          </a:custGeom>
          <a:noFill/>
          <a:ln w="10079">
            <a:solidFill>
              <a:srgbClr val="F8F6F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628457" y="2433321"/>
            <a:ext cx="3306444" cy="9525"/>
          </a:xfrm>
          <a:custGeom>
            <a:avLst/>
            <a:gdLst/>
            <a:ahLst/>
            <a:cxnLst/>
            <a:rect l="0" t="0" r="0" b="0"/>
            <a:pathLst>
              <a:path w="3306444" h="9525">
                <a:moveTo>
                  <a:pt x="0" y="0"/>
                </a:moveTo>
                <a:lnTo>
                  <a:pt x="3306444" y="0"/>
                </a:lnTo>
              </a:path>
            </a:pathLst>
          </a:custGeom>
          <a:noFill/>
          <a:ln w="10079">
            <a:solidFill>
              <a:srgbClr val="C8BB54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588135" y="2413159"/>
            <a:ext cx="40322" cy="40322"/>
          </a:xfrm>
          <a:custGeom>
            <a:avLst/>
            <a:gdLst/>
            <a:ahLst/>
            <a:cxnLst/>
            <a:rect l="0" t="0" r="0" b="0"/>
            <a:pathLst>
              <a:path w="40322" h="40322">
                <a:moveTo>
                  <a:pt x="20161" y="40322"/>
                </a:moveTo>
                <a:cubicBezTo>
                  <a:pt x="9034" y="40322"/>
                  <a:pt x="0" y="31288"/>
                  <a:pt x="0" y="20161"/>
                </a:cubicBezTo>
                <a:cubicBezTo>
                  <a:pt x="0" y="9034"/>
                  <a:pt x="9034" y="0"/>
                  <a:pt x="20161" y="0"/>
                </a:cubicBezTo>
                <a:cubicBezTo>
                  <a:pt x="31288" y="0"/>
                  <a:pt x="40322" y="9034"/>
                  <a:pt x="40322" y="20161"/>
                </a:cubicBezTo>
                <a:cubicBezTo>
                  <a:pt x="40322" y="31288"/>
                  <a:pt x="31288" y="40322"/>
                  <a:pt x="20161" y="40322"/>
                </a:cubicBezTo>
                <a:close/>
              </a:path>
            </a:pathLst>
          </a:custGeom>
          <a:noFill/>
          <a:ln w="10079">
            <a:solidFill>
              <a:srgbClr val="1C1C1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249420" y="2997835"/>
            <a:ext cx="2580636" cy="806453"/>
          </a:xfrm>
          <a:custGeom>
            <a:avLst/>
            <a:gdLst/>
            <a:ahLst/>
            <a:cxnLst/>
            <a:rect l="0" t="0" r="0" b="0"/>
            <a:pathLst>
              <a:path w="2580636" h="806453">
                <a:moveTo>
                  <a:pt x="0" y="645156"/>
                </a:moveTo>
                <a:lnTo>
                  <a:pt x="403221" y="806453"/>
                </a:lnTo>
                <a:lnTo>
                  <a:pt x="2177415" y="806453"/>
                </a:lnTo>
                <a:lnTo>
                  <a:pt x="2580636" y="645156"/>
                </a:lnTo>
                <a:lnTo>
                  <a:pt x="2177415" y="0"/>
                </a:lnTo>
                <a:lnTo>
                  <a:pt x="403221" y="0"/>
                </a:lnTo>
                <a:lnTo>
                  <a:pt x="0" y="645156"/>
                </a:lnTo>
              </a:path>
            </a:pathLst>
          </a:custGeom>
          <a:solidFill>
            <a:srgbClr val="88A48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249419" y="2997835"/>
            <a:ext cx="2580640" cy="806449"/>
          </a:xfrm>
          <a:custGeom>
            <a:avLst/>
            <a:gdLst/>
            <a:ahLst/>
            <a:cxnLst/>
            <a:rect l="0" t="0" r="0" b="0"/>
            <a:pathLst>
              <a:path w="2580640" h="806449">
                <a:moveTo>
                  <a:pt x="403225" y="0"/>
                </a:moveTo>
                <a:lnTo>
                  <a:pt x="0" y="645160"/>
                </a:lnTo>
                <a:lnTo>
                  <a:pt x="2580640" y="645160"/>
                </a:lnTo>
                <a:lnTo>
                  <a:pt x="2177415" y="0"/>
                </a:lnTo>
                <a:lnTo>
                  <a:pt x="403225" y="0"/>
                </a:lnTo>
                <a:close/>
                <a:moveTo>
                  <a:pt x="403225" y="806449"/>
                </a:moveTo>
                <a:lnTo>
                  <a:pt x="0" y="645160"/>
                </a:lnTo>
                <a:lnTo>
                  <a:pt x="2580640" y="645160"/>
                </a:lnTo>
                <a:lnTo>
                  <a:pt x="2177415" y="806449"/>
                </a:lnTo>
                <a:lnTo>
                  <a:pt x="403225" y="806449"/>
                </a:lnTo>
                <a:close/>
              </a:path>
            </a:pathLst>
          </a:custGeom>
          <a:noFill/>
          <a:ln w="10079">
            <a:solidFill>
              <a:srgbClr val="F8F6F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628457" y="3239769"/>
            <a:ext cx="2869617" cy="9525"/>
          </a:xfrm>
          <a:custGeom>
            <a:avLst/>
            <a:gdLst/>
            <a:ahLst/>
            <a:cxnLst/>
            <a:rect l="0" t="0" r="0" b="0"/>
            <a:pathLst>
              <a:path w="2869617" h="9525">
                <a:moveTo>
                  <a:pt x="0" y="0"/>
                </a:moveTo>
                <a:lnTo>
                  <a:pt x="2869617" y="0"/>
                </a:lnTo>
              </a:path>
            </a:pathLst>
          </a:custGeom>
          <a:noFill/>
          <a:ln w="10079">
            <a:solidFill>
              <a:srgbClr val="88A48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588135" y="3219608"/>
            <a:ext cx="40322" cy="40322"/>
          </a:xfrm>
          <a:custGeom>
            <a:avLst/>
            <a:gdLst/>
            <a:ahLst/>
            <a:cxnLst/>
            <a:rect l="0" t="0" r="0" b="0"/>
            <a:pathLst>
              <a:path w="40322" h="40322">
                <a:moveTo>
                  <a:pt x="20161" y="40322"/>
                </a:moveTo>
                <a:cubicBezTo>
                  <a:pt x="9034" y="40322"/>
                  <a:pt x="0" y="31288"/>
                  <a:pt x="0" y="20161"/>
                </a:cubicBezTo>
                <a:cubicBezTo>
                  <a:pt x="0" y="9034"/>
                  <a:pt x="9034" y="0"/>
                  <a:pt x="20161" y="0"/>
                </a:cubicBezTo>
                <a:cubicBezTo>
                  <a:pt x="31288" y="0"/>
                  <a:pt x="40322" y="9034"/>
                  <a:pt x="40322" y="20161"/>
                </a:cubicBezTo>
                <a:cubicBezTo>
                  <a:pt x="40322" y="31288"/>
                  <a:pt x="31288" y="40322"/>
                  <a:pt x="20161" y="40322"/>
                </a:cubicBezTo>
                <a:close/>
              </a:path>
            </a:pathLst>
          </a:custGeom>
          <a:noFill/>
          <a:ln w="10079">
            <a:solidFill>
              <a:srgbClr val="1C1C1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765549" y="3804284"/>
            <a:ext cx="3548376" cy="806453"/>
          </a:xfrm>
          <a:custGeom>
            <a:avLst/>
            <a:gdLst/>
            <a:ahLst/>
            <a:cxnLst/>
            <a:rect l="0" t="0" r="0" b="0"/>
            <a:pathLst>
              <a:path w="3548376" h="806453">
                <a:moveTo>
                  <a:pt x="0" y="645156"/>
                </a:moveTo>
                <a:lnTo>
                  <a:pt x="470430" y="806453"/>
                </a:lnTo>
                <a:lnTo>
                  <a:pt x="3064506" y="806453"/>
                </a:lnTo>
                <a:lnTo>
                  <a:pt x="3548376" y="645156"/>
                </a:lnTo>
                <a:lnTo>
                  <a:pt x="3162376" y="0"/>
                </a:lnTo>
                <a:lnTo>
                  <a:pt x="399440" y="0"/>
                </a:lnTo>
                <a:lnTo>
                  <a:pt x="0" y="645156"/>
                </a:lnTo>
              </a:path>
            </a:pathLst>
          </a:custGeom>
          <a:solidFill>
            <a:srgbClr val="2F6FD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765550" y="3804283"/>
            <a:ext cx="3548379" cy="806449"/>
          </a:xfrm>
          <a:custGeom>
            <a:avLst/>
            <a:gdLst/>
            <a:ahLst/>
            <a:cxnLst/>
            <a:rect l="0" t="0" r="0" b="0"/>
            <a:pathLst>
              <a:path w="3548379" h="806449">
                <a:moveTo>
                  <a:pt x="399444" y="0"/>
                </a:moveTo>
                <a:lnTo>
                  <a:pt x="0" y="645159"/>
                </a:lnTo>
                <a:lnTo>
                  <a:pt x="3548379" y="645159"/>
                </a:lnTo>
                <a:lnTo>
                  <a:pt x="3162375" y="0"/>
                </a:lnTo>
                <a:lnTo>
                  <a:pt x="399444" y="0"/>
                </a:lnTo>
                <a:close/>
                <a:moveTo>
                  <a:pt x="470429" y="806449"/>
                </a:moveTo>
                <a:lnTo>
                  <a:pt x="0" y="645159"/>
                </a:lnTo>
                <a:lnTo>
                  <a:pt x="3548379" y="645159"/>
                </a:lnTo>
                <a:lnTo>
                  <a:pt x="3064509" y="806449"/>
                </a:lnTo>
                <a:lnTo>
                  <a:pt x="470429" y="806449"/>
                </a:lnTo>
                <a:close/>
              </a:path>
            </a:pathLst>
          </a:custGeom>
          <a:noFill/>
          <a:ln w="10079">
            <a:solidFill>
              <a:srgbClr val="F8F6F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635177" y="4046218"/>
            <a:ext cx="2379027" cy="9525"/>
          </a:xfrm>
          <a:custGeom>
            <a:avLst/>
            <a:gdLst/>
            <a:ahLst/>
            <a:cxnLst/>
            <a:rect l="0" t="0" r="0" b="0"/>
            <a:pathLst>
              <a:path w="2379027" h="9525">
                <a:moveTo>
                  <a:pt x="0" y="1"/>
                </a:moveTo>
                <a:lnTo>
                  <a:pt x="2379027" y="0"/>
                </a:lnTo>
              </a:path>
            </a:pathLst>
          </a:custGeom>
          <a:noFill/>
          <a:ln w="10079">
            <a:solidFill>
              <a:srgbClr val="2F6FD6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594855" y="4026061"/>
            <a:ext cx="40322" cy="40322"/>
          </a:xfrm>
          <a:custGeom>
            <a:avLst/>
            <a:gdLst/>
            <a:ahLst/>
            <a:cxnLst/>
            <a:rect l="0" t="0" r="0" b="0"/>
            <a:pathLst>
              <a:path w="40322" h="40322">
                <a:moveTo>
                  <a:pt x="20161" y="40322"/>
                </a:moveTo>
                <a:cubicBezTo>
                  <a:pt x="9034" y="40322"/>
                  <a:pt x="0" y="31288"/>
                  <a:pt x="0" y="20161"/>
                </a:cubicBezTo>
                <a:cubicBezTo>
                  <a:pt x="0" y="9034"/>
                  <a:pt x="9034" y="0"/>
                  <a:pt x="20161" y="0"/>
                </a:cubicBezTo>
                <a:cubicBezTo>
                  <a:pt x="31288" y="0"/>
                  <a:pt x="40322" y="9034"/>
                  <a:pt x="40322" y="20161"/>
                </a:cubicBezTo>
                <a:cubicBezTo>
                  <a:pt x="40322" y="31288"/>
                  <a:pt x="31288" y="40322"/>
                  <a:pt x="20161" y="40322"/>
                </a:cubicBezTo>
                <a:close/>
              </a:path>
            </a:pathLst>
          </a:custGeom>
          <a:noFill/>
          <a:ln w="10079">
            <a:solidFill>
              <a:srgbClr val="1C1C1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0" name="Group 19"/>
          <p:cNvGrpSpPr/>
          <p:nvPr/>
        </p:nvGrpSpPr>
        <p:grpSpPr>
          <a:xfrm>
            <a:off x="1607185" y="2513966"/>
            <a:ext cx="1578406" cy="268794"/>
            <a:chOff x="1607185" y="2513966"/>
            <a:chExt cx="1578406" cy="268794"/>
          </a:xfrm>
        </p:grpSpPr>
        <p:sp>
          <p:nvSpPr>
            <p:cNvPr id="18" name="TextBox 17"/>
            <p:cNvSpPr txBox="1"/>
            <p:nvPr/>
          </p:nvSpPr>
          <p:spPr>
            <a:xfrm>
              <a:off x="1607185" y="2513966"/>
              <a:ext cx="1815166" cy="1343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1C1C1C"/>
                  </a:solidFill>
                  <a:latin typeface="Roboto"/>
                </a:rPr>
                <a:t>Allocating capital and resources to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607185" y="2648363"/>
              <a:ext cx="1815166" cy="1343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1C1C1C"/>
                  </a:solidFill>
                  <a:latin typeface="Roboto"/>
                </a:rPr>
                <a:t>high-priority risks</a:t>
              </a:r>
            </a:p>
          </p:txBody>
        </p:sp>
      </p:grpSp>
      <p:sp>
        <p:nvSpPr>
          <p:cNvPr id="21" name="Rounded Rectangle 20"/>
          <p:cNvSpPr/>
          <p:nvPr/>
        </p:nvSpPr>
        <p:spPr>
          <a:xfrm>
            <a:off x="5378450" y="2352675"/>
            <a:ext cx="312499" cy="312499"/>
          </a:xfrm>
          <a:custGeom>
            <a:avLst/>
            <a:gdLst/>
            <a:ahLst/>
            <a:cxnLst/>
            <a:rect l="0" t="0" r="0" b="0"/>
            <a:pathLst>
              <a:path w="312499" h="312499">
                <a:moveTo>
                  <a:pt x="104166" y="195564"/>
                </a:moveTo>
                <a:cubicBezTo>
                  <a:pt x="104166" y="203628"/>
                  <a:pt x="98790" y="209004"/>
                  <a:pt x="90725" y="209004"/>
                </a:cubicBezTo>
                <a:lnTo>
                  <a:pt x="23521" y="209004"/>
                </a:lnTo>
                <a:cubicBezTo>
                  <a:pt x="15456" y="209004"/>
                  <a:pt x="10080" y="203628"/>
                  <a:pt x="10080" y="195564"/>
                </a:cubicBezTo>
                <a:lnTo>
                  <a:pt x="10080" y="128360"/>
                </a:lnTo>
                <a:cubicBezTo>
                  <a:pt x="10080" y="120296"/>
                  <a:pt x="15456" y="114919"/>
                  <a:pt x="23521" y="114919"/>
                </a:cubicBezTo>
                <a:lnTo>
                  <a:pt x="90725" y="114919"/>
                </a:lnTo>
                <a:cubicBezTo>
                  <a:pt x="98790" y="114919"/>
                  <a:pt x="104166" y="120296"/>
                  <a:pt x="104166" y="128360"/>
                </a:cubicBezTo>
                <a:close/>
                <a:moveTo>
                  <a:pt x="312499" y="184811"/>
                </a:moveTo>
                <a:cubicBezTo>
                  <a:pt x="312499" y="192875"/>
                  <a:pt x="307123" y="198252"/>
                  <a:pt x="299058" y="198252"/>
                </a:cubicBezTo>
                <a:lnTo>
                  <a:pt x="252015" y="198252"/>
                </a:lnTo>
                <a:cubicBezTo>
                  <a:pt x="243951" y="198252"/>
                  <a:pt x="238574" y="192875"/>
                  <a:pt x="238574" y="184811"/>
                </a:cubicBezTo>
                <a:lnTo>
                  <a:pt x="238574" y="137768"/>
                </a:lnTo>
                <a:cubicBezTo>
                  <a:pt x="238574" y="129704"/>
                  <a:pt x="243951" y="124327"/>
                  <a:pt x="252015" y="124327"/>
                </a:cubicBezTo>
                <a:lnTo>
                  <a:pt x="299058" y="124327"/>
                </a:lnTo>
                <a:cubicBezTo>
                  <a:pt x="307123" y="124327"/>
                  <a:pt x="312499" y="129704"/>
                  <a:pt x="312499" y="137768"/>
                </a:cubicBezTo>
                <a:close/>
                <a:moveTo>
                  <a:pt x="312499" y="70564"/>
                </a:moveTo>
                <a:cubicBezTo>
                  <a:pt x="312499" y="78628"/>
                  <a:pt x="307123" y="84005"/>
                  <a:pt x="299058" y="84005"/>
                </a:cubicBezTo>
                <a:lnTo>
                  <a:pt x="252015" y="84005"/>
                </a:lnTo>
                <a:cubicBezTo>
                  <a:pt x="243951" y="84005"/>
                  <a:pt x="238574" y="78628"/>
                  <a:pt x="238574" y="70564"/>
                </a:cubicBezTo>
                <a:lnTo>
                  <a:pt x="238574" y="23521"/>
                </a:lnTo>
                <a:cubicBezTo>
                  <a:pt x="238574" y="15456"/>
                  <a:pt x="243951" y="10080"/>
                  <a:pt x="252015" y="10080"/>
                </a:cubicBezTo>
                <a:lnTo>
                  <a:pt x="299058" y="10080"/>
                </a:lnTo>
                <a:cubicBezTo>
                  <a:pt x="307123" y="10080"/>
                  <a:pt x="312499" y="15456"/>
                  <a:pt x="312499" y="23521"/>
                </a:cubicBezTo>
                <a:close/>
                <a:moveTo>
                  <a:pt x="312499" y="299058"/>
                </a:moveTo>
                <a:cubicBezTo>
                  <a:pt x="312499" y="307123"/>
                  <a:pt x="307123" y="312499"/>
                  <a:pt x="299058" y="312499"/>
                </a:cubicBezTo>
                <a:lnTo>
                  <a:pt x="252015" y="312499"/>
                </a:lnTo>
                <a:cubicBezTo>
                  <a:pt x="243951" y="312499"/>
                  <a:pt x="238574" y="307123"/>
                  <a:pt x="238574" y="299058"/>
                </a:cubicBezTo>
                <a:lnTo>
                  <a:pt x="238574" y="252015"/>
                </a:lnTo>
                <a:cubicBezTo>
                  <a:pt x="238574" y="243951"/>
                  <a:pt x="243951" y="238574"/>
                  <a:pt x="252015" y="238574"/>
                </a:cubicBezTo>
                <a:lnTo>
                  <a:pt x="299058" y="238574"/>
                </a:lnTo>
                <a:cubicBezTo>
                  <a:pt x="307123" y="238574"/>
                  <a:pt x="312499" y="243951"/>
                  <a:pt x="312499" y="252015"/>
                </a:cubicBezTo>
                <a:close/>
                <a:moveTo>
                  <a:pt x="97290" y="116347"/>
                </a:moveTo>
                <a:lnTo>
                  <a:pt x="196908" y="50403"/>
                </a:lnTo>
                <a:moveTo>
                  <a:pt x="0" y="0"/>
                </a:moveTo>
                <a:moveTo>
                  <a:pt x="104166" y="161962"/>
                </a:moveTo>
                <a:lnTo>
                  <a:pt x="198252" y="161962"/>
                </a:lnTo>
                <a:moveTo>
                  <a:pt x="0" y="0"/>
                </a:moveTo>
                <a:moveTo>
                  <a:pt x="168682" y="131048"/>
                </a:moveTo>
                <a:lnTo>
                  <a:pt x="198252" y="161962"/>
                </a:lnTo>
                <a:lnTo>
                  <a:pt x="168682" y="191531"/>
                </a:lnTo>
                <a:moveTo>
                  <a:pt x="0" y="0"/>
                </a:moveTo>
                <a:moveTo>
                  <a:pt x="156585" y="40995"/>
                </a:moveTo>
                <a:lnTo>
                  <a:pt x="198252" y="50403"/>
                </a:lnTo>
                <a:lnTo>
                  <a:pt x="188843" y="92070"/>
                </a:lnTo>
                <a:moveTo>
                  <a:pt x="0" y="0"/>
                </a:moveTo>
                <a:moveTo>
                  <a:pt x="97290" y="207574"/>
                </a:moveTo>
                <a:lnTo>
                  <a:pt x="196908" y="273519"/>
                </a:lnTo>
                <a:moveTo>
                  <a:pt x="0" y="0"/>
                </a:moveTo>
                <a:moveTo>
                  <a:pt x="156585" y="282929"/>
                </a:moveTo>
                <a:lnTo>
                  <a:pt x="198252" y="273520"/>
                </a:lnTo>
                <a:lnTo>
                  <a:pt x="188843" y="231854"/>
                </a:lnTo>
              </a:path>
            </a:pathLst>
          </a:custGeom>
          <a:noFill/>
          <a:ln w="10079">
            <a:solidFill>
              <a:srgbClr val="1C1C1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607185" y="2997833"/>
            <a:ext cx="1342654" cy="1612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00" b="1">
                <a:solidFill>
                  <a:srgbClr val="1C1C1C"/>
                </a:solidFill>
                <a:latin typeface="Shantell Sans"/>
              </a:rPr>
              <a:t>Risk Assessment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7185" y="2191380"/>
            <a:ext cx="1731644" cy="1612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00" b="1">
                <a:solidFill>
                  <a:srgbClr val="1C1C1C"/>
                </a:solidFill>
                <a:latin typeface="Shantell Sans"/>
              </a:rPr>
              <a:t>Resource Deployment</a:t>
            </a:r>
          </a:p>
        </p:txBody>
      </p:sp>
      <p:grpSp>
        <p:nvGrpSpPr>
          <p:cNvPr id="26" name="Group 25"/>
          <p:cNvGrpSpPr/>
          <p:nvPr/>
        </p:nvGrpSpPr>
        <p:grpSpPr>
          <a:xfrm>
            <a:off x="1607185" y="1707517"/>
            <a:ext cx="1566738" cy="268794"/>
            <a:chOff x="1607185" y="1707517"/>
            <a:chExt cx="1566738" cy="268794"/>
          </a:xfrm>
        </p:grpSpPr>
        <p:sp>
          <p:nvSpPr>
            <p:cNvPr id="24" name="TextBox 23"/>
            <p:cNvSpPr txBox="1"/>
            <p:nvPr/>
          </p:nvSpPr>
          <p:spPr>
            <a:xfrm>
              <a:off x="1607185" y="1707517"/>
              <a:ext cx="1801748" cy="1343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1C1C1C"/>
                  </a:solidFill>
                  <a:latin typeface="Roboto"/>
                </a:rPr>
                <a:t>Reducing surprises and enhancing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607185" y="1841914"/>
              <a:ext cx="1801748" cy="1343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1C1C1C"/>
                  </a:solidFill>
                  <a:latin typeface="Roboto"/>
                </a:rPr>
                <a:t>crisis management</a:t>
              </a:r>
            </a:p>
          </p:txBody>
        </p:sp>
      </p:grpSp>
      <p:sp>
        <p:nvSpPr>
          <p:cNvPr id="27" name="Rounded Rectangle 26"/>
          <p:cNvSpPr/>
          <p:nvPr/>
        </p:nvSpPr>
        <p:spPr>
          <a:xfrm>
            <a:off x="5385170" y="3165843"/>
            <a:ext cx="309756" cy="309139"/>
          </a:xfrm>
          <a:custGeom>
            <a:avLst/>
            <a:gdLst/>
            <a:ahLst/>
            <a:cxnLst/>
            <a:rect l="0" t="0" r="0" b="0"/>
            <a:pathLst>
              <a:path w="309756" h="309139">
                <a:moveTo>
                  <a:pt x="107526" y="309139"/>
                </a:moveTo>
                <a:lnTo>
                  <a:pt x="13440" y="309139"/>
                </a:lnTo>
                <a:cubicBezTo>
                  <a:pt x="6017" y="309139"/>
                  <a:pt x="0" y="303121"/>
                  <a:pt x="0" y="295698"/>
                </a:cubicBezTo>
                <a:lnTo>
                  <a:pt x="0" y="13440"/>
                </a:lnTo>
                <a:cubicBezTo>
                  <a:pt x="0" y="6017"/>
                  <a:pt x="6017" y="0"/>
                  <a:pt x="13440" y="0"/>
                </a:cubicBezTo>
                <a:lnTo>
                  <a:pt x="192109" y="0"/>
                </a:lnTo>
                <a:cubicBezTo>
                  <a:pt x="195674" y="0"/>
                  <a:pt x="199092" y="1417"/>
                  <a:pt x="201612" y="3938"/>
                </a:cubicBezTo>
                <a:lnTo>
                  <a:pt x="251437" y="53763"/>
                </a:lnTo>
                <a:cubicBezTo>
                  <a:pt x="253958" y="56283"/>
                  <a:pt x="255375" y="59701"/>
                  <a:pt x="255375" y="63266"/>
                </a:cubicBezTo>
                <a:lnTo>
                  <a:pt x="255375" y="107526"/>
                </a:lnTo>
                <a:moveTo>
                  <a:pt x="53763" y="180228"/>
                </a:moveTo>
                <a:lnTo>
                  <a:pt x="93467" y="140523"/>
                </a:lnTo>
                <a:cubicBezTo>
                  <a:pt x="97383" y="136615"/>
                  <a:pt x="103511" y="136008"/>
                  <a:pt x="108118" y="139072"/>
                </a:cubicBezTo>
                <a:lnTo>
                  <a:pt x="126841" y="151558"/>
                </a:lnTo>
                <a:cubicBezTo>
                  <a:pt x="131563" y="154703"/>
                  <a:pt x="137865" y="153975"/>
                  <a:pt x="141747" y="149838"/>
                </a:cubicBezTo>
                <a:lnTo>
                  <a:pt x="178548" y="110577"/>
                </a:lnTo>
                <a:moveTo>
                  <a:pt x="53763" y="80644"/>
                </a:moveTo>
                <a:lnTo>
                  <a:pt x="53763" y="215053"/>
                </a:lnTo>
                <a:lnTo>
                  <a:pt x="120967" y="215053"/>
                </a:lnTo>
                <a:moveTo>
                  <a:pt x="228494" y="268816"/>
                </a:moveTo>
                <a:cubicBezTo>
                  <a:pt x="230349" y="268816"/>
                  <a:pt x="231854" y="270321"/>
                  <a:pt x="231854" y="272176"/>
                </a:cubicBezTo>
                <a:cubicBezTo>
                  <a:pt x="231854" y="274032"/>
                  <a:pt x="230349" y="275537"/>
                  <a:pt x="228494" y="275537"/>
                </a:cubicBezTo>
                <a:cubicBezTo>
                  <a:pt x="226638" y="275537"/>
                  <a:pt x="225133" y="274032"/>
                  <a:pt x="225133" y="272176"/>
                </a:cubicBezTo>
                <a:cubicBezTo>
                  <a:pt x="225133" y="270321"/>
                  <a:pt x="226638" y="268816"/>
                  <a:pt x="228494" y="268816"/>
                </a:cubicBezTo>
                <a:moveTo>
                  <a:pt x="228494" y="201612"/>
                </a:moveTo>
                <a:lnTo>
                  <a:pt x="228494" y="241934"/>
                </a:lnTo>
                <a:moveTo>
                  <a:pt x="239757" y="161290"/>
                </a:moveTo>
                <a:cubicBezTo>
                  <a:pt x="237537" y="157132"/>
                  <a:pt x="233207" y="154536"/>
                  <a:pt x="228494" y="154536"/>
                </a:cubicBezTo>
                <a:cubicBezTo>
                  <a:pt x="223780" y="154536"/>
                  <a:pt x="219450" y="157132"/>
                  <a:pt x="217230" y="161290"/>
                </a:cubicBezTo>
                <a:lnTo>
                  <a:pt x="149273" y="290792"/>
                </a:lnTo>
                <a:cubicBezTo>
                  <a:pt x="147231" y="294673"/>
                  <a:pt x="147390" y="299343"/>
                  <a:pt x="149690" y="303077"/>
                </a:cubicBezTo>
                <a:cubicBezTo>
                  <a:pt x="152018" y="306828"/>
                  <a:pt x="156122" y="309106"/>
                  <a:pt x="160537" y="309098"/>
                </a:cubicBezTo>
                <a:lnTo>
                  <a:pt x="296451" y="309098"/>
                </a:lnTo>
                <a:cubicBezTo>
                  <a:pt x="300865" y="309106"/>
                  <a:pt x="304969" y="306828"/>
                  <a:pt x="307297" y="303077"/>
                </a:cubicBezTo>
                <a:cubicBezTo>
                  <a:pt x="309598" y="299343"/>
                  <a:pt x="309756" y="294673"/>
                  <a:pt x="307714" y="290792"/>
                </a:cubicBezTo>
                <a:close/>
              </a:path>
            </a:pathLst>
          </a:custGeom>
          <a:noFill/>
          <a:ln w="10079">
            <a:solidFill>
              <a:srgbClr val="1C1C1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30" name="Group 29"/>
          <p:cNvGrpSpPr/>
          <p:nvPr/>
        </p:nvGrpSpPr>
        <p:grpSpPr>
          <a:xfrm>
            <a:off x="1607185" y="3320414"/>
            <a:ext cx="1561861" cy="268794"/>
            <a:chOff x="1607185" y="3320414"/>
            <a:chExt cx="1561861" cy="268794"/>
          </a:xfrm>
        </p:grpSpPr>
        <p:sp>
          <p:nvSpPr>
            <p:cNvPr id="28" name="TextBox 27"/>
            <p:cNvSpPr txBox="1"/>
            <p:nvPr/>
          </p:nvSpPr>
          <p:spPr>
            <a:xfrm>
              <a:off x="1607185" y="3320414"/>
              <a:ext cx="1796140" cy="1343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1C1C1C"/>
                  </a:solidFill>
                  <a:latin typeface="Roboto"/>
                </a:rPr>
                <a:t>Analyzing likelihood and impact of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607185" y="3454811"/>
              <a:ext cx="1796140" cy="1343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1C1C1C"/>
                  </a:solidFill>
                  <a:latin typeface="Roboto"/>
                </a:rPr>
                <a:t>identified risks</a:t>
              </a:r>
            </a:p>
          </p:txBody>
        </p:sp>
      </p:grpSp>
      <p:sp>
        <p:nvSpPr>
          <p:cNvPr id="31" name="Rounded Rectangle 30"/>
          <p:cNvSpPr/>
          <p:nvPr/>
        </p:nvSpPr>
        <p:spPr>
          <a:xfrm>
            <a:off x="5378450" y="1626868"/>
            <a:ext cx="317283" cy="316276"/>
          </a:xfrm>
          <a:custGeom>
            <a:avLst/>
            <a:gdLst/>
            <a:ahLst/>
            <a:cxnLst/>
            <a:rect l="0" t="0" r="0" b="0"/>
            <a:pathLst>
              <a:path w="317283" h="316276">
                <a:moveTo>
                  <a:pt x="100806" y="316276"/>
                </a:moveTo>
                <a:lnTo>
                  <a:pt x="6720" y="316276"/>
                </a:lnTo>
                <a:lnTo>
                  <a:pt x="6720" y="128104"/>
                </a:lnTo>
                <a:cubicBezTo>
                  <a:pt x="6720" y="120681"/>
                  <a:pt x="12738" y="114663"/>
                  <a:pt x="20161" y="114663"/>
                </a:cubicBezTo>
                <a:lnTo>
                  <a:pt x="87365" y="114663"/>
                </a:lnTo>
                <a:cubicBezTo>
                  <a:pt x="94788" y="114663"/>
                  <a:pt x="100806" y="120681"/>
                  <a:pt x="100806" y="128104"/>
                </a:cubicBezTo>
                <a:close/>
                <a:moveTo>
                  <a:pt x="87365" y="114663"/>
                </a:moveTo>
                <a:lnTo>
                  <a:pt x="87365" y="60900"/>
                </a:lnTo>
                <a:lnTo>
                  <a:pt x="198924" y="11344"/>
                </a:lnTo>
                <a:cubicBezTo>
                  <a:pt x="200999" y="10438"/>
                  <a:pt x="203390" y="10638"/>
                  <a:pt x="205286" y="11876"/>
                </a:cubicBezTo>
                <a:cubicBezTo>
                  <a:pt x="207182" y="13113"/>
                  <a:pt x="208327" y="15222"/>
                  <a:pt x="208332" y="17486"/>
                </a:cubicBezTo>
                <a:lnTo>
                  <a:pt x="208332" y="128104"/>
                </a:lnTo>
                <a:moveTo>
                  <a:pt x="33602" y="316276"/>
                </a:moveTo>
                <a:lnTo>
                  <a:pt x="33602" y="282674"/>
                </a:lnTo>
                <a:cubicBezTo>
                  <a:pt x="33602" y="278962"/>
                  <a:pt x="36610" y="275953"/>
                  <a:pt x="40322" y="275953"/>
                </a:cubicBezTo>
                <a:lnTo>
                  <a:pt x="67204" y="275953"/>
                </a:lnTo>
                <a:cubicBezTo>
                  <a:pt x="70915" y="275953"/>
                  <a:pt x="73924" y="278962"/>
                  <a:pt x="73924" y="282674"/>
                </a:cubicBezTo>
                <a:lnTo>
                  <a:pt x="73924" y="316276"/>
                </a:lnTo>
                <a:moveTo>
                  <a:pt x="6720" y="154986"/>
                </a:moveTo>
                <a:lnTo>
                  <a:pt x="60483" y="154986"/>
                </a:lnTo>
                <a:moveTo>
                  <a:pt x="208332" y="74341"/>
                </a:moveTo>
                <a:lnTo>
                  <a:pt x="168010" y="74341"/>
                </a:lnTo>
                <a:moveTo>
                  <a:pt x="208332" y="101222"/>
                </a:moveTo>
                <a:lnTo>
                  <a:pt x="141128" y="101222"/>
                </a:lnTo>
                <a:moveTo>
                  <a:pt x="6720" y="181867"/>
                </a:moveTo>
                <a:lnTo>
                  <a:pt x="33602" y="181867"/>
                </a:lnTo>
                <a:moveTo>
                  <a:pt x="114247" y="48951"/>
                </a:moveTo>
                <a:lnTo>
                  <a:pt x="114247" y="7137"/>
                </a:lnTo>
                <a:moveTo>
                  <a:pt x="100806" y="316276"/>
                </a:moveTo>
                <a:lnTo>
                  <a:pt x="168010" y="316276"/>
                </a:lnTo>
                <a:moveTo>
                  <a:pt x="219260" y="228494"/>
                </a:moveTo>
                <a:cubicBezTo>
                  <a:pt x="219260" y="239161"/>
                  <a:pt x="227907" y="247808"/>
                  <a:pt x="238574" y="247808"/>
                </a:cubicBezTo>
                <a:cubicBezTo>
                  <a:pt x="249241" y="247808"/>
                  <a:pt x="257889" y="239161"/>
                  <a:pt x="257889" y="228494"/>
                </a:cubicBezTo>
                <a:cubicBezTo>
                  <a:pt x="257889" y="217827"/>
                  <a:pt x="249241" y="209179"/>
                  <a:pt x="238574" y="209179"/>
                </a:cubicBezTo>
                <a:cubicBezTo>
                  <a:pt x="227907" y="209179"/>
                  <a:pt x="219260" y="217827"/>
                  <a:pt x="219260" y="228494"/>
                </a:cubicBezTo>
                <a:close/>
                <a:moveTo>
                  <a:pt x="0" y="0"/>
                </a:moveTo>
                <a:moveTo>
                  <a:pt x="254986" y="153749"/>
                </a:moveTo>
                <a:lnTo>
                  <a:pt x="260685" y="172459"/>
                </a:lnTo>
                <a:cubicBezTo>
                  <a:pt x="262623" y="178907"/>
                  <a:pt x="269231" y="182746"/>
                  <a:pt x="275792" y="181236"/>
                </a:cubicBezTo>
                <a:lnTo>
                  <a:pt x="294770" y="176841"/>
                </a:lnTo>
                <a:cubicBezTo>
                  <a:pt x="302149" y="175178"/>
                  <a:pt x="309749" y="178516"/>
                  <a:pt x="313516" y="185075"/>
                </a:cubicBezTo>
                <a:cubicBezTo>
                  <a:pt x="317283" y="191633"/>
                  <a:pt x="316336" y="199881"/>
                  <a:pt x="311182" y="205416"/>
                </a:cubicBezTo>
                <a:lnTo>
                  <a:pt x="297902" y="219717"/>
                </a:lnTo>
                <a:cubicBezTo>
                  <a:pt x="293322" y="224672"/>
                  <a:pt x="293322" y="232316"/>
                  <a:pt x="297902" y="237271"/>
                </a:cubicBezTo>
                <a:lnTo>
                  <a:pt x="311182" y="251572"/>
                </a:lnTo>
                <a:cubicBezTo>
                  <a:pt x="316336" y="257106"/>
                  <a:pt x="317283" y="265354"/>
                  <a:pt x="313516" y="271913"/>
                </a:cubicBezTo>
                <a:cubicBezTo>
                  <a:pt x="309749" y="278471"/>
                  <a:pt x="302149" y="281810"/>
                  <a:pt x="294770" y="280147"/>
                </a:cubicBezTo>
                <a:lnTo>
                  <a:pt x="275792" y="275752"/>
                </a:lnTo>
                <a:cubicBezTo>
                  <a:pt x="269231" y="274242"/>
                  <a:pt x="262623" y="278081"/>
                  <a:pt x="260685" y="284529"/>
                </a:cubicBezTo>
                <a:lnTo>
                  <a:pt x="254986" y="303238"/>
                </a:lnTo>
                <a:cubicBezTo>
                  <a:pt x="252808" y="310482"/>
                  <a:pt x="246138" y="315441"/>
                  <a:pt x="238574" y="315441"/>
                </a:cubicBezTo>
                <a:cubicBezTo>
                  <a:pt x="231010" y="315441"/>
                  <a:pt x="224341" y="310482"/>
                  <a:pt x="222163" y="303238"/>
                </a:cubicBezTo>
                <a:lnTo>
                  <a:pt x="216464" y="284529"/>
                </a:lnTo>
                <a:cubicBezTo>
                  <a:pt x="214526" y="278081"/>
                  <a:pt x="207918" y="274242"/>
                  <a:pt x="201357" y="275752"/>
                </a:cubicBezTo>
                <a:lnTo>
                  <a:pt x="182378" y="280147"/>
                </a:lnTo>
                <a:cubicBezTo>
                  <a:pt x="175000" y="281810"/>
                  <a:pt x="167399" y="278471"/>
                  <a:pt x="163633" y="271913"/>
                </a:cubicBezTo>
                <a:cubicBezTo>
                  <a:pt x="159866" y="265354"/>
                  <a:pt x="160812" y="257106"/>
                  <a:pt x="165967" y="251572"/>
                </a:cubicBezTo>
                <a:lnTo>
                  <a:pt x="179246" y="237271"/>
                </a:lnTo>
                <a:cubicBezTo>
                  <a:pt x="183827" y="232316"/>
                  <a:pt x="183827" y="224672"/>
                  <a:pt x="179246" y="219717"/>
                </a:cubicBezTo>
                <a:lnTo>
                  <a:pt x="165967" y="205416"/>
                </a:lnTo>
                <a:cubicBezTo>
                  <a:pt x="160812" y="199881"/>
                  <a:pt x="159866" y="191633"/>
                  <a:pt x="163633" y="185075"/>
                </a:cubicBezTo>
                <a:cubicBezTo>
                  <a:pt x="167399" y="178516"/>
                  <a:pt x="175000" y="175178"/>
                  <a:pt x="182378" y="176841"/>
                </a:cubicBezTo>
                <a:lnTo>
                  <a:pt x="201357" y="181236"/>
                </a:lnTo>
                <a:cubicBezTo>
                  <a:pt x="207918" y="182746"/>
                  <a:pt x="214526" y="178907"/>
                  <a:pt x="216464" y="172459"/>
                </a:cubicBezTo>
                <a:lnTo>
                  <a:pt x="222163" y="153749"/>
                </a:lnTo>
                <a:cubicBezTo>
                  <a:pt x="224341" y="146506"/>
                  <a:pt x="231010" y="141547"/>
                  <a:pt x="238574" y="141547"/>
                </a:cubicBezTo>
                <a:cubicBezTo>
                  <a:pt x="246138" y="141547"/>
                  <a:pt x="252808" y="146506"/>
                  <a:pt x="254986" y="153749"/>
                </a:cubicBezTo>
                <a:close/>
              </a:path>
            </a:pathLst>
          </a:custGeom>
          <a:noFill/>
          <a:ln w="10079">
            <a:solidFill>
              <a:srgbClr val="1C1C1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607185" y="3804282"/>
            <a:ext cx="1363883" cy="1612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00" b="1">
                <a:solidFill>
                  <a:srgbClr val="1C1C1C"/>
                </a:solidFill>
                <a:latin typeface="Shantell Sans"/>
              </a:rPr>
              <a:t>Objective Setting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07185" y="1384932"/>
            <a:ext cx="1815166" cy="1612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00" b="1">
                <a:solidFill>
                  <a:srgbClr val="1C1C1C"/>
                </a:solidFill>
                <a:latin typeface="Shantell Sans"/>
              </a:rPr>
              <a:t>Operational Resilience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96273" y="371475"/>
            <a:ext cx="5351453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3100" b="1">
                <a:solidFill>
                  <a:srgbClr val="1C1C1C"/>
                </a:solidFill>
                <a:latin typeface="Shantell Sans"/>
              </a:rPr>
              <a:t>ERM Benefits Pyramid</a:t>
            </a:r>
          </a:p>
        </p:txBody>
      </p:sp>
      <p:grpSp>
        <p:nvGrpSpPr>
          <p:cNvPr id="37" name="Group 36"/>
          <p:cNvGrpSpPr/>
          <p:nvPr/>
        </p:nvGrpSpPr>
        <p:grpSpPr>
          <a:xfrm>
            <a:off x="1607185" y="4126867"/>
            <a:ext cx="1411119" cy="268794"/>
            <a:chOff x="1607185" y="4126867"/>
            <a:chExt cx="1411119" cy="268794"/>
          </a:xfrm>
        </p:grpSpPr>
        <p:sp>
          <p:nvSpPr>
            <p:cNvPr id="35" name="TextBox 34"/>
            <p:cNvSpPr txBox="1"/>
            <p:nvPr/>
          </p:nvSpPr>
          <p:spPr>
            <a:xfrm>
              <a:off x="1607185" y="4126867"/>
              <a:ext cx="1622786" cy="1343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1C1C1C"/>
                  </a:solidFill>
                  <a:latin typeface="Roboto"/>
                </a:rPr>
                <a:t>Aligning risk management with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1607185" y="4261264"/>
              <a:ext cx="1622786" cy="1343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1C1C1C"/>
                  </a:solidFill>
                  <a:latin typeface="Roboto"/>
                </a:rPr>
                <a:t>organizational mission</a:t>
              </a:r>
            </a:p>
          </p:txBody>
        </p:sp>
      </p:grpSp>
      <p:sp>
        <p:nvSpPr>
          <p:cNvPr id="38" name="Rounded Rectangle 37"/>
          <p:cNvSpPr/>
          <p:nvPr/>
        </p:nvSpPr>
        <p:spPr>
          <a:xfrm>
            <a:off x="5378450" y="3965576"/>
            <a:ext cx="309139" cy="309139"/>
          </a:xfrm>
          <a:custGeom>
            <a:avLst/>
            <a:gdLst/>
            <a:ahLst/>
            <a:cxnLst/>
            <a:rect l="0" t="0" r="0" b="0"/>
            <a:pathLst>
              <a:path w="309139" h="309139">
                <a:moveTo>
                  <a:pt x="161290" y="13440"/>
                </a:moveTo>
                <a:lnTo>
                  <a:pt x="161290" y="53763"/>
                </a:lnTo>
                <a:moveTo>
                  <a:pt x="161290" y="268816"/>
                </a:moveTo>
                <a:lnTo>
                  <a:pt x="161290" y="309139"/>
                </a:lnTo>
                <a:moveTo>
                  <a:pt x="309139" y="161290"/>
                </a:moveTo>
                <a:lnTo>
                  <a:pt x="268816" y="161290"/>
                </a:lnTo>
                <a:moveTo>
                  <a:pt x="53763" y="161290"/>
                </a:moveTo>
                <a:lnTo>
                  <a:pt x="13440" y="161290"/>
                </a:lnTo>
                <a:moveTo>
                  <a:pt x="33602" y="161290"/>
                </a:moveTo>
                <a:cubicBezTo>
                  <a:pt x="33602" y="231810"/>
                  <a:pt x="90769" y="288977"/>
                  <a:pt x="161290" y="288977"/>
                </a:cubicBezTo>
                <a:cubicBezTo>
                  <a:pt x="231810" y="288977"/>
                  <a:pt x="288977" y="231810"/>
                  <a:pt x="288977" y="161290"/>
                </a:cubicBezTo>
                <a:cubicBezTo>
                  <a:pt x="288977" y="90769"/>
                  <a:pt x="231810" y="33602"/>
                  <a:pt x="161290" y="33602"/>
                </a:cubicBezTo>
                <a:cubicBezTo>
                  <a:pt x="90769" y="33602"/>
                  <a:pt x="33602" y="90769"/>
                  <a:pt x="33602" y="161290"/>
                </a:cubicBezTo>
                <a:moveTo>
                  <a:pt x="0" y="0"/>
                </a:moveTo>
                <a:moveTo>
                  <a:pt x="94085" y="134408"/>
                </a:moveTo>
                <a:lnTo>
                  <a:pt x="161290" y="94085"/>
                </a:lnTo>
                <a:lnTo>
                  <a:pt x="228494" y="134408"/>
                </a:lnTo>
                <a:lnTo>
                  <a:pt x="228494" y="154569"/>
                </a:lnTo>
                <a:lnTo>
                  <a:pt x="94085" y="154569"/>
                </a:lnTo>
                <a:close/>
                <a:moveTo>
                  <a:pt x="228494" y="221773"/>
                </a:moveTo>
                <a:lnTo>
                  <a:pt x="94085" y="221773"/>
                </a:lnTo>
                <a:moveTo>
                  <a:pt x="107526" y="221773"/>
                </a:moveTo>
                <a:lnTo>
                  <a:pt x="107526" y="154569"/>
                </a:lnTo>
                <a:moveTo>
                  <a:pt x="215053" y="221773"/>
                </a:moveTo>
                <a:lnTo>
                  <a:pt x="215053" y="154569"/>
                </a:lnTo>
                <a:moveTo>
                  <a:pt x="141128" y="221773"/>
                </a:moveTo>
                <a:lnTo>
                  <a:pt x="141128" y="154569"/>
                </a:lnTo>
                <a:moveTo>
                  <a:pt x="181451" y="221773"/>
                </a:moveTo>
                <a:lnTo>
                  <a:pt x="181451" y="154569"/>
                </a:lnTo>
              </a:path>
            </a:pathLst>
          </a:custGeom>
          <a:noFill/>
          <a:ln w="10079">
            <a:solidFill>
              <a:srgbClr val="1C1C1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7886700" y="4829136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9F8A4A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921880" y="3420237"/>
            <a:ext cx="1300238" cy="750712"/>
          </a:xfrm>
          <a:custGeom>
            <a:avLst/>
            <a:gdLst/>
            <a:ahLst/>
            <a:cxnLst/>
            <a:rect l="0" t="0" r="0" b="0"/>
            <a:pathLst>
              <a:path w="1300238" h="750712">
                <a:moveTo>
                  <a:pt x="975179" y="187680"/>
                </a:moveTo>
                <a:lnTo>
                  <a:pt x="650119" y="0"/>
                </a:lnTo>
                <a:lnTo>
                  <a:pt x="325059" y="187671"/>
                </a:lnTo>
                <a:lnTo>
                  <a:pt x="0" y="0"/>
                </a:lnTo>
                <a:lnTo>
                  <a:pt x="0" y="375361"/>
                </a:lnTo>
                <a:lnTo>
                  <a:pt x="650119" y="750712"/>
                </a:lnTo>
                <a:lnTo>
                  <a:pt x="1300238" y="375361"/>
                </a:lnTo>
                <a:lnTo>
                  <a:pt x="1300238" y="9"/>
                </a:lnTo>
                <a:lnTo>
                  <a:pt x="975179" y="187680"/>
                </a:lnTo>
              </a:path>
            </a:pathLst>
          </a:custGeom>
          <a:solidFill>
            <a:srgbClr val="2F6FD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921871" y="3420237"/>
            <a:ext cx="1300248" cy="750710"/>
          </a:xfrm>
          <a:custGeom>
            <a:avLst/>
            <a:gdLst/>
            <a:ahLst/>
            <a:cxnLst/>
            <a:rect l="0" t="0" r="0" b="0"/>
            <a:pathLst>
              <a:path w="1300248" h="750710">
                <a:moveTo>
                  <a:pt x="975192" y="187679"/>
                </a:moveTo>
                <a:lnTo>
                  <a:pt x="650132" y="0"/>
                </a:lnTo>
                <a:lnTo>
                  <a:pt x="325071" y="187675"/>
                </a:lnTo>
                <a:lnTo>
                  <a:pt x="8" y="0"/>
                </a:lnTo>
                <a:lnTo>
                  <a:pt x="0" y="375360"/>
                </a:lnTo>
                <a:lnTo>
                  <a:pt x="650124" y="750710"/>
                </a:lnTo>
                <a:lnTo>
                  <a:pt x="1300248" y="375360"/>
                </a:lnTo>
                <a:lnTo>
                  <a:pt x="1300248" y="10"/>
                </a:lnTo>
                <a:lnTo>
                  <a:pt x="975192" y="187679"/>
                </a:lnTo>
                <a:close/>
              </a:path>
            </a:pathLst>
          </a:custGeom>
          <a:noFill/>
          <a:ln w="8129">
            <a:solidFill>
              <a:srgbClr val="F8F6F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0" y="2106522"/>
            <a:ext cx="975188" cy="1313726"/>
          </a:xfrm>
          <a:custGeom>
            <a:avLst/>
            <a:gdLst/>
            <a:ahLst/>
            <a:cxnLst/>
            <a:rect l="0" t="0" r="0" b="0"/>
            <a:pathLst>
              <a:path w="975188" h="1313726">
                <a:moveTo>
                  <a:pt x="325059" y="0"/>
                </a:moveTo>
                <a:lnTo>
                  <a:pt x="975188" y="375351"/>
                </a:lnTo>
                <a:lnTo>
                  <a:pt x="975188" y="1126045"/>
                </a:lnTo>
                <a:lnTo>
                  <a:pt x="650119" y="1313726"/>
                </a:lnTo>
                <a:lnTo>
                  <a:pt x="650119" y="938383"/>
                </a:lnTo>
                <a:lnTo>
                  <a:pt x="325069" y="750693"/>
                </a:lnTo>
                <a:lnTo>
                  <a:pt x="325069" y="375342"/>
                </a:lnTo>
                <a:lnTo>
                  <a:pt x="0" y="187671"/>
                </a:lnTo>
                <a:lnTo>
                  <a:pt x="325059" y="0"/>
                </a:lnTo>
              </a:path>
            </a:pathLst>
          </a:custGeom>
          <a:solidFill>
            <a:srgbClr val="F2C12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1999" y="2106522"/>
            <a:ext cx="975186" cy="1313729"/>
          </a:xfrm>
          <a:custGeom>
            <a:avLst/>
            <a:gdLst/>
            <a:ahLst/>
            <a:cxnLst/>
            <a:rect l="0" t="0" r="0" b="0"/>
            <a:pathLst>
              <a:path w="975186" h="1313729">
                <a:moveTo>
                  <a:pt x="325062" y="0"/>
                </a:moveTo>
                <a:lnTo>
                  <a:pt x="975186" y="375349"/>
                </a:lnTo>
                <a:lnTo>
                  <a:pt x="975186" y="1126048"/>
                </a:lnTo>
                <a:lnTo>
                  <a:pt x="650118" y="1313729"/>
                </a:lnTo>
                <a:lnTo>
                  <a:pt x="650118" y="938379"/>
                </a:lnTo>
                <a:lnTo>
                  <a:pt x="325065" y="750694"/>
                </a:lnTo>
                <a:lnTo>
                  <a:pt x="325065" y="375344"/>
                </a:lnTo>
                <a:lnTo>
                  <a:pt x="0" y="187674"/>
                </a:lnTo>
                <a:lnTo>
                  <a:pt x="325062" y="0"/>
                </a:lnTo>
                <a:close/>
              </a:path>
            </a:pathLst>
          </a:custGeom>
          <a:noFill/>
          <a:ln w="8129">
            <a:solidFill>
              <a:srgbClr val="F8F6F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596819" y="2106517"/>
            <a:ext cx="975179" cy="1313726"/>
          </a:xfrm>
          <a:custGeom>
            <a:avLst/>
            <a:gdLst/>
            <a:ahLst/>
            <a:cxnLst/>
            <a:rect l="0" t="0" r="0" b="0"/>
            <a:pathLst>
              <a:path w="975179" h="1313726">
                <a:moveTo>
                  <a:pt x="650119" y="375351"/>
                </a:moveTo>
                <a:lnTo>
                  <a:pt x="975179" y="187680"/>
                </a:lnTo>
                <a:lnTo>
                  <a:pt x="650128" y="0"/>
                </a:lnTo>
                <a:lnTo>
                  <a:pt x="0" y="375351"/>
                </a:lnTo>
                <a:lnTo>
                  <a:pt x="0" y="1126045"/>
                </a:lnTo>
                <a:lnTo>
                  <a:pt x="325059" y="1313726"/>
                </a:lnTo>
                <a:lnTo>
                  <a:pt x="325059" y="938383"/>
                </a:lnTo>
                <a:lnTo>
                  <a:pt x="650119" y="750703"/>
                </a:lnTo>
                <a:lnTo>
                  <a:pt x="650119" y="375351"/>
                </a:lnTo>
              </a:path>
            </a:pathLst>
          </a:custGeom>
          <a:solidFill>
            <a:srgbClr val="D63A2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596819" y="2106517"/>
            <a:ext cx="975182" cy="1313722"/>
          </a:xfrm>
          <a:custGeom>
            <a:avLst/>
            <a:gdLst/>
            <a:ahLst/>
            <a:cxnLst/>
            <a:rect l="0" t="0" r="0" b="0"/>
            <a:pathLst>
              <a:path w="975182" h="1313722">
                <a:moveTo>
                  <a:pt x="650120" y="375354"/>
                </a:moveTo>
                <a:lnTo>
                  <a:pt x="975182" y="187679"/>
                </a:lnTo>
                <a:lnTo>
                  <a:pt x="650124" y="0"/>
                </a:lnTo>
                <a:lnTo>
                  <a:pt x="0" y="375349"/>
                </a:lnTo>
                <a:lnTo>
                  <a:pt x="0" y="1126048"/>
                </a:lnTo>
                <a:lnTo>
                  <a:pt x="325062" y="1313722"/>
                </a:lnTo>
                <a:lnTo>
                  <a:pt x="325053" y="938384"/>
                </a:lnTo>
                <a:lnTo>
                  <a:pt x="650120" y="750703"/>
                </a:lnTo>
                <a:lnTo>
                  <a:pt x="650120" y="375354"/>
                </a:lnTo>
                <a:close/>
              </a:path>
            </a:pathLst>
          </a:custGeom>
          <a:noFill/>
          <a:ln w="8129">
            <a:solidFill>
              <a:srgbClr val="F8F6F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572005" y="2857216"/>
            <a:ext cx="650119" cy="750703"/>
          </a:xfrm>
          <a:custGeom>
            <a:avLst/>
            <a:gdLst/>
            <a:ahLst/>
            <a:cxnLst/>
            <a:rect l="0" t="0" r="0" b="0"/>
            <a:pathLst>
              <a:path w="650119" h="750703">
                <a:moveTo>
                  <a:pt x="325059" y="750703"/>
                </a:moveTo>
                <a:lnTo>
                  <a:pt x="0" y="563022"/>
                </a:lnTo>
                <a:lnTo>
                  <a:pt x="325059" y="375351"/>
                </a:lnTo>
                <a:lnTo>
                  <a:pt x="325059" y="0"/>
                </a:lnTo>
                <a:lnTo>
                  <a:pt x="650119" y="187690"/>
                </a:lnTo>
                <a:lnTo>
                  <a:pt x="650119" y="563032"/>
                </a:lnTo>
                <a:lnTo>
                  <a:pt x="325059" y="750703"/>
                </a:lnTo>
              </a:path>
            </a:pathLst>
          </a:custGeom>
          <a:solidFill>
            <a:srgbClr val="88A48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572005" y="2857216"/>
            <a:ext cx="650115" cy="750703"/>
          </a:xfrm>
          <a:custGeom>
            <a:avLst/>
            <a:gdLst/>
            <a:ahLst/>
            <a:cxnLst/>
            <a:rect l="0" t="0" r="0" b="0"/>
            <a:pathLst>
              <a:path w="650115" h="750703">
                <a:moveTo>
                  <a:pt x="325058" y="750703"/>
                </a:moveTo>
                <a:lnTo>
                  <a:pt x="0" y="563023"/>
                </a:lnTo>
                <a:lnTo>
                  <a:pt x="325062" y="375349"/>
                </a:lnTo>
                <a:lnTo>
                  <a:pt x="325062" y="0"/>
                </a:lnTo>
                <a:lnTo>
                  <a:pt x="650115" y="187685"/>
                </a:lnTo>
                <a:lnTo>
                  <a:pt x="650115" y="563035"/>
                </a:lnTo>
                <a:lnTo>
                  <a:pt x="325058" y="750703"/>
                </a:lnTo>
                <a:close/>
              </a:path>
            </a:pathLst>
          </a:custGeom>
          <a:noFill/>
          <a:ln w="8129">
            <a:solidFill>
              <a:srgbClr val="F8F6F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921871" y="2857220"/>
            <a:ext cx="650128" cy="750693"/>
          </a:xfrm>
          <a:custGeom>
            <a:avLst/>
            <a:gdLst/>
            <a:ahLst/>
            <a:cxnLst/>
            <a:rect l="0" t="0" r="0" b="0"/>
            <a:pathLst>
              <a:path w="650128" h="750693">
                <a:moveTo>
                  <a:pt x="325069" y="375351"/>
                </a:moveTo>
                <a:lnTo>
                  <a:pt x="325069" y="0"/>
                </a:lnTo>
                <a:lnTo>
                  <a:pt x="0" y="187680"/>
                </a:lnTo>
                <a:lnTo>
                  <a:pt x="0" y="563022"/>
                </a:lnTo>
                <a:lnTo>
                  <a:pt x="325069" y="750693"/>
                </a:lnTo>
                <a:lnTo>
                  <a:pt x="650128" y="563022"/>
                </a:lnTo>
                <a:lnTo>
                  <a:pt x="325069" y="375351"/>
                </a:lnTo>
              </a:path>
            </a:pathLst>
          </a:custGeom>
          <a:solidFill>
            <a:srgbClr val="AE3955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921871" y="2857220"/>
            <a:ext cx="650132" cy="750694"/>
          </a:xfrm>
          <a:custGeom>
            <a:avLst/>
            <a:gdLst/>
            <a:ahLst/>
            <a:cxnLst/>
            <a:rect l="0" t="0" r="0" b="0"/>
            <a:pathLst>
              <a:path w="650132" h="750694">
                <a:moveTo>
                  <a:pt x="325071" y="375349"/>
                </a:moveTo>
                <a:lnTo>
                  <a:pt x="325067" y="0"/>
                </a:lnTo>
                <a:lnTo>
                  <a:pt x="0" y="187680"/>
                </a:lnTo>
                <a:lnTo>
                  <a:pt x="8" y="563019"/>
                </a:lnTo>
                <a:lnTo>
                  <a:pt x="325071" y="750694"/>
                </a:lnTo>
                <a:lnTo>
                  <a:pt x="650132" y="563019"/>
                </a:lnTo>
                <a:lnTo>
                  <a:pt x="325071" y="375349"/>
                </a:lnTo>
                <a:close/>
              </a:path>
            </a:pathLst>
          </a:custGeom>
          <a:noFill/>
          <a:ln w="8129">
            <a:solidFill>
              <a:srgbClr val="F8F6F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246938" y="2294199"/>
            <a:ext cx="650128" cy="563022"/>
          </a:xfrm>
          <a:custGeom>
            <a:avLst/>
            <a:gdLst/>
            <a:ahLst/>
            <a:cxnLst/>
            <a:rect l="0" t="0" r="0" b="0"/>
            <a:pathLst>
              <a:path w="650128" h="563022">
                <a:moveTo>
                  <a:pt x="325059" y="375351"/>
                </a:moveTo>
                <a:lnTo>
                  <a:pt x="650128" y="563022"/>
                </a:lnTo>
                <a:lnTo>
                  <a:pt x="650128" y="187671"/>
                </a:lnTo>
                <a:lnTo>
                  <a:pt x="325059" y="0"/>
                </a:lnTo>
                <a:lnTo>
                  <a:pt x="0" y="187671"/>
                </a:lnTo>
                <a:lnTo>
                  <a:pt x="0" y="563022"/>
                </a:lnTo>
                <a:lnTo>
                  <a:pt x="325059" y="375351"/>
                </a:lnTo>
              </a:path>
            </a:pathLst>
          </a:custGeom>
          <a:solidFill>
            <a:srgbClr val="FB7F1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246938" y="2294199"/>
            <a:ext cx="650127" cy="563023"/>
          </a:xfrm>
          <a:custGeom>
            <a:avLst/>
            <a:gdLst/>
            <a:ahLst/>
            <a:cxnLst/>
            <a:rect l="0" t="0" r="0" b="0"/>
            <a:pathLst>
              <a:path w="650127" h="563023">
                <a:moveTo>
                  <a:pt x="325057" y="375355"/>
                </a:moveTo>
                <a:lnTo>
                  <a:pt x="650127" y="563019"/>
                </a:lnTo>
                <a:lnTo>
                  <a:pt x="650127" y="187670"/>
                </a:lnTo>
                <a:lnTo>
                  <a:pt x="325062" y="0"/>
                </a:lnTo>
                <a:lnTo>
                  <a:pt x="0" y="187674"/>
                </a:lnTo>
                <a:lnTo>
                  <a:pt x="0" y="563023"/>
                </a:lnTo>
                <a:lnTo>
                  <a:pt x="325057" y="375355"/>
                </a:lnTo>
                <a:close/>
              </a:path>
            </a:pathLst>
          </a:custGeom>
          <a:noFill/>
          <a:ln w="8129">
            <a:solidFill>
              <a:srgbClr val="F8F6F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246938" y="2669553"/>
            <a:ext cx="650128" cy="750684"/>
          </a:xfrm>
          <a:custGeom>
            <a:avLst/>
            <a:gdLst/>
            <a:ahLst/>
            <a:cxnLst/>
            <a:rect l="0" t="0" r="0" b="0"/>
            <a:pathLst>
              <a:path w="650128" h="750684">
                <a:moveTo>
                  <a:pt x="325059" y="0"/>
                </a:moveTo>
                <a:lnTo>
                  <a:pt x="0" y="187671"/>
                </a:lnTo>
                <a:lnTo>
                  <a:pt x="0" y="563013"/>
                </a:lnTo>
                <a:lnTo>
                  <a:pt x="325069" y="750684"/>
                </a:lnTo>
                <a:lnTo>
                  <a:pt x="650128" y="563013"/>
                </a:lnTo>
                <a:lnTo>
                  <a:pt x="650128" y="187661"/>
                </a:lnTo>
                <a:lnTo>
                  <a:pt x="325059" y="0"/>
                </a:lnTo>
              </a:path>
            </a:pathLst>
          </a:custGeom>
          <a:solidFill>
            <a:srgbClr val="A3A3A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246938" y="2669553"/>
            <a:ext cx="650127" cy="750687"/>
          </a:xfrm>
          <a:custGeom>
            <a:avLst/>
            <a:gdLst/>
            <a:ahLst/>
            <a:cxnLst/>
            <a:rect l="0" t="0" r="0" b="0"/>
            <a:pathLst>
              <a:path w="650127" h="750687">
                <a:moveTo>
                  <a:pt x="325057" y="0"/>
                </a:moveTo>
                <a:lnTo>
                  <a:pt x="0" y="187668"/>
                </a:lnTo>
                <a:lnTo>
                  <a:pt x="3" y="563017"/>
                </a:lnTo>
                <a:lnTo>
                  <a:pt x="325065" y="750687"/>
                </a:lnTo>
                <a:lnTo>
                  <a:pt x="650127" y="563013"/>
                </a:lnTo>
                <a:lnTo>
                  <a:pt x="650127" y="187663"/>
                </a:lnTo>
                <a:lnTo>
                  <a:pt x="325057" y="0"/>
                </a:lnTo>
                <a:close/>
              </a:path>
            </a:pathLst>
          </a:custGeom>
          <a:noFill/>
          <a:ln w="8129">
            <a:solidFill>
              <a:srgbClr val="F8F6F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867699" y="2539520"/>
            <a:ext cx="238378" cy="239202"/>
          </a:xfrm>
          <a:custGeom>
            <a:avLst/>
            <a:gdLst/>
            <a:ahLst/>
            <a:cxnLst/>
            <a:rect l="0" t="0" r="0" b="0"/>
            <a:pathLst>
              <a:path w="238378" h="239202">
                <a:moveTo>
                  <a:pt x="121735" y="165239"/>
                </a:moveTo>
                <a:lnTo>
                  <a:pt x="121735" y="165239"/>
                </a:lnTo>
                <a:cubicBezTo>
                  <a:pt x="106027" y="165239"/>
                  <a:pt x="93292" y="152505"/>
                  <a:pt x="93292" y="136796"/>
                </a:cubicBezTo>
                <a:cubicBezTo>
                  <a:pt x="93292" y="121088"/>
                  <a:pt x="106027" y="108353"/>
                  <a:pt x="121735" y="108353"/>
                </a:cubicBezTo>
                <a:cubicBezTo>
                  <a:pt x="137444" y="108353"/>
                  <a:pt x="150178" y="121088"/>
                  <a:pt x="150178" y="136796"/>
                </a:cubicBezTo>
                <a:cubicBezTo>
                  <a:pt x="150178" y="152505"/>
                  <a:pt x="137444" y="165239"/>
                  <a:pt x="121735" y="165239"/>
                </a:cubicBezTo>
                <a:close/>
                <a:moveTo>
                  <a:pt x="65012" y="108353"/>
                </a:moveTo>
                <a:cubicBezTo>
                  <a:pt x="66388" y="121865"/>
                  <a:pt x="76324" y="168002"/>
                  <a:pt x="88763" y="181492"/>
                </a:cubicBezTo>
                <a:lnTo>
                  <a:pt x="154848" y="181492"/>
                </a:lnTo>
                <a:cubicBezTo>
                  <a:pt x="167146" y="168100"/>
                  <a:pt x="180116" y="121844"/>
                  <a:pt x="181492" y="108353"/>
                </a:cubicBezTo>
                <a:moveTo>
                  <a:pt x="179824" y="239202"/>
                </a:moveTo>
                <a:lnTo>
                  <a:pt x="179824" y="202860"/>
                </a:lnTo>
                <a:cubicBezTo>
                  <a:pt x="196109" y="183237"/>
                  <a:pt x="210737" y="141618"/>
                  <a:pt x="217097" y="108353"/>
                </a:cubicBezTo>
                <a:moveTo>
                  <a:pt x="63647" y="239202"/>
                </a:moveTo>
                <a:lnTo>
                  <a:pt x="63647" y="202860"/>
                </a:lnTo>
                <a:cubicBezTo>
                  <a:pt x="48185" y="183237"/>
                  <a:pt x="34283" y="141618"/>
                  <a:pt x="28258" y="108353"/>
                </a:cubicBezTo>
                <a:moveTo>
                  <a:pt x="0" y="0"/>
                </a:moveTo>
                <a:lnTo>
                  <a:pt x="238378" y="0"/>
                </a:lnTo>
                <a:lnTo>
                  <a:pt x="238378" y="108353"/>
                </a:lnTo>
                <a:lnTo>
                  <a:pt x="0" y="108353"/>
                </a:lnTo>
                <a:close/>
                <a:moveTo>
                  <a:pt x="92100" y="27088"/>
                </a:moveTo>
                <a:lnTo>
                  <a:pt x="146277" y="81265"/>
                </a:lnTo>
                <a:moveTo>
                  <a:pt x="146277" y="27088"/>
                </a:moveTo>
                <a:lnTo>
                  <a:pt x="92100" y="81265"/>
                </a:lnTo>
              </a:path>
            </a:pathLst>
          </a:custGeom>
          <a:noFill/>
          <a:ln w="8129">
            <a:solidFill>
              <a:srgbClr val="1C1C1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599087" y="2344886"/>
            <a:ext cx="848651" cy="130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00" b="1">
                <a:solidFill>
                  <a:srgbClr val="1C1C1C"/>
                </a:solidFill>
                <a:latin typeface="Shantell Sans"/>
              </a:rPr>
              <a:t>Political Risk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96260" y="2344886"/>
            <a:ext cx="927913" cy="130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00" b="1">
                <a:solidFill>
                  <a:srgbClr val="1C1C1C"/>
                </a:solidFill>
                <a:latin typeface="Shantell Sans"/>
              </a:rPr>
              <a:t>Economic Risk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2487857" y="2539919"/>
            <a:ext cx="959881" cy="173382"/>
            <a:chOff x="2487857" y="2539919"/>
            <a:chExt cx="959881" cy="173382"/>
          </a:xfrm>
        </p:grpSpPr>
        <p:sp>
          <p:nvSpPr>
            <p:cNvPr id="19" name="TextBox 18"/>
            <p:cNvSpPr txBox="1"/>
            <p:nvPr/>
          </p:nvSpPr>
          <p:spPr>
            <a:xfrm>
              <a:off x="2343875" y="2539919"/>
              <a:ext cx="1103863" cy="866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600" b="0">
                  <a:solidFill>
                    <a:srgbClr val="1C1C1C"/>
                  </a:solidFill>
                  <a:latin typeface="Roboto"/>
                </a:rPr>
                <a:t>Government instability and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343875" y="2626596"/>
              <a:ext cx="1103863" cy="867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600" b="0">
                  <a:solidFill>
                    <a:srgbClr val="1C1C1C"/>
                  </a:solidFill>
                  <a:latin typeface="Roboto"/>
                </a:rPr>
                <a:t>policy changes</a:t>
              </a:r>
            </a:p>
          </p:txBody>
        </p:sp>
      </p:grpSp>
      <p:sp>
        <p:nvSpPr>
          <p:cNvPr id="22" name="Rounded Rectangle 21"/>
          <p:cNvSpPr/>
          <p:nvPr/>
        </p:nvSpPr>
        <p:spPr>
          <a:xfrm>
            <a:off x="5033371" y="2541915"/>
            <a:ext cx="247469" cy="234402"/>
          </a:xfrm>
          <a:custGeom>
            <a:avLst/>
            <a:gdLst/>
            <a:ahLst/>
            <a:cxnLst/>
            <a:rect l="0" t="0" r="0" b="0"/>
            <a:pathLst>
              <a:path w="247469" h="234402">
                <a:moveTo>
                  <a:pt x="45313" y="116480"/>
                </a:moveTo>
                <a:cubicBezTo>
                  <a:pt x="40912" y="112044"/>
                  <a:pt x="40937" y="104882"/>
                  <a:pt x="45367" y="100476"/>
                </a:cubicBezTo>
                <a:lnTo>
                  <a:pt x="101581" y="44663"/>
                </a:lnTo>
                <a:cubicBezTo>
                  <a:pt x="106002" y="40247"/>
                  <a:pt x="113164" y="40247"/>
                  <a:pt x="117585" y="44663"/>
                </a:cubicBezTo>
                <a:moveTo>
                  <a:pt x="0" y="22635"/>
                </a:moveTo>
                <a:cubicBezTo>
                  <a:pt x="0" y="35136"/>
                  <a:pt x="10134" y="45270"/>
                  <a:pt x="22635" y="45270"/>
                </a:cubicBezTo>
                <a:cubicBezTo>
                  <a:pt x="35136" y="45270"/>
                  <a:pt x="45270" y="35136"/>
                  <a:pt x="45270" y="22635"/>
                </a:cubicBezTo>
                <a:cubicBezTo>
                  <a:pt x="45270" y="10134"/>
                  <a:pt x="35136" y="0"/>
                  <a:pt x="22635" y="0"/>
                </a:cubicBezTo>
                <a:cubicBezTo>
                  <a:pt x="10134" y="0"/>
                  <a:pt x="0" y="10134"/>
                  <a:pt x="0" y="22635"/>
                </a:cubicBezTo>
                <a:moveTo>
                  <a:pt x="38574" y="38693"/>
                </a:moveTo>
                <a:cubicBezTo>
                  <a:pt x="33936" y="43279"/>
                  <a:pt x="27533" y="45620"/>
                  <a:pt x="21031" y="45107"/>
                </a:cubicBezTo>
                <a:lnTo>
                  <a:pt x="61436" y="84526"/>
                </a:lnTo>
                <a:lnTo>
                  <a:pt x="85523" y="60613"/>
                </a:lnTo>
                <a:lnTo>
                  <a:pt x="45118" y="21194"/>
                </a:lnTo>
                <a:cubicBezTo>
                  <a:pt x="45584" y="27701"/>
                  <a:pt x="43195" y="34088"/>
                  <a:pt x="38574" y="38693"/>
                </a:cubicBezTo>
                <a:close/>
                <a:moveTo>
                  <a:pt x="145595" y="107703"/>
                </a:moveTo>
                <a:lnTo>
                  <a:pt x="89543" y="56625"/>
                </a:lnTo>
                <a:lnTo>
                  <a:pt x="57416" y="88514"/>
                </a:lnTo>
                <a:lnTo>
                  <a:pt x="114020" y="148780"/>
                </a:lnTo>
                <a:moveTo>
                  <a:pt x="196337" y="132126"/>
                </a:moveTo>
                <a:lnTo>
                  <a:pt x="173377" y="132126"/>
                </a:lnTo>
                <a:cubicBezTo>
                  <a:pt x="166097" y="132109"/>
                  <a:pt x="159831" y="137264"/>
                  <a:pt x="158447" y="144411"/>
                </a:cubicBezTo>
                <a:cubicBezTo>
                  <a:pt x="157063" y="151558"/>
                  <a:pt x="160950" y="158680"/>
                  <a:pt x="167710" y="161382"/>
                </a:cubicBezTo>
                <a:lnTo>
                  <a:pt x="191071" y="170711"/>
                </a:lnTo>
                <a:cubicBezTo>
                  <a:pt x="197828" y="173412"/>
                  <a:pt x="201716" y="180532"/>
                  <a:pt x="200334" y="187677"/>
                </a:cubicBezTo>
                <a:cubicBezTo>
                  <a:pt x="198953" y="194822"/>
                  <a:pt x="192692" y="199979"/>
                  <a:pt x="185415" y="199967"/>
                </a:cubicBezTo>
                <a:lnTo>
                  <a:pt x="162433" y="199967"/>
                </a:lnTo>
                <a:moveTo>
                  <a:pt x="179401" y="123642"/>
                </a:moveTo>
                <a:lnTo>
                  <a:pt x="179401" y="132126"/>
                </a:lnTo>
                <a:moveTo>
                  <a:pt x="179401" y="200021"/>
                </a:moveTo>
                <a:lnTo>
                  <a:pt x="179401" y="208505"/>
                </a:lnTo>
                <a:moveTo>
                  <a:pt x="111680" y="166507"/>
                </a:moveTo>
                <a:cubicBezTo>
                  <a:pt x="111680" y="204004"/>
                  <a:pt x="142077" y="234402"/>
                  <a:pt x="179575" y="234402"/>
                </a:cubicBezTo>
                <a:cubicBezTo>
                  <a:pt x="217072" y="234402"/>
                  <a:pt x="247469" y="204004"/>
                  <a:pt x="247469" y="166507"/>
                </a:cubicBezTo>
                <a:cubicBezTo>
                  <a:pt x="247469" y="129010"/>
                  <a:pt x="217072" y="98612"/>
                  <a:pt x="179575" y="98612"/>
                </a:cubicBezTo>
                <a:cubicBezTo>
                  <a:pt x="142077" y="98612"/>
                  <a:pt x="111680" y="129010"/>
                  <a:pt x="111680" y="166507"/>
                </a:cubicBezTo>
                <a:moveTo>
                  <a:pt x="206370" y="7573"/>
                </a:moveTo>
                <a:lnTo>
                  <a:pt x="185989" y="51793"/>
                </a:lnTo>
                <a:lnTo>
                  <a:pt x="215201" y="52302"/>
                </a:lnTo>
                <a:lnTo>
                  <a:pt x="197973" y="82955"/>
                </a:lnTo>
                <a:moveTo>
                  <a:pt x="13630" y="195318"/>
                </a:moveTo>
                <a:lnTo>
                  <a:pt x="60678" y="182749"/>
                </a:lnTo>
                <a:lnTo>
                  <a:pt x="56214" y="211626"/>
                </a:lnTo>
                <a:lnTo>
                  <a:pt x="89348" y="199858"/>
                </a:lnTo>
                <a:moveTo>
                  <a:pt x="109253" y="107606"/>
                </a:moveTo>
                <a:lnTo>
                  <a:pt x="72987" y="73063"/>
                </a:lnTo>
              </a:path>
            </a:pathLst>
          </a:custGeom>
          <a:noFill/>
          <a:ln w="8129">
            <a:solidFill>
              <a:srgbClr val="1C1C1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5" name="Group 24"/>
          <p:cNvGrpSpPr/>
          <p:nvPr/>
        </p:nvGrpSpPr>
        <p:grpSpPr>
          <a:xfrm>
            <a:off x="4010205" y="1868114"/>
            <a:ext cx="1123588" cy="173382"/>
            <a:chOff x="4010205" y="1868114"/>
            <a:chExt cx="1123588" cy="173382"/>
          </a:xfrm>
        </p:grpSpPr>
        <p:sp>
          <p:nvSpPr>
            <p:cNvPr id="23" name="TextBox 22"/>
            <p:cNvSpPr txBox="1"/>
            <p:nvPr/>
          </p:nvSpPr>
          <p:spPr>
            <a:xfrm>
              <a:off x="3925936" y="1868114"/>
              <a:ext cx="1292126" cy="866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600" b="0">
                  <a:solidFill>
                    <a:srgbClr val="1C1C1C"/>
                  </a:solidFill>
                  <a:latin typeface="Roboto"/>
                </a:rPr>
                <a:t>Government actions impacting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925936" y="1954791"/>
              <a:ext cx="1292126" cy="867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600" b="0">
                  <a:solidFill>
                    <a:srgbClr val="1C1C1C"/>
                  </a:solidFill>
                  <a:latin typeface="Roboto"/>
                </a:rPr>
                <a:t>markets</a:t>
              </a: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5696260" y="2539919"/>
            <a:ext cx="833199" cy="173382"/>
            <a:chOff x="5696260" y="2539919"/>
            <a:chExt cx="833199" cy="173382"/>
          </a:xfrm>
        </p:grpSpPr>
        <p:sp>
          <p:nvSpPr>
            <p:cNvPr id="26" name="TextBox 25"/>
            <p:cNvSpPr txBox="1"/>
            <p:nvPr/>
          </p:nvSpPr>
          <p:spPr>
            <a:xfrm>
              <a:off x="5696260" y="2539919"/>
              <a:ext cx="958178" cy="866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600" b="0">
                  <a:solidFill>
                    <a:srgbClr val="1C1C1C"/>
                  </a:solidFill>
                  <a:latin typeface="Roboto"/>
                </a:rPr>
                <a:t>Currency, inflation, and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5696260" y="2626596"/>
              <a:ext cx="958178" cy="867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600" b="0">
                  <a:solidFill>
                    <a:srgbClr val="1C1C1C"/>
                  </a:solidFill>
                  <a:latin typeface="Roboto"/>
                </a:rPr>
                <a:t>growth fluctuations</a:t>
              </a: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4127601" y="1543058"/>
            <a:ext cx="888806" cy="260041"/>
            <a:chOff x="4127601" y="1543058"/>
            <a:chExt cx="888806" cy="260041"/>
          </a:xfrm>
        </p:grpSpPr>
        <p:sp>
          <p:nvSpPr>
            <p:cNvPr id="29" name="TextBox 28"/>
            <p:cNvSpPr txBox="1"/>
            <p:nvPr/>
          </p:nvSpPr>
          <p:spPr>
            <a:xfrm>
              <a:off x="4060941" y="1543058"/>
              <a:ext cx="1022126" cy="1300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800" b="1">
                  <a:solidFill>
                    <a:srgbClr val="1C1C1C"/>
                  </a:solidFill>
                  <a:latin typeface="Shantell Sans"/>
                </a:rPr>
                <a:t>Policy-Driven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4060941" y="1673074"/>
              <a:ext cx="1022126" cy="130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800" b="1">
                  <a:solidFill>
                    <a:srgbClr val="1C1C1C"/>
                  </a:solidFill>
                  <a:latin typeface="Shantell Sans"/>
                </a:rPr>
                <a:t>Economic Shifts</a:t>
              </a:r>
            </a:p>
          </p:txBody>
        </p:sp>
      </p:grpSp>
      <p:sp>
        <p:nvSpPr>
          <p:cNvPr id="32" name="Rounded Rectangle 31"/>
          <p:cNvSpPr/>
          <p:nvPr/>
        </p:nvSpPr>
        <p:spPr>
          <a:xfrm>
            <a:off x="4419626" y="2895295"/>
            <a:ext cx="304746" cy="315516"/>
          </a:xfrm>
          <a:custGeom>
            <a:avLst/>
            <a:gdLst/>
            <a:ahLst/>
            <a:cxnLst/>
            <a:rect l="0" t="0" r="0" b="0"/>
            <a:pathLst>
              <a:path w="304746" h="315516">
                <a:moveTo>
                  <a:pt x="232014" y="252584"/>
                </a:moveTo>
                <a:cubicBezTo>
                  <a:pt x="198943" y="297167"/>
                  <a:pt x="141010" y="315516"/>
                  <a:pt x="88303" y="298101"/>
                </a:cubicBezTo>
                <a:cubicBezTo>
                  <a:pt x="35596" y="280686"/>
                  <a:pt x="0" y="231433"/>
                  <a:pt x="1" y="175924"/>
                </a:cubicBezTo>
                <a:cubicBezTo>
                  <a:pt x="1" y="111480"/>
                  <a:pt x="47365" y="58103"/>
                  <a:pt x="109167" y="48703"/>
                </a:cubicBezTo>
                <a:moveTo>
                  <a:pt x="104413" y="50111"/>
                </a:moveTo>
                <a:cubicBezTo>
                  <a:pt x="86467" y="74694"/>
                  <a:pt x="74345" y="123074"/>
                  <a:pt x="74345" y="176479"/>
                </a:cubicBezTo>
                <a:cubicBezTo>
                  <a:pt x="74345" y="229898"/>
                  <a:pt x="86467" y="277127"/>
                  <a:pt x="104427" y="302292"/>
                </a:cubicBezTo>
                <a:moveTo>
                  <a:pt x="152915" y="302292"/>
                </a:moveTo>
                <a:cubicBezTo>
                  <a:pt x="165051" y="285280"/>
                  <a:pt x="174532" y="258192"/>
                  <a:pt x="179394" y="225902"/>
                </a:cubicBezTo>
                <a:moveTo>
                  <a:pt x="1" y="175910"/>
                </a:moveTo>
                <a:lnTo>
                  <a:pt x="142215" y="175910"/>
                </a:lnTo>
                <a:moveTo>
                  <a:pt x="14872" y="235952"/>
                </a:moveTo>
                <a:lnTo>
                  <a:pt x="176916" y="235952"/>
                </a:lnTo>
                <a:moveTo>
                  <a:pt x="14872" y="115869"/>
                </a:moveTo>
                <a:lnTo>
                  <a:pt x="110048" y="115869"/>
                </a:lnTo>
                <a:moveTo>
                  <a:pt x="296417" y="48649"/>
                </a:moveTo>
                <a:cubicBezTo>
                  <a:pt x="284863" y="25103"/>
                  <a:pt x="262653" y="8583"/>
                  <a:pt x="236778" y="4291"/>
                </a:cubicBezTo>
                <a:cubicBezTo>
                  <a:pt x="210904" y="0"/>
                  <a:pt x="184549" y="8464"/>
                  <a:pt x="166013" y="27019"/>
                </a:cubicBezTo>
                <a:cubicBezTo>
                  <a:pt x="159647" y="33384"/>
                  <a:pt x="154446" y="40698"/>
                  <a:pt x="150545" y="48649"/>
                </a:cubicBezTo>
                <a:moveTo>
                  <a:pt x="150545" y="116234"/>
                </a:moveTo>
                <a:cubicBezTo>
                  <a:pt x="166256" y="152587"/>
                  <a:pt x="200076" y="197310"/>
                  <a:pt x="215503" y="216828"/>
                </a:cubicBezTo>
                <a:cubicBezTo>
                  <a:pt x="217427" y="219271"/>
                  <a:pt x="220365" y="220697"/>
                  <a:pt x="223474" y="220697"/>
                </a:cubicBezTo>
                <a:cubicBezTo>
                  <a:pt x="226584" y="220697"/>
                  <a:pt x="229521" y="219271"/>
                  <a:pt x="231445" y="216828"/>
                </a:cubicBezTo>
                <a:cubicBezTo>
                  <a:pt x="246885" y="197324"/>
                  <a:pt x="280705" y="152587"/>
                  <a:pt x="296417" y="116234"/>
                </a:cubicBezTo>
                <a:moveTo>
                  <a:pt x="142215" y="81954"/>
                </a:moveTo>
                <a:lnTo>
                  <a:pt x="184609" y="81954"/>
                </a:lnTo>
                <a:lnTo>
                  <a:pt x="209205" y="48093"/>
                </a:lnTo>
                <a:lnTo>
                  <a:pt x="237756" y="122587"/>
                </a:lnTo>
                <a:lnTo>
                  <a:pt x="262353" y="81954"/>
                </a:lnTo>
                <a:lnTo>
                  <a:pt x="304746" y="81954"/>
                </a:lnTo>
              </a:path>
            </a:pathLst>
          </a:custGeom>
          <a:noFill/>
          <a:ln w="8129">
            <a:solidFill>
              <a:srgbClr val="1C1C1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3986888" y="3211729"/>
            <a:ext cx="186910" cy="186910"/>
          </a:xfrm>
          <a:custGeom>
            <a:avLst/>
            <a:gdLst/>
            <a:ahLst/>
            <a:cxnLst/>
            <a:rect l="0" t="0" r="0" b="0"/>
            <a:pathLst>
              <a:path w="186910" h="186910">
                <a:moveTo>
                  <a:pt x="97518" y="8126"/>
                </a:moveTo>
                <a:lnTo>
                  <a:pt x="97518" y="32506"/>
                </a:lnTo>
                <a:moveTo>
                  <a:pt x="97518" y="162530"/>
                </a:moveTo>
                <a:lnTo>
                  <a:pt x="97518" y="186910"/>
                </a:lnTo>
                <a:moveTo>
                  <a:pt x="186910" y="97518"/>
                </a:moveTo>
                <a:lnTo>
                  <a:pt x="162530" y="97518"/>
                </a:lnTo>
                <a:moveTo>
                  <a:pt x="32506" y="97518"/>
                </a:moveTo>
                <a:lnTo>
                  <a:pt x="8126" y="97518"/>
                </a:lnTo>
                <a:moveTo>
                  <a:pt x="20316" y="97518"/>
                </a:moveTo>
                <a:cubicBezTo>
                  <a:pt x="20316" y="140156"/>
                  <a:pt x="54880" y="174720"/>
                  <a:pt x="97518" y="174720"/>
                </a:cubicBezTo>
                <a:cubicBezTo>
                  <a:pt x="140156" y="174720"/>
                  <a:pt x="174720" y="140156"/>
                  <a:pt x="174720" y="97518"/>
                </a:cubicBezTo>
                <a:cubicBezTo>
                  <a:pt x="174720" y="54880"/>
                  <a:pt x="140156" y="20316"/>
                  <a:pt x="97518" y="20316"/>
                </a:cubicBezTo>
                <a:cubicBezTo>
                  <a:pt x="54880" y="20316"/>
                  <a:pt x="20316" y="54880"/>
                  <a:pt x="20316" y="97518"/>
                </a:cubicBezTo>
                <a:moveTo>
                  <a:pt x="0" y="0"/>
                </a:moveTo>
                <a:moveTo>
                  <a:pt x="56885" y="81265"/>
                </a:moveTo>
                <a:lnTo>
                  <a:pt x="97518" y="56885"/>
                </a:lnTo>
                <a:lnTo>
                  <a:pt x="138151" y="81265"/>
                </a:lnTo>
                <a:lnTo>
                  <a:pt x="138151" y="93455"/>
                </a:lnTo>
                <a:lnTo>
                  <a:pt x="56885" y="93455"/>
                </a:lnTo>
                <a:close/>
                <a:moveTo>
                  <a:pt x="138151" y="134088"/>
                </a:moveTo>
                <a:lnTo>
                  <a:pt x="56885" y="134088"/>
                </a:lnTo>
                <a:moveTo>
                  <a:pt x="65012" y="134088"/>
                </a:moveTo>
                <a:lnTo>
                  <a:pt x="65012" y="93455"/>
                </a:lnTo>
                <a:moveTo>
                  <a:pt x="130024" y="134088"/>
                </a:moveTo>
                <a:lnTo>
                  <a:pt x="130024" y="93455"/>
                </a:lnTo>
                <a:moveTo>
                  <a:pt x="85328" y="134088"/>
                </a:moveTo>
                <a:lnTo>
                  <a:pt x="85328" y="93455"/>
                </a:lnTo>
                <a:moveTo>
                  <a:pt x="109708" y="134088"/>
                </a:moveTo>
                <a:lnTo>
                  <a:pt x="109708" y="93455"/>
                </a:lnTo>
              </a:path>
            </a:pathLst>
          </a:custGeom>
          <a:noFill/>
          <a:ln w="8129">
            <a:solidFill>
              <a:srgbClr val="1C1C1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4960975" y="3211275"/>
            <a:ext cx="192072" cy="191435"/>
          </a:xfrm>
          <a:custGeom>
            <a:avLst/>
            <a:gdLst/>
            <a:ahLst/>
            <a:cxnLst/>
            <a:rect l="0" t="0" r="0" b="0"/>
            <a:pathLst>
              <a:path w="192072" h="191435">
                <a:moveTo>
                  <a:pt x="192072" y="154866"/>
                </a:moveTo>
                <a:lnTo>
                  <a:pt x="192072" y="191435"/>
                </a:lnTo>
                <a:lnTo>
                  <a:pt x="155503" y="191435"/>
                </a:lnTo>
                <a:moveTo>
                  <a:pt x="192072" y="191427"/>
                </a:moveTo>
                <a:lnTo>
                  <a:pt x="151033" y="150388"/>
                </a:lnTo>
                <a:cubicBezTo>
                  <a:pt x="146277" y="145634"/>
                  <a:pt x="139297" y="143871"/>
                  <a:pt x="132854" y="145796"/>
                </a:cubicBezTo>
                <a:lnTo>
                  <a:pt x="86427" y="158206"/>
                </a:lnTo>
                <a:cubicBezTo>
                  <a:pt x="80121" y="159895"/>
                  <a:pt x="73393" y="158092"/>
                  <a:pt x="68776" y="153476"/>
                </a:cubicBezTo>
                <a:lnTo>
                  <a:pt x="21415" y="106098"/>
                </a:lnTo>
                <a:moveTo>
                  <a:pt x="73676" y="125943"/>
                </a:moveTo>
                <a:cubicBezTo>
                  <a:pt x="99345" y="122727"/>
                  <a:pt x="120187" y="103658"/>
                  <a:pt x="125666" y="78376"/>
                </a:cubicBezTo>
                <a:cubicBezTo>
                  <a:pt x="131145" y="53094"/>
                  <a:pt x="120067" y="27107"/>
                  <a:pt x="98033" y="13553"/>
                </a:cubicBezTo>
                <a:cubicBezTo>
                  <a:pt x="75999" y="0"/>
                  <a:pt x="47809" y="1831"/>
                  <a:pt x="27715" y="18123"/>
                </a:cubicBezTo>
                <a:cubicBezTo>
                  <a:pt x="7620" y="34415"/>
                  <a:pt x="0" y="61617"/>
                  <a:pt x="8705" y="85977"/>
                </a:cubicBezTo>
                <a:moveTo>
                  <a:pt x="29541" y="73584"/>
                </a:moveTo>
                <a:lnTo>
                  <a:pt x="102680" y="73584"/>
                </a:lnTo>
                <a:moveTo>
                  <a:pt x="45794" y="97964"/>
                </a:moveTo>
                <a:lnTo>
                  <a:pt x="45794" y="32951"/>
                </a:lnTo>
                <a:lnTo>
                  <a:pt x="86427" y="97964"/>
                </a:lnTo>
                <a:lnTo>
                  <a:pt x="86427" y="32951"/>
                </a:lnTo>
              </a:path>
            </a:pathLst>
          </a:custGeom>
          <a:noFill/>
          <a:ln w="8129">
            <a:solidFill>
              <a:srgbClr val="1C1C1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37" name="Group 36"/>
          <p:cNvGrpSpPr/>
          <p:nvPr/>
        </p:nvGrpSpPr>
        <p:grpSpPr>
          <a:xfrm>
            <a:off x="647700" y="371475"/>
            <a:ext cx="7848600" cy="800099"/>
            <a:chOff x="647700" y="371475"/>
            <a:chExt cx="7848600" cy="800099"/>
          </a:xfrm>
        </p:grpSpPr>
        <p:sp>
          <p:nvSpPr>
            <p:cNvPr id="35" name="TextBox 34"/>
            <p:cNvSpPr txBox="1"/>
            <p:nvPr/>
          </p:nvSpPr>
          <p:spPr>
            <a:xfrm>
              <a:off x="59055" y="371475"/>
              <a:ext cx="9025890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3100" b="1">
                  <a:solidFill>
                    <a:srgbClr val="1C1C1C"/>
                  </a:solidFill>
                  <a:latin typeface="Shantell Sans"/>
                </a:rPr>
                <a:t>Country risk ranges from internal to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59055" y="771525"/>
              <a:ext cx="9025890" cy="400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3100" b="1">
                  <a:solidFill>
                    <a:srgbClr val="1C1C1C"/>
                  </a:solidFill>
                  <a:latin typeface="Shantell Sans"/>
                </a:rPr>
                <a:t>external factors.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3014011" y="3471787"/>
            <a:ext cx="758790" cy="260041"/>
            <a:chOff x="3014011" y="3471787"/>
            <a:chExt cx="758790" cy="260041"/>
          </a:xfrm>
        </p:grpSpPr>
        <p:sp>
          <p:nvSpPr>
            <p:cNvPr id="38" name="TextBox 37"/>
            <p:cNvSpPr txBox="1"/>
            <p:nvPr/>
          </p:nvSpPr>
          <p:spPr>
            <a:xfrm>
              <a:off x="2900193" y="3471787"/>
              <a:ext cx="872608" cy="1300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800" b="1">
                  <a:solidFill>
                    <a:srgbClr val="1C1C1C"/>
                  </a:solidFill>
                  <a:latin typeface="Shantell Sans"/>
                </a:rPr>
                <a:t>Political Debt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2900193" y="3601803"/>
              <a:ext cx="872608" cy="130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800" b="1">
                  <a:solidFill>
                    <a:srgbClr val="1C1C1C"/>
                  </a:solidFill>
                  <a:latin typeface="Shantell Sans"/>
                </a:rPr>
                <a:t>Default</a:t>
              </a:r>
            </a:p>
          </p:txBody>
        </p:sp>
      </p:grpSp>
      <p:sp>
        <p:nvSpPr>
          <p:cNvPr id="41" name="Rounded Rectangle 40"/>
          <p:cNvSpPr/>
          <p:nvPr/>
        </p:nvSpPr>
        <p:spPr>
          <a:xfrm>
            <a:off x="4441975" y="3601803"/>
            <a:ext cx="222125" cy="253227"/>
          </a:xfrm>
          <a:custGeom>
            <a:avLst/>
            <a:gdLst/>
            <a:ahLst/>
            <a:cxnLst/>
            <a:rect l="0" t="0" r="0" b="0"/>
            <a:pathLst>
              <a:path w="222125" h="253227">
                <a:moveTo>
                  <a:pt x="0" y="0"/>
                </a:moveTo>
                <a:moveTo>
                  <a:pt x="189619" y="221475"/>
                </a:moveTo>
                <a:lnTo>
                  <a:pt x="146711" y="230143"/>
                </a:lnTo>
                <a:moveTo>
                  <a:pt x="151695" y="181926"/>
                </a:moveTo>
                <a:lnTo>
                  <a:pt x="131650" y="190161"/>
                </a:lnTo>
                <a:cubicBezTo>
                  <a:pt x="128464" y="191509"/>
                  <a:pt x="124867" y="191509"/>
                  <a:pt x="121681" y="190161"/>
                </a:cubicBezTo>
                <a:cubicBezTo>
                  <a:pt x="116984" y="188231"/>
                  <a:pt x="113857" y="183725"/>
                  <a:pt x="113694" y="178650"/>
                </a:cubicBezTo>
                <a:cubicBezTo>
                  <a:pt x="113530" y="173575"/>
                  <a:pt x="116360" y="168876"/>
                  <a:pt x="120923" y="166648"/>
                </a:cubicBezTo>
                <a:lnTo>
                  <a:pt x="141076" y="156896"/>
                </a:lnTo>
                <a:cubicBezTo>
                  <a:pt x="143552" y="155606"/>
                  <a:pt x="146303" y="154937"/>
                  <a:pt x="149095" y="154946"/>
                </a:cubicBezTo>
                <a:cubicBezTo>
                  <a:pt x="151197" y="154989"/>
                  <a:pt x="153279" y="155355"/>
                  <a:pt x="155271" y="156029"/>
                </a:cubicBezTo>
                <a:lnTo>
                  <a:pt x="191894" y="170115"/>
                </a:lnTo>
                <a:moveTo>
                  <a:pt x="70430" y="230685"/>
                </a:moveTo>
                <a:lnTo>
                  <a:pt x="85599" y="230685"/>
                </a:lnTo>
                <a:lnTo>
                  <a:pt x="110846" y="249864"/>
                </a:lnTo>
                <a:cubicBezTo>
                  <a:pt x="113456" y="252844"/>
                  <a:pt x="117955" y="253227"/>
                  <a:pt x="121031" y="250731"/>
                </a:cubicBezTo>
                <a:lnTo>
                  <a:pt x="158955" y="220283"/>
                </a:lnTo>
                <a:cubicBezTo>
                  <a:pt x="162017" y="217697"/>
                  <a:pt x="162495" y="213156"/>
                  <a:pt x="160038" y="209989"/>
                </a:cubicBezTo>
                <a:lnTo>
                  <a:pt x="139234" y="187018"/>
                </a:lnTo>
                <a:moveTo>
                  <a:pt x="119189" y="167515"/>
                </a:moveTo>
                <a:lnTo>
                  <a:pt x="116588" y="165348"/>
                </a:lnTo>
                <a:cubicBezTo>
                  <a:pt x="113813" y="163457"/>
                  <a:pt x="110519" y="162473"/>
                  <a:pt x="107162" y="162530"/>
                </a:cubicBezTo>
                <a:cubicBezTo>
                  <a:pt x="105159" y="162502"/>
                  <a:pt x="103170" y="162870"/>
                  <a:pt x="101310" y="163614"/>
                </a:cubicBezTo>
                <a:lnTo>
                  <a:pt x="70430" y="176508"/>
                </a:lnTo>
                <a:moveTo>
                  <a:pt x="37923" y="236103"/>
                </a:moveTo>
                <a:cubicBezTo>
                  <a:pt x="37923" y="239095"/>
                  <a:pt x="40349" y="241520"/>
                  <a:pt x="43341" y="241520"/>
                </a:cubicBezTo>
                <a:lnTo>
                  <a:pt x="59594" y="241520"/>
                </a:lnTo>
                <a:cubicBezTo>
                  <a:pt x="65578" y="241520"/>
                  <a:pt x="70430" y="236669"/>
                  <a:pt x="70430" y="230685"/>
                </a:cubicBezTo>
                <a:lnTo>
                  <a:pt x="70430" y="176508"/>
                </a:lnTo>
                <a:cubicBezTo>
                  <a:pt x="70430" y="170524"/>
                  <a:pt x="65578" y="165673"/>
                  <a:pt x="59594" y="165673"/>
                </a:cubicBezTo>
                <a:lnTo>
                  <a:pt x="43341" y="165673"/>
                </a:lnTo>
                <a:cubicBezTo>
                  <a:pt x="40349" y="165673"/>
                  <a:pt x="37923" y="168098"/>
                  <a:pt x="37923" y="171090"/>
                </a:cubicBezTo>
                <a:close/>
                <a:moveTo>
                  <a:pt x="222125" y="236103"/>
                </a:moveTo>
                <a:cubicBezTo>
                  <a:pt x="222125" y="239095"/>
                  <a:pt x="219700" y="241520"/>
                  <a:pt x="216707" y="241520"/>
                </a:cubicBezTo>
                <a:lnTo>
                  <a:pt x="200454" y="241520"/>
                </a:lnTo>
                <a:cubicBezTo>
                  <a:pt x="194470" y="241520"/>
                  <a:pt x="189619" y="236669"/>
                  <a:pt x="189619" y="230685"/>
                </a:cubicBezTo>
                <a:lnTo>
                  <a:pt x="189619" y="176508"/>
                </a:lnTo>
                <a:cubicBezTo>
                  <a:pt x="189619" y="170524"/>
                  <a:pt x="194470" y="165673"/>
                  <a:pt x="200454" y="165673"/>
                </a:cubicBezTo>
                <a:lnTo>
                  <a:pt x="216707" y="165673"/>
                </a:lnTo>
                <a:cubicBezTo>
                  <a:pt x="219700" y="165673"/>
                  <a:pt x="222125" y="168098"/>
                  <a:pt x="222125" y="171090"/>
                </a:cubicBezTo>
                <a:close/>
                <a:moveTo>
                  <a:pt x="124607" y="133167"/>
                </a:moveTo>
                <a:lnTo>
                  <a:pt x="124607" y="13110"/>
                </a:lnTo>
                <a:cubicBezTo>
                  <a:pt x="124624" y="11131"/>
                  <a:pt x="125699" y="9313"/>
                  <a:pt x="127424" y="8343"/>
                </a:cubicBezTo>
                <a:cubicBezTo>
                  <a:pt x="129121" y="7309"/>
                  <a:pt x="131253" y="7309"/>
                  <a:pt x="132950" y="8343"/>
                </a:cubicBezTo>
                <a:lnTo>
                  <a:pt x="197962" y="50059"/>
                </a:lnTo>
                <a:cubicBezTo>
                  <a:pt x="199515" y="51102"/>
                  <a:pt x="200448" y="52848"/>
                  <a:pt x="200454" y="54718"/>
                </a:cubicBezTo>
                <a:lnTo>
                  <a:pt x="200454" y="132950"/>
                </a:lnTo>
                <a:moveTo>
                  <a:pt x="189619" y="8559"/>
                </a:moveTo>
                <a:lnTo>
                  <a:pt x="189619" y="44966"/>
                </a:lnTo>
                <a:moveTo>
                  <a:pt x="146277" y="57319"/>
                </a:moveTo>
                <a:lnTo>
                  <a:pt x="124607" y="57319"/>
                </a:lnTo>
                <a:moveTo>
                  <a:pt x="157113" y="89825"/>
                </a:moveTo>
                <a:lnTo>
                  <a:pt x="124607" y="89825"/>
                </a:lnTo>
                <a:moveTo>
                  <a:pt x="48759" y="111496"/>
                </a:moveTo>
                <a:lnTo>
                  <a:pt x="81265" y="111496"/>
                </a:lnTo>
                <a:moveTo>
                  <a:pt x="124607" y="78990"/>
                </a:moveTo>
                <a:lnTo>
                  <a:pt x="54176" y="78990"/>
                </a:lnTo>
                <a:cubicBezTo>
                  <a:pt x="51184" y="78990"/>
                  <a:pt x="48759" y="81415"/>
                  <a:pt x="48759" y="84407"/>
                </a:cubicBezTo>
                <a:lnTo>
                  <a:pt x="48759" y="133167"/>
                </a:lnTo>
              </a:path>
            </a:pathLst>
          </a:custGeom>
          <a:noFill/>
          <a:ln w="8129">
            <a:solidFill>
              <a:srgbClr val="1C1C1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44" name="Group 43"/>
          <p:cNvGrpSpPr/>
          <p:nvPr/>
        </p:nvGrpSpPr>
        <p:grpSpPr>
          <a:xfrm>
            <a:off x="5371198" y="3471787"/>
            <a:ext cx="867003" cy="260041"/>
            <a:chOff x="5371198" y="3471787"/>
            <a:chExt cx="867003" cy="260041"/>
          </a:xfrm>
        </p:grpSpPr>
        <p:sp>
          <p:nvSpPr>
            <p:cNvPr id="42" name="TextBox 41"/>
            <p:cNvSpPr txBox="1"/>
            <p:nvPr/>
          </p:nvSpPr>
          <p:spPr>
            <a:xfrm>
              <a:off x="5371198" y="3471787"/>
              <a:ext cx="997053" cy="1300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800" b="1">
                  <a:solidFill>
                    <a:srgbClr val="1C1C1C"/>
                  </a:solidFill>
                  <a:latin typeface="Shantell Sans"/>
                </a:rPr>
                <a:t>Debt-Fueled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5371198" y="3601803"/>
              <a:ext cx="997053" cy="130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800" b="1">
                  <a:solidFill>
                    <a:srgbClr val="1C1C1C"/>
                  </a:solidFill>
                  <a:latin typeface="Shantell Sans"/>
                </a:rPr>
                <a:t>Economic Crisis</a:t>
              </a:r>
            </a:p>
          </p:txBody>
        </p:sp>
      </p:grpSp>
      <p:grpSp>
        <p:nvGrpSpPr>
          <p:cNvPr id="47" name="Group 46"/>
          <p:cNvGrpSpPr/>
          <p:nvPr/>
        </p:nvGrpSpPr>
        <p:grpSpPr>
          <a:xfrm>
            <a:off x="2967339" y="3796838"/>
            <a:ext cx="805462" cy="173382"/>
            <a:chOff x="2967339" y="3796838"/>
            <a:chExt cx="805462" cy="173382"/>
          </a:xfrm>
        </p:grpSpPr>
        <p:sp>
          <p:nvSpPr>
            <p:cNvPr id="45" name="TextBox 44"/>
            <p:cNvSpPr txBox="1"/>
            <p:nvPr/>
          </p:nvSpPr>
          <p:spPr>
            <a:xfrm>
              <a:off x="2846520" y="3796838"/>
              <a:ext cx="926281" cy="866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600" b="0">
                  <a:solidFill>
                    <a:srgbClr val="1C1C1C"/>
                  </a:solidFill>
                  <a:latin typeface="Roboto"/>
                </a:rPr>
                <a:t>Government instability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2846520" y="3883515"/>
              <a:ext cx="926281" cy="867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600" b="0">
                  <a:solidFill>
                    <a:srgbClr val="1C1C1C"/>
                  </a:solidFill>
                  <a:latin typeface="Roboto"/>
                </a:rPr>
                <a:t>leading to default</a:t>
              </a:r>
            </a:p>
          </p:txBody>
        </p:sp>
      </p:grpSp>
      <p:grpSp>
        <p:nvGrpSpPr>
          <p:cNvPr id="50" name="Group 49"/>
          <p:cNvGrpSpPr/>
          <p:nvPr/>
        </p:nvGrpSpPr>
        <p:grpSpPr>
          <a:xfrm>
            <a:off x="5371198" y="3796838"/>
            <a:ext cx="984523" cy="173382"/>
            <a:chOff x="5371198" y="3796838"/>
            <a:chExt cx="984523" cy="173382"/>
          </a:xfrm>
        </p:grpSpPr>
        <p:sp>
          <p:nvSpPr>
            <p:cNvPr id="48" name="TextBox 47"/>
            <p:cNvSpPr txBox="1"/>
            <p:nvPr/>
          </p:nvSpPr>
          <p:spPr>
            <a:xfrm>
              <a:off x="5371198" y="3796838"/>
              <a:ext cx="1132201" cy="866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600" b="0">
                  <a:solidFill>
                    <a:srgbClr val="1C1C1C"/>
                  </a:solidFill>
                  <a:latin typeface="Roboto"/>
                </a:rPr>
                <a:t>Economic downturns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5371198" y="3883515"/>
              <a:ext cx="1132201" cy="867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600" b="0">
                  <a:solidFill>
                    <a:srgbClr val="1C1C1C"/>
                  </a:solidFill>
                  <a:latin typeface="Roboto"/>
                </a:rPr>
                <a:t>triggering sovereign default</a:t>
              </a:r>
            </a:p>
          </p:txBody>
        </p:sp>
      </p:grpSp>
      <p:sp>
        <p:nvSpPr>
          <p:cNvPr id="51" name="TextBox 50"/>
          <p:cNvSpPr txBox="1"/>
          <p:nvPr/>
        </p:nvSpPr>
        <p:spPr>
          <a:xfrm>
            <a:off x="4094210" y="4316943"/>
            <a:ext cx="955571" cy="130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00" b="1">
                <a:solidFill>
                  <a:srgbClr val="1C1C1C"/>
                </a:solidFill>
                <a:latin typeface="Shantell Sans"/>
              </a:rPr>
              <a:t>Sovereign Risk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059365" y="4511973"/>
            <a:ext cx="1025271" cy="8670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00" b="0">
                <a:solidFill>
                  <a:srgbClr val="1C1C1C"/>
                </a:solidFill>
                <a:latin typeface="Roboto"/>
              </a:rPr>
              <a:t>Government debt default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478539" y="2435775"/>
            <a:ext cx="188616" cy="186910"/>
          </a:xfrm>
          <a:custGeom>
            <a:avLst/>
            <a:gdLst/>
            <a:ahLst/>
            <a:cxnLst/>
            <a:rect l="0" t="0" r="0" b="0"/>
            <a:pathLst>
              <a:path w="188616" h="186910">
                <a:moveTo>
                  <a:pt x="65012" y="186910"/>
                </a:moveTo>
                <a:lnTo>
                  <a:pt x="8126" y="186910"/>
                </a:lnTo>
                <a:cubicBezTo>
                  <a:pt x="3638" y="186910"/>
                  <a:pt x="0" y="183272"/>
                  <a:pt x="0" y="178784"/>
                </a:cubicBezTo>
                <a:lnTo>
                  <a:pt x="0" y="8126"/>
                </a:lnTo>
                <a:cubicBezTo>
                  <a:pt x="0" y="3638"/>
                  <a:pt x="3638" y="0"/>
                  <a:pt x="8126" y="0"/>
                </a:cubicBezTo>
                <a:lnTo>
                  <a:pt x="116209" y="0"/>
                </a:lnTo>
                <a:cubicBezTo>
                  <a:pt x="118343" y="13"/>
                  <a:pt x="120387" y="865"/>
                  <a:pt x="121898" y="2372"/>
                </a:cubicBezTo>
                <a:lnTo>
                  <a:pt x="152023" y="32506"/>
                </a:lnTo>
                <a:cubicBezTo>
                  <a:pt x="153547" y="34029"/>
                  <a:pt x="154403" y="36096"/>
                  <a:pt x="154404" y="38251"/>
                </a:cubicBezTo>
                <a:lnTo>
                  <a:pt x="154404" y="65012"/>
                </a:lnTo>
                <a:moveTo>
                  <a:pt x="32506" y="108968"/>
                </a:moveTo>
                <a:lnTo>
                  <a:pt x="56512" y="84963"/>
                </a:lnTo>
                <a:cubicBezTo>
                  <a:pt x="58879" y="82600"/>
                  <a:pt x="62584" y="82233"/>
                  <a:pt x="65369" y="84085"/>
                </a:cubicBezTo>
                <a:lnTo>
                  <a:pt x="76690" y="91634"/>
                </a:lnTo>
                <a:cubicBezTo>
                  <a:pt x="79545" y="93536"/>
                  <a:pt x="83355" y="93096"/>
                  <a:pt x="85702" y="90594"/>
                </a:cubicBezTo>
                <a:lnTo>
                  <a:pt x="107953" y="66857"/>
                </a:lnTo>
                <a:moveTo>
                  <a:pt x="32538" y="48759"/>
                </a:moveTo>
                <a:lnTo>
                  <a:pt x="32538" y="130024"/>
                </a:lnTo>
                <a:lnTo>
                  <a:pt x="73171" y="130024"/>
                </a:lnTo>
                <a:moveTo>
                  <a:pt x="181904" y="118801"/>
                </a:moveTo>
                <a:lnTo>
                  <a:pt x="119899" y="180815"/>
                </a:lnTo>
                <a:lnTo>
                  <a:pt x="89424" y="186910"/>
                </a:lnTo>
                <a:lnTo>
                  <a:pt x="95519" y="156436"/>
                </a:lnTo>
                <a:lnTo>
                  <a:pt x="157524" y="94422"/>
                </a:lnTo>
                <a:cubicBezTo>
                  <a:pt x="164239" y="87709"/>
                  <a:pt x="175124" y="87709"/>
                  <a:pt x="181839" y="94422"/>
                </a:cubicBezTo>
                <a:lnTo>
                  <a:pt x="181904" y="94495"/>
                </a:lnTo>
                <a:cubicBezTo>
                  <a:pt x="188616" y="101207"/>
                  <a:pt x="188616" y="112089"/>
                  <a:pt x="181904" y="118801"/>
                </a:cubicBezTo>
                <a:close/>
              </a:path>
            </a:pathLst>
          </a:custGeom>
          <a:noFill/>
          <a:ln w="8129">
            <a:solidFill>
              <a:srgbClr val="1C1C1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7886700" y="4829136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9F8A4A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457820" y="2179862"/>
            <a:ext cx="2467546" cy="691238"/>
          </a:xfrm>
          <a:custGeom>
            <a:avLst/>
            <a:gdLst/>
            <a:ahLst/>
            <a:cxnLst/>
            <a:rect l="0" t="0" r="0" b="0"/>
            <a:pathLst>
              <a:path w="2467546" h="691238">
                <a:moveTo>
                  <a:pt x="2121922" y="0"/>
                </a:moveTo>
                <a:cubicBezTo>
                  <a:pt x="2312812" y="0"/>
                  <a:pt x="2467546" y="154743"/>
                  <a:pt x="2467546" y="345624"/>
                </a:cubicBezTo>
                <a:cubicBezTo>
                  <a:pt x="2467546" y="536505"/>
                  <a:pt x="2312812" y="691238"/>
                  <a:pt x="2121922" y="691238"/>
                </a:cubicBezTo>
                <a:lnTo>
                  <a:pt x="0" y="691238"/>
                </a:lnTo>
                <a:lnTo>
                  <a:pt x="0" y="0"/>
                </a:lnTo>
                <a:lnTo>
                  <a:pt x="2121922" y="0"/>
                </a:lnTo>
              </a:path>
            </a:pathLst>
          </a:custGeom>
          <a:solidFill>
            <a:srgbClr val="FB7F1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457820" y="2179862"/>
            <a:ext cx="2467547" cy="691242"/>
          </a:xfrm>
          <a:custGeom>
            <a:avLst/>
            <a:gdLst/>
            <a:ahLst/>
            <a:cxnLst/>
            <a:rect l="0" t="0" r="0" b="0"/>
            <a:pathLst>
              <a:path w="2467547" h="691242">
                <a:moveTo>
                  <a:pt x="2121926" y="691242"/>
                </a:moveTo>
                <a:lnTo>
                  <a:pt x="0" y="691242"/>
                </a:lnTo>
                <a:moveTo>
                  <a:pt x="0" y="0"/>
                </a:moveTo>
                <a:lnTo>
                  <a:pt x="2121926" y="0"/>
                </a:lnTo>
                <a:moveTo>
                  <a:pt x="2121926" y="0"/>
                </a:moveTo>
                <a:cubicBezTo>
                  <a:pt x="2312807" y="0"/>
                  <a:pt x="2467547" y="154739"/>
                  <a:pt x="2467547" y="345621"/>
                </a:cubicBezTo>
                <a:cubicBezTo>
                  <a:pt x="2467547" y="536502"/>
                  <a:pt x="2312807" y="691242"/>
                  <a:pt x="2121926" y="691242"/>
                </a:cubicBezTo>
                <a:moveTo>
                  <a:pt x="0" y="691242"/>
                </a:moveTo>
                <a:lnTo>
                  <a:pt x="0" y="0"/>
                </a:lnTo>
              </a:path>
            </a:pathLst>
          </a:custGeom>
          <a:noFill/>
          <a:ln w="10800">
            <a:solidFill>
              <a:srgbClr val="F8F6F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457820" y="3907970"/>
            <a:ext cx="2246214" cy="691238"/>
          </a:xfrm>
          <a:custGeom>
            <a:avLst/>
            <a:gdLst/>
            <a:ahLst/>
            <a:cxnLst/>
            <a:rect l="0" t="0" r="0" b="0"/>
            <a:pathLst>
              <a:path w="2246214" h="691238">
                <a:moveTo>
                  <a:pt x="1900589" y="0"/>
                </a:moveTo>
                <a:cubicBezTo>
                  <a:pt x="2091470" y="0"/>
                  <a:pt x="2246214" y="154743"/>
                  <a:pt x="2246214" y="345624"/>
                </a:cubicBezTo>
                <a:cubicBezTo>
                  <a:pt x="2246214" y="536505"/>
                  <a:pt x="2091470" y="691238"/>
                  <a:pt x="1900589" y="691238"/>
                </a:cubicBezTo>
                <a:lnTo>
                  <a:pt x="0" y="691238"/>
                </a:lnTo>
                <a:lnTo>
                  <a:pt x="0" y="0"/>
                </a:lnTo>
                <a:lnTo>
                  <a:pt x="1900589" y="0"/>
                </a:lnTo>
              </a:path>
            </a:pathLst>
          </a:custGeom>
          <a:solidFill>
            <a:srgbClr val="88A48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457820" y="3907970"/>
            <a:ext cx="2246212" cy="691242"/>
          </a:xfrm>
          <a:custGeom>
            <a:avLst/>
            <a:gdLst/>
            <a:ahLst/>
            <a:cxnLst/>
            <a:rect l="0" t="0" r="0" b="0"/>
            <a:pathLst>
              <a:path w="2246212" h="691242">
                <a:moveTo>
                  <a:pt x="1900590" y="691242"/>
                </a:moveTo>
                <a:lnTo>
                  <a:pt x="0" y="691242"/>
                </a:lnTo>
                <a:moveTo>
                  <a:pt x="0" y="0"/>
                </a:moveTo>
                <a:lnTo>
                  <a:pt x="1900590" y="0"/>
                </a:lnTo>
                <a:moveTo>
                  <a:pt x="1900590" y="0"/>
                </a:moveTo>
                <a:cubicBezTo>
                  <a:pt x="2091472" y="0"/>
                  <a:pt x="2246212" y="154739"/>
                  <a:pt x="2246212" y="345621"/>
                </a:cubicBezTo>
                <a:cubicBezTo>
                  <a:pt x="2246212" y="536502"/>
                  <a:pt x="2091472" y="691242"/>
                  <a:pt x="1900590" y="691242"/>
                </a:cubicBezTo>
                <a:moveTo>
                  <a:pt x="0" y="691242"/>
                </a:moveTo>
                <a:lnTo>
                  <a:pt x="0" y="0"/>
                </a:lnTo>
              </a:path>
            </a:pathLst>
          </a:custGeom>
          <a:noFill/>
          <a:ln w="10800">
            <a:solidFill>
              <a:srgbClr val="F8F6F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396862" y="1315812"/>
            <a:ext cx="2060962" cy="691238"/>
          </a:xfrm>
          <a:custGeom>
            <a:avLst/>
            <a:gdLst/>
            <a:ahLst/>
            <a:cxnLst/>
            <a:rect l="0" t="0" r="0" b="0"/>
            <a:pathLst>
              <a:path w="2060962" h="691238">
                <a:moveTo>
                  <a:pt x="345624" y="691238"/>
                </a:moveTo>
                <a:cubicBezTo>
                  <a:pt x="154743" y="691238"/>
                  <a:pt x="0" y="536505"/>
                  <a:pt x="0" y="345624"/>
                </a:cubicBezTo>
                <a:cubicBezTo>
                  <a:pt x="0" y="154743"/>
                  <a:pt x="154743" y="0"/>
                  <a:pt x="345624" y="0"/>
                </a:cubicBezTo>
                <a:lnTo>
                  <a:pt x="2060962" y="0"/>
                </a:lnTo>
                <a:lnTo>
                  <a:pt x="2060962" y="691238"/>
                </a:lnTo>
                <a:lnTo>
                  <a:pt x="345624" y="691238"/>
                </a:lnTo>
              </a:path>
            </a:pathLst>
          </a:custGeom>
          <a:solidFill>
            <a:srgbClr val="D63A2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396862" y="1315812"/>
            <a:ext cx="2060958" cy="691242"/>
          </a:xfrm>
          <a:custGeom>
            <a:avLst/>
            <a:gdLst/>
            <a:ahLst/>
            <a:cxnLst/>
            <a:rect l="0" t="0" r="0" b="0"/>
            <a:pathLst>
              <a:path w="2060958" h="691242">
                <a:moveTo>
                  <a:pt x="345621" y="0"/>
                </a:moveTo>
                <a:lnTo>
                  <a:pt x="2060958" y="0"/>
                </a:lnTo>
                <a:moveTo>
                  <a:pt x="2060958" y="691242"/>
                </a:moveTo>
                <a:lnTo>
                  <a:pt x="345621" y="691242"/>
                </a:lnTo>
                <a:moveTo>
                  <a:pt x="345621" y="691242"/>
                </a:moveTo>
                <a:cubicBezTo>
                  <a:pt x="154739" y="691242"/>
                  <a:pt x="0" y="536503"/>
                  <a:pt x="0" y="345621"/>
                </a:cubicBezTo>
                <a:cubicBezTo>
                  <a:pt x="0" y="154739"/>
                  <a:pt x="154739" y="0"/>
                  <a:pt x="345621" y="0"/>
                </a:cubicBezTo>
                <a:moveTo>
                  <a:pt x="2060958" y="0"/>
                </a:moveTo>
                <a:lnTo>
                  <a:pt x="2060958" y="691242"/>
                </a:lnTo>
              </a:path>
            </a:pathLst>
          </a:custGeom>
          <a:noFill/>
          <a:ln w="10800">
            <a:solidFill>
              <a:srgbClr val="F8F6F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502353" y="3043916"/>
            <a:ext cx="1955463" cy="691238"/>
          </a:xfrm>
          <a:custGeom>
            <a:avLst/>
            <a:gdLst/>
            <a:ahLst/>
            <a:cxnLst/>
            <a:rect l="0" t="0" r="0" b="0"/>
            <a:pathLst>
              <a:path w="1955463" h="691238">
                <a:moveTo>
                  <a:pt x="345624" y="691238"/>
                </a:moveTo>
                <a:cubicBezTo>
                  <a:pt x="154743" y="691238"/>
                  <a:pt x="0" y="536505"/>
                  <a:pt x="0" y="345624"/>
                </a:cubicBezTo>
                <a:cubicBezTo>
                  <a:pt x="0" y="154743"/>
                  <a:pt x="154743" y="0"/>
                  <a:pt x="345624" y="0"/>
                </a:cubicBezTo>
                <a:lnTo>
                  <a:pt x="1955463" y="0"/>
                </a:lnTo>
                <a:lnTo>
                  <a:pt x="1955463" y="691238"/>
                </a:lnTo>
                <a:lnTo>
                  <a:pt x="345624" y="691238"/>
                </a:lnTo>
              </a:path>
            </a:pathLst>
          </a:custGeom>
          <a:solidFill>
            <a:srgbClr val="F2C12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502353" y="3043916"/>
            <a:ext cx="1955467" cy="691242"/>
          </a:xfrm>
          <a:custGeom>
            <a:avLst/>
            <a:gdLst/>
            <a:ahLst/>
            <a:cxnLst/>
            <a:rect l="0" t="0" r="0" b="0"/>
            <a:pathLst>
              <a:path w="1955467" h="691242">
                <a:moveTo>
                  <a:pt x="345621" y="0"/>
                </a:moveTo>
                <a:lnTo>
                  <a:pt x="1955467" y="0"/>
                </a:lnTo>
                <a:moveTo>
                  <a:pt x="1955467" y="691242"/>
                </a:moveTo>
                <a:lnTo>
                  <a:pt x="345621" y="691242"/>
                </a:lnTo>
                <a:moveTo>
                  <a:pt x="345621" y="691242"/>
                </a:moveTo>
                <a:cubicBezTo>
                  <a:pt x="154739" y="691242"/>
                  <a:pt x="0" y="536503"/>
                  <a:pt x="0" y="345621"/>
                </a:cubicBezTo>
                <a:cubicBezTo>
                  <a:pt x="0" y="154739"/>
                  <a:pt x="154739" y="0"/>
                  <a:pt x="345621" y="0"/>
                </a:cubicBezTo>
                <a:moveTo>
                  <a:pt x="1955467" y="0"/>
                </a:moveTo>
                <a:lnTo>
                  <a:pt x="1955467" y="691242"/>
                </a:lnTo>
              </a:path>
            </a:pathLst>
          </a:custGeom>
          <a:noFill/>
          <a:ln w="10800">
            <a:solidFill>
              <a:srgbClr val="F8F6F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506867" y="371475"/>
            <a:ext cx="6130265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3100" b="1">
                <a:solidFill>
                  <a:srgbClr val="1C1C1C"/>
                </a:solidFill>
                <a:latin typeface="Shantell Sans"/>
              </a:rPr>
              <a:t>Risk in Action Case Study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18319" y="1542623"/>
            <a:ext cx="248415" cy="237615"/>
          </a:xfrm>
          <a:custGeom>
            <a:avLst/>
            <a:gdLst/>
            <a:ahLst/>
            <a:cxnLst/>
            <a:rect l="0" t="0" r="0" b="0"/>
            <a:pathLst>
              <a:path w="248415" h="237615">
                <a:moveTo>
                  <a:pt x="248415" y="237615"/>
                </a:moveTo>
                <a:lnTo>
                  <a:pt x="0" y="237615"/>
                </a:lnTo>
                <a:moveTo>
                  <a:pt x="205169" y="237615"/>
                </a:moveTo>
                <a:lnTo>
                  <a:pt x="205169" y="189012"/>
                </a:lnTo>
                <a:cubicBezTo>
                  <a:pt x="205169" y="186029"/>
                  <a:pt x="207587" y="183611"/>
                  <a:pt x="210569" y="183611"/>
                </a:cubicBezTo>
                <a:lnTo>
                  <a:pt x="232171" y="183611"/>
                </a:lnTo>
                <a:cubicBezTo>
                  <a:pt x="235153" y="183611"/>
                  <a:pt x="237571" y="186029"/>
                  <a:pt x="237571" y="189012"/>
                </a:cubicBezTo>
                <a:lnTo>
                  <a:pt x="237571" y="237615"/>
                </a:lnTo>
                <a:moveTo>
                  <a:pt x="140365" y="237615"/>
                </a:moveTo>
                <a:lnTo>
                  <a:pt x="140365" y="135008"/>
                </a:lnTo>
                <a:cubicBezTo>
                  <a:pt x="140365" y="132026"/>
                  <a:pt x="142783" y="129608"/>
                  <a:pt x="145765" y="129608"/>
                </a:cubicBezTo>
                <a:lnTo>
                  <a:pt x="167367" y="129608"/>
                </a:lnTo>
                <a:cubicBezTo>
                  <a:pt x="170349" y="129608"/>
                  <a:pt x="172767" y="132026"/>
                  <a:pt x="172767" y="135008"/>
                </a:cubicBezTo>
                <a:lnTo>
                  <a:pt x="172767" y="237615"/>
                </a:lnTo>
                <a:moveTo>
                  <a:pt x="75561" y="237615"/>
                </a:moveTo>
                <a:lnTo>
                  <a:pt x="75561" y="156610"/>
                </a:lnTo>
                <a:cubicBezTo>
                  <a:pt x="75561" y="153627"/>
                  <a:pt x="77979" y="151209"/>
                  <a:pt x="80961" y="151209"/>
                </a:cubicBezTo>
                <a:lnTo>
                  <a:pt x="102563" y="151209"/>
                </a:lnTo>
                <a:cubicBezTo>
                  <a:pt x="105545" y="151209"/>
                  <a:pt x="107963" y="153627"/>
                  <a:pt x="107963" y="156610"/>
                </a:cubicBezTo>
                <a:lnTo>
                  <a:pt x="107963" y="237615"/>
                </a:lnTo>
                <a:moveTo>
                  <a:pt x="10757" y="237615"/>
                </a:moveTo>
                <a:lnTo>
                  <a:pt x="10757" y="81005"/>
                </a:lnTo>
                <a:cubicBezTo>
                  <a:pt x="10757" y="78022"/>
                  <a:pt x="13175" y="75604"/>
                  <a:pt x="16157" y="75604"/>
                </a:cubicBezTo>
                <a:lnTo>
                  <a:pt x="37759" y="75604"/>
                </a:lnTo>
                <a:cubicBezTo>
                  <a:pt x="40741" y="75604"/>
                  <a:pt x="43159" y="78022"/>
                  <a:pt x="43159" y="81005"/>
                </a:cubicBezTo>
                <a:lnTo>
                  <a:pt x="43159" y="237615"/>
                </a:lnTo>
                <a:moveTo>
                  <a:pt x="242971" y="108006"/>
                </a:moveTo>
                <a:lnTo>
                  <a:pt x="182272" y="42597"/>
                </a:lnTo>
                <a:cubicBezTo>
                  <a:pt x="176505" y="36380"/>
                  <a:pt x="167634" y="34111"/>
                  <a:pt x="159590" y="36797"/>
                </a:cubicBezTo>
                <a:lnTo>
                  <a:pt x="119422" y="50201"/>
                </a:lnTo>
                <a:cubicBezTo>
                  <a:pt x="112325" y="52567"/>
                  <a:pt x="104508" y="51092"/>
                  <a:pt x="98761" y="46302"/>
                </a:cubicBezTo>
                <a:lnTo>
                  <a:pt x="43159" y="0"/>
                </a:lnTo>
                <a:moveTo>
                  <a:pt x="199812" y="108006"/>
                </a:moveTo>
                <a:lnTo>
                  <a:pt x="243014" y="108006"/>
                </a:lnTo>
                <a:lnTo>
                  <a:pt x="243014" y="64804"/>
                </a:lnTo>
              </a:path>
            </a:pathLst>
          </a:custGeom>
          <a:noFill/>
          <a:ln w="10800">
            <a:solidFill>
              <a:srgbClr val="1C1C1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71324" y="1575032"/>
            <a:ext cx="1581041" cy="1728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100" b="1">
                <a:solidFill>
                  <a:srgbClr val="1C1C1C"/>
                </a:solidFill>
                <a:latin typeface="Shantell Sans"/>
              </a:rPr>
              <a:t>Empirical Analysis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4563276" y="1402143"/>
            <a:ext cx="1524000" cy="518588"/>
            <a:chOff x="4563276" y="1402143"/>
            <a:chExt cx="1524000" cy="518588"/>
          </a:xfrm>
        </p:grpSpPr>
        <p:sp>
          <p:nvSpPr>
            <p:cNvPr id="13" name="TextBox 12"/>
            <p:cNvSpPr txBox="1"/>
            <p:nvPr/>
          </p:nvSpPr>
          <p:spPr>
            <a:xfrm>
              <a:off x="4563276" y="1402143"/>
              <a:ext cx="1752600" cy="1296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800" b="0">
                  <a:solidFill>
                    <a:srgbClr val="1C1C1C"/>
                  </a:solidFill>
                  <a:latin typeface="Roboto"/>
                </a:rPr>
                <a:t>Empirical analysis of significant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563276" y="1531778"/>
              <a:ext cx="1752600" cy="1296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800" b="0">
                  <a:solidFill>
                    <a:srgbClr val="1C1C1C"/>
                  </a:solidFill>
                  <a:latin typeface="Roboto"/>
                </a:rPr>
                <a:t>financial disruptions, such as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563276" y="1661413"/>
              <a:ext cx="1752600" cy="1297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800" b="0">
                  <a:solidFill>
                    <a:srgbClr val="1C1C1C"/>
                  </a:solidFill>
                  <a:latin typeface="Roboto"/>
                </a:rPr>
                <a:t>systemic banking failures or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563276" y="1791144"/>
              <a:ext cx="1752600" cy="1295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800" b="0">
                  <a:solidFill>
                    <a:srgbClr val="1C1C1C"/>
                  </a:solidFill>
                  <a:latin typeface="Roboto"/>
                </a:rPr>
                <a:t>market contractions.</a:t>
              </a:r>
            </a:p>
          </p:txBody>
        </p:sp>
      </p:grpSp>
      <p:sp>
        <p:nvSpPr>
          <p:cNvPr id="18" name="Rounded Rectangle 17"/>
          <p:cNvSpPr/>
          <p:nvPr/>
        </p:nvSpPr>
        <p:spPr>
          <a:xfrm>
            <a:off x="6455540" y="2395444"/>
            <a:ext cx="248415" cy="253168"/>
          </a:xfrm>
          <a:custGeom>
            <a:avLst/>
            <a:gdLst/>
            <a:ahLst/>
            <a:cxnLst/>
            <a:rect l="0" t="0" r="0" b="0"/>
            <a:pathLst>
              <a:path w="248415" h="253168">
                <a:moveTo>
                  <a:pt x="108006" y="247767"/>
                </a:moveTo>
                <a:cubicBezTo>
                  <a:pt x="108006" y="250750"/>
                  <a:pt x="105588" y="253168"/>
                  <a:pt x="102606" y="253168"/>
                </a:cubicBezTo>
                <a:lnTo>
                  <a:pt x="5400" y="253168"/>
                </a:lnTo>
                <a:cubicBezTo>
                  <a:pt x="2417" y="253168"/>
                  <a:pt x="0" y="250750"/>
                  <a:pt x="0" y="247767"/>
                </a:cubicBezTo>
                <a:lnTo>
                  <a:pt x="0" y="231566"/>
                </a:lnTo>
                <a:cubicBezTo>
                  <a:pt x="0" y="225601"/>
                  <a:pt x="4835" y="220766"/>
                  <a:pt x="10800" y="220766"/>
                </a:cubicBezTo>
                <a:lnTo>
                  <a:pt x="97205" y="220766"/>
                </a:lnTo>
                <a:cubicBezTo>
                  <a:pt x="103170" y="220766"/>
                  <a:pt x="108006" y="225601"/>
                  <a:pt x="108006" y="231566"/>
                </a:cubicBezTo>
                <a:close/>
                <a:moveTo>
                  <a:pt x="97205" y="220766"/>
                </a:moveTo>
                <a:lnTo>
                  <a:pt x="10800" y="220766"/>
                </a:lnTo>
                <a:lnTo>
                  <a:pt x="10800" y="209965"/>
                </a:lnTo>
                <a:cubicBezTo>
                  <a:pt x="10800" y="204000"/>
                  <a:pt x="15636" y="199164"/>
                  <a:pt x="21601" y="199164"/>
                </a:cubicBezTo>
                <a:lnTo>
                  <a:pt x="86405" y="199164"/>
                </a:lnTo>
                <a:cubicBezTo>
                  <a:pt x="92370" y="199164"/>
                  <a:pt x="97205" y="204000"/>
                  <a:pt x="97205" y="209965"/>
                </a:cubicBezTo>
                <a:close/>
                <a:moveTo>
                  <a:pt x="70207" y="91154"/>
                </a:moveTo>
                <a:lnTo>
                  <a:pt x="129609" y="31752"/>
                </a:lnTo>
                <a:lnTo>
                  <a:pt x="167413" y="69556"/>
                </a:lnTo>
                <a:lnTo>
                  <a:pt x="108011" y="128959"/>
                </a:lnTo>
                <a:close/>
                <a:moveTo>
                  <a:pt x="70204" y="91157"/>
                </a:moveTo>
                <a:lnTo>
                  <a:pt x="64803" y="85757"/>
                </a:lnTo>
                <a:cubicBezTo>
                  <a:pt x="54629" y="75604"/>
                  <a:pt x="38396" y="91751"/>
                  <a:pt x="48602" y="101958"/>
                </a:cubicBezTo>
                <a:lnTo>
                  <a:pt x="97205" y="150561"/>
                </a:lnTo>
                <a:cubicBezTo>
                  <a:pt x="107390" y="160746"/>
                  <a:pt x="123624" y="144578"/>
                  <a:pt x="113406" y="134360"/>
                </a:cubicBezTo>
                <a:lnTo>
                  <a:pt x="108006" y="128960"/>
                </a:lnTo>
                <a:moveTo>
                  <a:pt x="167410" y="69556"/>
                </a:moveTo>
                <a:lnTo>
                  <a:pt x="172810" y="74956"/>
                </a:lnTo>
                <a:cubicBezTo>
                  <a:pt x="182995" y="85141"/>
                  <a:pt x="199228" y="68973"/>
                  <a:pt x="189011" y="58755"/>
                </a:cubicBezTo>
                <a:lnTo>
                  <a:pt x="140408" y="10152"/>
                </a:lnTo>
                <a:cubicBezTo>
                  <a:pt x="130234" y="0"/>
                  <a:pt x="114000" y="16147"/>
                  <a:pt x="124207" y="26353"/>
                </a:cubicBezTo>
                <a:lnTo>
                  <a:pt x="129607" y="31754"/>
                </a:lnTo>
                <a:moveTo>
                  <a:pt x="137708" y="99247"/>
                </a:moveTo>
                <a:lnTo>
                  <a:pt x="248415" y="209954"/>
                </a:lnTo>
              </a:path>
            </a:pathLst>
          </a:custGeom>
          <a:noFill/>
          <a:ln w="10800">
            <a:solidFill>
              <a:srgbClr val="1C1C1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3" name="Group 22"/>
          <p:cNvGrpSpPr/>
          <p:nvPr/>
        </p:nvGrpSpPr>
        <p:grpSpPr>
          <a:xfrm>
            <a:off x="2880152" y="2266198"/>
            <a:ext cx="1472212" cy="518587"/>
            <a:chOff x="2880152" y="2266198"/>
            <a:chExt cx="1472212" cy="518587"/>
          </a:xfrm>
        </p:grpSpPr>
        <p:sp>
          <p:nvSpPr>
            <p:cNvPr id="19" name="TextBox 18"/>
            <p:cNvSpPr txBox="1"/>
            <p:nvPr/>
          </p:nvSpPr>
          <p:spPr>
            <a:xfrm>
              <a:off x="2659321" y="2266198"/>
              <a:ext cx="1693043" cy="1296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800" b="0">
                  <a:solidFill>
                    <a:srgbClr val="1C1C1C"/>
                  </a:solidFill>
                  <a:latin typeface="Roboto"/>
                </a:rPr>
                <a:t>Underscores the imperative for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659321" y="2395833"/>
              <a:ext cx="1693043" cy="1296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800" b="0">
                  <a:solidFill>
                    <a:srgbClr val="1C1C1C"/>
                  </a:solidFill>
                  <a:latin typeface="Roboto"/>
                </a:rPr>
                <a:t>rigorous governance in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659321" y="2525468"/>
              <a:ext cx="1693043" cy="1297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800" b="0">
                  <a:solidFill>
                    <a:srgbClr val="1C1C1C"/>
                  </a:solidFill>
                  <a:latin typeface="Roboto"/>
                </a:rPr>
                <a:t>preserving institutional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2659321" y="2655199"/>
              <a:ext cx="1693043" cy="1295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800" b="0">
                  <a:solidFill>
                    <a:srgbClr val="1C1C1C"/>
                  </a:solidFill>
                  <a:latin typeface="Roboto"/>
                </a:rPr>
                <a:t>financial equilibrium.</a:t>
              </a:r>
            </a:p>
          </p:txBody>
        </p:sp>
      </p:grpSp>
      <p:sp>
        <p:nvSpPr>
          <p:cNvPr id="24" name="TextBox 23"/>
          <p:cNvSpPr txBox="1"/>
          <p:nvPr/>
        </p:nvSpPr>
        <p:spPr>
          <a:xfrm>
            <a:off x="4563276" y="2439086"/>
            <a:ext cx="2048613" cy="1728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1">
                <a:solidFill>
                  <a:srgbClr val="1C1C1C"/>
                </a:solidFill>
                <a:latin typeface="Shantell Sans"/>
              </a:rPr>
              <a:t>Governance Imperative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29167" y="3292333"/>
            <a:ext cx="237614" cy="194412"/>
          </a:xfrm>
          <a:custGeom>
            <a:avLst/>
            <a:gdLst/>
            <a:ahLst/>
            <a:cxnLst/>
            <a:rect l="0" t="0" r="0" b="0"/>
            <a:pathLst>
              <a:path w="237614" h="194412">
                <a:moveTo>
                  <a:pt x="118807" y="32402"/>
                </a:moveTo>
                <a:lnTo>
                  <a:pt x="118807" y="194412"/>
                </a:lnTo>
                <a:moveTo>
                  <a:pt x="87280" y="194412"/>
                </a:moveTo>
                <a:lnTo>
                  <a:pt x="150042" y="194412"/>
                </a:lnTo>
                <a:moveTo>
                  <a:pt x="10" y="97184"/>
                </a:moveTo>
                <a:lnTo>
                  <a:pt x="37802" y="10800"/>
                </a:lnTo>
                <a:lnTo>
                  <a:pt x="75464" y="97184"/>
                </a:lnTo>
                <a:moveTo>
                  <a:pt x="103524" y="10800"/>
                </a:moveTo>
                <a:lnTo>
                  <a:pt x="21601" y="10800"/>
                </a:lnTo>
                <a:moveTo>
                  <a:pt x="75604" y="97206"/>
                </a:moveTo>
                <a:cubicBezTo>
                  <a:pt x="75604" y="118083"/>
                  <a:pt x="58680" y="135008"/>
                  <a:pt x="37802" y="135008"/>
                </a:cubicBezTo>
                <a:cubicBezTo>
                  <a:pt x="16924" y="135008"/>
                  <a:pt x="0" y="118083"/>
                  <a:pt x="0" y="97206"/>
                </a:cubicBezTo>
                <a:close/>
                <a:moveTo>
                  <a:pt x="237603" y="97184"/>
                </a:moveTo>
                <a:lnTo>
                  <a:pt x="199812" y="10800"/>
                </a:lnTo>
                <a:lnTo>
                  <a:pt x="162150" y="97184"/>
                </a:lnTo>
                <a:moveTo>
                  <a:pt x="134090" y="10800"/>
                </a:moveTo>
                <a:lnTo>
                  <a:pt x="216013" y="10800"/>
                </a:lnTo>
                <a:moveTo>
                  <a:pt x="162010" y="97206"/>
                </a:moveTo>
                <a:cubicBezTo>
                  <a:pt x="162010" y="118083"/>
                  <a:pt x="178934" y="135008"/>
                  <a:pt x="199812" y="135008"/>
                </a:cubicBezTo>
                <a:cubicBezTo>
                  <a:pt x="220690" y="135008"/>
                  <a:pt x="237614" y="118083"/>
                  <a:pt x="237614" y="97206"/>
                </a:cubicBezTo>
                <a:close/>
                <a:moveTo>
                  <a:pt x="102606" y="16201"/>
                </a:moveTo>
                <a:cubicBezTo>
                  <a:pt x="102606" y="25148"/>
                  <a:pt x="109859" y="32402"/>
                  <a:pt x="118807" y="32402"/>
                </a:cubicBezTo>
                <a:cubicBezTo>
                  <a:pt x="127754" y="32402"/>
                  <a:pt x="135008" y="25148"/>
                  <a:pt x="135008" y="16201"/>
                </a:cubicBezTo>
                <a:cubicBezTo>
                  <a:pt x="135008" y="7253"/>
                  <a:pt x="127754" y="0"/>
                  <a:pt x="118807" y="0"/>
                </a:cubicBezTo>
                <a:cubicBezTo>
                  <a:pt x="109859" y="0"/>
                  <a:pt x="102606" y="7253"/>
                  <a:pt x="102606" y="16201"/>
                </a:cubicBezTo>
                <a:close/>
              </a:path>
            </a:pathLst>
          </a:custGeom>
          <a:noFill/>
          <a:ln w="10800">
            <a:solidFill>
              <a:srgbClr val="1C1C1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892636" y="3303136"/>
            <a:ext cx="1459729" cy="1728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100" b="1">
                <a:solidFill>
                  <a:srgbClr val="1C1C1C"/>
                </a:solidFill>
                <a:latin typeface="Shantell Sans"/>
              </a:rPr>
              <a:t>Ethical Integrity</a:t>
            </a:r>
          </a:p>
        </p:txBody>
      </p:sp>
      <p:grpSp>
        <p:nvGrpSpPr>
          <p:cNvPr id="30" name="Group 29"/>
          <p:cNvGrpSpPr/>
          <p:nvPr/>
        </p:nvGrpSpPr>
        <p:grpSpPr>
          <a:xfrm>
            <a:off x="4563276" y="3195074"/>
            <a:ext cx="1461963" cy="388923"/>
            <a:chOff x="4563276" y="3195074"/>
            <a:chExt cx="1461963" cy="388923"/>
          </a:xfrm>
        </p:grpSpPr>
        <p:sp>
          <p:nvSpPr>
            <p:cNvPr id="27" name="TextBox 26"/>
            <p:cNvSpPr txBox="1"/>
            <p:nvPr/>
          </p:nvSpPr>
          <p:spPr>
            <a:xfrm>
              <a:off x="4563276" y="3195074"/>
              <a:ext cx="1681257" cy="1297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800" b="0">
                  <a:solidFill>
                    <a:srgbClr val="1C1C1C"/>
                  </a:solidFill>
                  <a:latin typeface="Roboto"/>
                </a:rPr>
                <a:t>Highlights the critical role of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4563276" y="3324804"/>
              <a:ext cx="1681257" cy="1296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800" b="0">
                  <a:solidFill>
                    <a:srgbClr val="1C1C1C"/>
                  </a:solidFill>
                  <a:latin typeface="Roboto"/>
                </a:rPr>
                <a:t>ethical integrity in maintaining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4563276" y="3454439"/>
              <a:ext cx="1681257" cy="129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800" b="0">
                  <a:solidFill>
                    <a:srgbClr val="1C1C1C"/>
                  </a:solidFill>
                  <a:latin typeface="Roboto"/>
                </a:rPr>
                <a:t>systemic financial stability.</a:t>
              </a:r>
            </a:p>
          </p:txBody>
        </p:sp>
      </p:grpSp>
      <p:sp>
        <p:nvSpPr>
          <p:cNvPr id="31" name="Rounded Rectangle 30"/>
          <p:cNvSpPr/>
          <p:nvPr/>
        </p:nvSpPr>
        <p:spPr>
          <a:xfrm>
            <a:off x="6228804" y="4123985"/>
            <a:ext cx="251114" cy="251116"/>
          </a:xfrm>
          <a:custGeom>
            <a:avLst/>
            <a:gdLst/>
            <a:ahLst/>
            <a:cxnLst/>
            <a:rect l="0" t="0" r="0" b="0"/>
            <a:pathLst>
              <a:path w="251114" h="251116">
                <a:moveTo>
                  <a:pt x="132307" y="174431"/>
                </a:moveTo>
                <a:cubicBezTo>
                  <a:pt x="178237" y="174431"/>
                  <a:pt x="215472" y="137196"/>
                  <a:pt x="215472" y="91265"/>
                </a:cubicBezTo>
                <a:cubicBezTo>
                  <a:pt x="215472" y="45334"/>
                  <a:pt x="178237" y="8100"/>
                  <a:pt x="132307" y="8100"/>
                </a:cubicBezTo>
                <a:cubicBezTo>
                  <a:pt x="86376" y="8100"/>
                  <a:pt x="49142" y="45334"/>
                  <a:pt x="49142" y="91265"/>
                </a:cubicBezTo>
                <a:cubicBezTo>
                  <a:pt x="49142" y="137196"/>
                  <a:pt x="86376" y="174431"/>
                  <a:pt x="132307" y="174431"/>
                </a:cubicBezTo>
                <a:close/>
                <a:moveTo>
                  <a:pt x="0" y="0"/>
                </a:moveTo>
                <a:moveTo>
                  <a:pt x="251114" y="210075"/>
                </a:moveTo>
                <a:lnTo>
                  <a:pt x="190630" y="150671"/>
                </a:lnTo>
                <a:moveTo>
                  <a:pt x="29701" y="40502"/>
                </a:moveTo>
                <a:cubicBezTo>
                  <a:pt x="17821" y="40502"/>
                  <a:pt x="8100" y="50223"/>
                  <a:pt x="8100" y="62104"/>
                </a:cubicBezTo>
                <a:lnTo>
                  <a:pt x="8100" y="229514"/>
                </a:lnTo>
                <a:cubicBezTo>
                  <a:pt x="8100" y="241395"/>
                  <a:pt x="17821" y="251116"/>
                  <a:pt x="29701" y="251116"/>
                </a:cubicBezTo>
                <a:lnTo>
                  <a:pt x="137708" y="251116"/>
                </a:lnTo>
                <a:cubicBezTo>
                  <a:pt x="149589" y="251116"/>
                  <a:pt x="159309" y="241395"/>
                  <a:pt x="159309" y="229514"/>
                </a:cubicBezTo>
                <a:lnTo>
                  <a:pt x="159309" y="202513"/>
                </a:lnTo>
                <a:moveTo>
                  <a:pt x="159309" y="132308"/>
                </a:moveTo>
                <a:lnTo>
                  <a:pt x="159309" y="62104"/>
                </a:lnTo>
                <a:cubicBezTo>
                  <a:pt x="159309" y="50223"/>
                  <a:pt x="149589" y="40502"/>
                  <a:pt x="137708" y="40502"/>
                </a:cubicBezTo>
                <a:lnTo>
                  <a:pt x="110706" y="40502"/>
                </a:lnTo>
                <a:moveTo>
                  <a:pt x="119346" y="105306"/>
                </a:moveTo>
                <a:lnTo>
                  <a:pt x="81544" y="105306"/>
                </a:lnTo>
                <a:moveTo>
                  <a:pt x="119346" y="72904"/>
                </a:moveTo>
                <a:lnTo>
                  <a:pt x="86944" y="72904"/>
                </a:lnTo>
                <a:moveTo>
                  <a:pt x="119346" y="137708"/>
                </a:moveTo>
                <a:lnTo>
                  <a:pt x="108545" y="137708"/>
                </a:lnTo>
              </a:path>
            </a:pathLst>
          </a:custGeom>
          <a:noFill/>
          <a:ln w="10800">
            <a:solidFill>
              <a:srgbClr val="1C1C1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36" name="Group 35"/>
          <p:cNvGrpSpPr/>
          <p:nvPr/>
        </p:nvGrpSpPr>
        <p:grpSpPr>
          <a:xfrm>
            <a:off x="2894554" y="3994300"/>
            <a:ext cx="1457810" cy="518588"/>
            <a:chOff x="2894554" y="3994300"/>
            <a:chExt cx="1457810" cy="518588"/>
          </a:xfrm>
        </p:grpSpPr>
        <p:sp>
          <p:nvSpPr>
            <p:cNvPr id="32" name="TextBox 31"/>
            <p:cNvSpPr txBox="1"/>
            <p:nvPr/>
          </p:nvSpPr>
          <p:spPr>
            <a:xfrm>
              <a:off x="2675883" y="3994300"/>
              <a:ext cx="1676481" cy="1296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800" b="0">
                  <a:solidFill>
                    <a:srgbClr val="1C1C1C"/>
                  </a:solidFill>
                  <a:latin typeface="Roboto"/>
                </a:rPr>
                <a:t>Demonstrates the necessity of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2675883" y="4123936"/>
              <a:ext cx="1676481" cy="1296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800" b="0">
                  <a:solidFill>
                    <a:srgbClr val="1C1C1C"/>
                  </a:solidFill>
                  <a:latin typeface="Roboto"/>
                </a:rPr>
                <a:t>proactive risk assessment in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2675883" y="4253571"/>
              <a:ext cx="1676481" cy="1297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800" b="0">
                  <a:solidFill>
                    <a:srgbClr val="1C1C1C"/>
                  </a:solidFill>
                  <a:latin typeface="Roboto"/>
                </a:rPr>
                <a:t>mitigating adverse economic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2675883" y="4383302"/>
              <a:ext cx="1676481" cy="1295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800" b="0">
                  <a:solidFill>
                    <a:srgbClr val="1C1C1C"/>
                  </a:solidFill>
                  <a:latin typeface="Roboto"/>
                </a:rPr>
                <a:t>outcomes.</a:t>
              </a:r>
            </a:p>
          </p:txBody>
        </p:sp>
      </p:grpSp>
      <p:sp>
        <p:nvSpPr>
          <p:cNvPr id="37" name="TextBox 36"/>
          <p:cNvSpPr txBox="1"/>
          <p:nvPr/>
        </p:nvSpPr>
        <p:spPr>
          <a:xfrm>
            <a:off x="4563276" y="4167190"/>
            <a:ext cx="1794081" cy="1728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1">
                <a:solidFill>
                  <a:srgbClr val="1C1C1C"/>
                </a:solidFill>
                <a:latin typeface="Shantell Sans"/>
              </a:rPr>
              <a:t>Proactive Mitigation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886700" y="4829136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9F8A4A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390525" y="1914525"/>
            <a:ext cx="7529274" cy="1828800"/>
            <a:chOff x="390525" y="1914525"/>
            <a:chExt cx="7529274" cy="1828800"/>
          </a:xfrm>
        </p:grpSpPr>
        <p:sp>
          <p:nvSpPr>
            <p:cNvPr id="2" name="TextBox 1"/>
            <p:cNvSpPr txBox="1"/>
            <p:nvPr/>
          </p:nvSpPr>
          <p:spPr>
            <a:xfrm>
              <a:off x="390525" y="1914525"/>
              <a:ext cx="8658665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7200" b="1">
                  <a:solidFill>
                    <a:srgbClr val="1C1C1C"/>
                  </a:solidFill>
                  <a:latin typeface="Shantell Sans"/>
                </a:rPr>
                <a:t>Conclusion and</a:t>
              </a:r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390525" y="2828925"/>
              <a:ext cx="8658665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7200" b="1">
                  <a:solidFill>
                    <a:srgbClr val="1C1C1C"/>
                  </a:solidFill>
                  <a:latin typeface="Shantell Sans"/>
                </a:rPr>
                <a:t>Key Takeaways</a:t>
              </a: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390525" y="3914775"/>
            <a:ext cx="3966448" cy="857250"/>
            <a:chOff x="390525" y="3914775"/>
            <a:chExt cx="3966448" cy="857250"/>
          </a:xfrm>
        </p:grpSpPr>
        <p:sp>
          <p:nvSpPr>
            <p:cNvPr id="5" name="TextBox 4"/>
            <p:cNvSpPr txBox="1"/>
            <p:nvPr/>
          </p:nvSpPr>
          <p:spPr>
            <a:xfrm>
              <a:off x="390525" y="3914775"/>
              <a:ext cx="4561415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800" b="0">
                  <a:solidFill>
                    <a:srgbClr val="1C1C1C"/>
                  </a:solidFill>
                  <a:latin typeface="Roboto"/>
                </a:rPr>
                <a:t>Summarizing the importance of a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390525" y="4200525"/>
              <a:ext cx="4561415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800" b="0">
                  <a:solidFill>
                    <a:srgbClr val="1C1C1C"/>
                  </a:solidFill>
                  <a:latin typeface="Roboto"/>
                </a:rPr>
                <a:t>proactive risk culture in today's volatile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90525" y="4486275"/>
              <a:ext cx="4561415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800" b="0">
                  <a:solidFill>
                    <a:srgbClr val="1C1C1C"/>
                  </a:solidFill>
                  <a:latin typeface="Roboto"/>
                </a:rPr>
                <a:t>world.</a:t>
              </a:r>
            </a:p>
          </p:txBody>
        </p:sp>
      </p:grpSp>
      <p:sp>
        <p:nvSpPr>
          <p:cNvPr id="9" name="Rounded Rectangle 8"/>
          <p:cNvSpPr/>
          <p:nvPr/>
        </p:nvSpPr>
        <p:spPr>
          <a:xfrm>
            <a:off x="7886700" y="4829136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9F8A4A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663</Words>
  <Application>Microsoft Office PowerPoint</Application>
  <PresentationFormat>On-screen Show (16:9)</PresentationFormat>
  <Paragraphs>235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Roboto</vt:lpstr>
      <vt:lpstr>Shantell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NITISH KUMAR</dc:creator>
  <cp:keywords/>
  <dc:description>generated using python-pptx</dc:description>
  <cp:lastModifiedBy>Nitish kumar</cp:lastModifiedBy>
  <cp:revision>2</cp:revision>
  <dcterms:created xsi:type="dcterms:W3CDTF">2013-01-27T09:14:16Z</dcterms:created>
  <dcterms:modified xsi:type="dcterms:W3CDTF">2026-09-28T16:13:31Z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apkinAIOrigin">
    <vt:lpwstr>http://cv.iptc.org/newscodes/digitalsourcetype/compositeWithTrainedAlgorithmicMedia</vt:lpwstr>
  </property>
  <property fmtid="{D5CDD505-2E9C-101B-9397-08002B2CF9AE}" pid="3" name="NapkinAIOriginGenerator">
    <vt:lpwstr>Napkin AI</vt:lpwstr>
  </property>
  <property fmtid="{D5CDD505-2E9C-101B-9397-08002B2CF9AE}" pid="4" name="NapkinAIOriginVersion">
    <vt:lpwstr>napkin-ai-origin-v1</vt:lpwstr>
  </property>
</Properties>
</file>